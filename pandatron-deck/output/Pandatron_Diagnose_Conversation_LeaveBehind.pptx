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"/>
          <c:h val="1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Believe it will deliver</c:v>
                </c:pt>
              </c:strCache>
            </c:strRef>
          </c:tx>
          <c:dPt>
            <c:idx val="0"/>
            <c:spPr>
              <a:solidFill>
                <a:srgbClr val="434343"/>
              </a:solidFill>
            </c:spPr>
          </c:dPt>
          <c:dPt>
            <c:idx val="1"/>
            <c:spPr>
              <a:solidFill>
                <a:srgbClr val="8A8A8A"/>
              </a:solidFill>
            </c:spPr>
          </c:dPt>
          <c:cat>
            <c:strRef>
              <c:f>Sheet1!$A$2:$A$3</c:f>
              <c:strCache>
                <c:ptCount val="2"/>
                <c:pt idx="0">
                  <c:v>Leaders</c:v>
                </c:pt>
                <c:pt idx="1">
                  <c:v>Employees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</c:v>
                </c:pt>
                <c:pt idx="1">
                  <c:v>36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Champion</c:v>
                </c:pt>
              </c:strCache>
            </c:strRef>
          </c:tx>
          <c:spPr>
            <a:solidFill>
              <a:srgbClr val="1E7A13"/>
            </a:solidFill>
            <a:ln w="19050">
              <a:solidFill>
                <a:srgbClr val="FFFFFF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Technology &amp; Data</c:v>
                </c:pt>
                <c:pt idx="1">
                  <c:v>Marketing</c:v>
                </c:pt>
                <c:pt idx="2">
                  <c:v>Sales &amp; Distribution</c:v>
                </c:pt>
                <c:pt idx="3">
                  <c:v>Claims</c:v>
                </c:pt>
                <c:pt idx="4">
                  <c:v>Underwriting</c:v>
                </c:pt>
                <c:pt idx="5">
                  <c:v>Legal &amp; Compliance</c:v>
                </c:pt>
                <c:pt idx="6">
                  <c:v>Customer Service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61</c:v>
                </c:pt>
                <c:pt idx="1">
                  <c:v>58</c:v>
                </c:pt>
                <c:pt idx="2">
                  <c:v>33</c:v>
                </c:pt>
                <c:pt idx="3">
                  <c:v>27</c:v>
                </c:pt>
                <c:pt idx="4">
                  <c:v>24</c:v>
                </c:pt>
                <c:pt idx="5">
                  <c:v>22</c:v>
                </c:pt>
                <c:pt idx="6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Ready</c:v>
                </c:pt>
              </c:strCache>
            </c:strRef>
          </c:tx>
          <c:spPr>
            <a:solidFill>
              <a:srgbClr val="7CBB6E"/>
            </a:solidFill>
            <a:ln w="19050">
              <a:solidFill>
                <a:srgbClr val="FFFFFF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00" b="1">
                    <a:solidFill>
                      <a:srgbClr val="1A1A1A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Technology &amp; Data</c:v>
                </c:pt>
                <c:pt idx="1">
                  <c:v>Marketing</c:v>
                </c:pt>
                <c:pt idx="2">
                  <c:v>Sales &amp; Distribution</c:v>
                </c:pt>
                <c:pt idx="3">
                  <c:v>Claims</c:v>
                </c:pt>
                <c:pt idx="4">
                  <c:v>Underwriting</c:v>
                </c:pt>
                <c:pt idx="5">
                  <c:v>Legal &amp; Compliance</c:v>
                </c:pt>
                <c:pt idx="6">
                  <c:v>Customer Service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</c:v>
                </c:pt>
                <c:pt idx="1">
                  <c:v>31</c:v>
                </c:pt>
                <c:pt idx="2">
                  <c:v>41</c:v>
                </c:pt>
                <c:pt idx="3">
                  <c:v>30</c:v>
                </c:pt>
                <c:pt idx="4">
                  <c:v>27</c:v>
                </c:pt>
                <c:pt idx="5">
                  <c:v>26</c:v>
                </c:pt>
                <c:pt idx="6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Hesitant</c:v>
                </c:pt>
              </c:strCache>
            </c:strRef>
          </c:tx>
          <c:spPr>
            <a:solidFill>
              <a:srgbClr val="D4D4D4"/>
            </a:solidFill>
            <a:ln w="19050">
              <a:solidFill>
                <a:srgbClr val="FFFFFF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00" b="1">
                    <a:solidFill>
                      <a:srgbClr val="1A1A1A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Technology &amp; Data</c:v>
                </c:pt>
                <c:pt idx="1">
                  <c:v>Marketing</c:v>
                </c:pt>
                <c:pt idx="2">
                  <c:v>Sales &amp; Distribution</c:v>
                </c:pt>
                <c:pt idx="3">
                  <c:v>Claims</c:v>
                </c:pt>
                <c:pt idx="4">
                  <c:v>Underwriting</c:v>
                </c:pt>
                <c:pt idx="5">
                  <c:v>Legal &amp; Compliance</c:v>
                </c:pt>
                <c:pt idx="6">
                  <c:v>Customer Service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</c:v>
                </c:pt>
                <c:pt idx="1">
                  <c:v>9</c:v>
                </c:pt>
                <c:pt idx="2">
                  <c:v>20</c:v>
                </c:pt>
                <c:pt idx="3">
                  <c:v>29</c:v>
                </c:pt>
                <c:pt idx="4">
                  <c:v>31</c:v>
                </c:pt>
                <c:pt idx="5">
                  <c:v>32</c:v>
                </c:pt>
                <c:pt idx="6">
                  <c:v>36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Resistant</c:v>
                </c:pt>
              </c:strCache>
            </c:strRef>
          </c:tx>
          <c:spPr>
            <a:solidFill>
              <a:srgbClr val="4A4A4A"/>
            </a:solidFill>
            <a:ln w="19050">
              <a:solidFill>
                <a:srgbClr val="FFFFFF"/>
              </a:solidFill>
            </a:ln>
          </c:spPr>
          <c:dLbls>
            <c:dLbl>
              <c:idx val="2"/>
              <c:delete val="1"/>
            </c:dLbl>
            <c:dLbl>
              <c:idx val="1"/>
              <c:delete val="1"/>
            </c:dLbl>
            <c:dLbl>
              <c:idx val="0"/>
              <c:delete val="1"/>
            </c:dLbl>
            <c:numFmt formatCode="0&quot;%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Technology &amp; Data</c:v>
                </c:pt>
                <c:pt idx="1">
                  <c:v>Marketing</c:v>
                </c:pt>
                <c:pt idx="2">
                  <c:v>Sales &amp; Distribution</c:v>
                </c:pt>
                <c:pt idx="3">
                  <c:v>Claims</c:v>
                </c:pt>
                <c:pt idx="4">
                  <c:v>Underwriting</c:v>
                </c:pt>
                <c:pt idx="5">
                  <c:v>Legal &amp; Compliance</c:v>
                </c:pt>
                <c:pt idx="6">
                  <c:v>Customer Service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6</c:v>
                </c:pt>
                <c:pt idx="3">
                  <c:v>14</c:v>
                </c:pt>
                <c:pt idx="4">
                  <c:v>18</c:v>
                </c:pt>
                <c:pt idx="5">
                  <c:v>20</c:v>
                </c:pt>
                <c:pt idx="6">
                  <c:v>19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9"/>
          <c:y val="0.03"/>
          <c:w val="0.72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Technology &amp; Data</c:v>
                </c:pt>
              </c:strCache>
            </c:strRef>
          </c:tx>
          <c:spPr>
            <a:ln w="22225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3.9</c:v>
                </c:pt>
                <c:pt idx="1">
                  <c:v>3.95</c:v>
                </c:pt>
                <c:pt idx="2">
                  <c:v>4.0</c:v>
                </c:pt>
                <c:pt idx="3">
                  <c:v>4.0</c:v>
                </c:pt>
                <c:pt idx="4">
                  <c:v>4.05</c:v>
                </c:pt>
                <c:pt idx="5">
                  <c:v>4.1</c:v>
                </c:pt>
                <c:pt idx="6">
                  <c:v>4.1</c:v>
                </c:pt>
                <c:pt idx="7">
                  <c:v>4.15</c:v>
                </c:pt>
                <c:pt idx="8">
                  <c:v>4.2</c:v>
                </c:pt>
                <c:pt idx="9">
                  <c:v>4.2</c:v>
                </c:pt>
                <c:pt idx="10">
                  <c:v>4.25</c:v>
                </c:pt>
                <c:pt idx="11">
                  <c:v>4.3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&amp; Distribution</c:v>
                </c:pt>
              </c:strCache>
            </c:strRef>
          </c:tx>
          <c:spPr>
            <a:ln w="22225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3.4</c:v>
                </c:pt>
                <c:pt idx="1">
                  <c:v>3.45</c:v>
                </c:pt>
                <c:pt idx="2">
                  <c:v>3.5</c:v>
                </c:pt>
                <c:pt idx="3">
                  <c:v>3.55</c:v>
                </c:pt>
                <c:pt idx="4">
                  <c:v>3.55</c:v>
                </c:pt>
                <c:pt idx="5">
                  <c:v>3.6</c:v>
                </c:pt>
                <c:pt idx="6">
                  <c:v>3.65</c:v>
                </c:pt>
                <c:pt idx="7">
                  <c:v>3.7</c:v>
                </c:pt>
                <c:pt idx="8">
                  <c:v>3.75</c:v>
                </c:pt>
                <c:pt idx="9">
                  <c:v>3.75</c:v>
                </c:pt>
                <c:pt idx="10">
                  <c:v>3.8</c:v>
                </c:pt>
                <c:pt idx="11">
                  <c:v>3.85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Claims</c:v>
                </c:pt>
              </c:strCache>
            </c:strRef>
          </c:tx>
          <c:spPr>
            <a:ln w="38100">
              <a:solidFill>
                <a:srgbClr val="28A019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3.05</c:v>
                </c:pt>
                <c:pt idx="1">
                  <c:v>3.0</c:v>
                </c:pt>
                <c:pt idx="2">
                  <c:v>3.05</c:v>
                </c:pt>
                <c:pt idx="3">
                  <c:v>3.0</c:v>
                </c:pt>
                <c:pt idx="4">
                  <c:v>3.05</c:v>
                </c:pt>
                <c:pt idx="5">
                  <c:v>3.05</c:v>
                </c:pt>
                <c:pt idx="6">
                  <c:v>3.2</c:v>
                </c:pt>
                <c:pt idx="7">
                  <c:v>3.35</c:v>
                </c:pt>
                <c:pt idx="8">
                  <c:v>3.45</c:v>
                </c:pt>
                <c:pt idx="9">
                  <c:v>3.55</c:v>
                </c:pt>
                <c:pt idx="10">
                  <c:v>3.6</c:v>
                </c:pt>
                <c:pt idx="11">
                  <c:v>3.65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Customer Service</c:v>
                </c:pt>
              </c:strCache>
            </c:strRef>
          </c:tx>
          <c:spPr>
            <a:ln w="38100">
              <a:solidFill>
                <a:srgbClr val="1A1A1A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3.0</c:v>
                </c:pt>
                <c:pt idx="1">
                  <c:v>2.95</c:v>
                </c:pt>
                <c:pt idx="2">
                  <c:v>2.95</c:v>
                </c:pt>
                <c:pt idx="3">
                  <c:v>2.9</c:v>
                </c:pt>
                <c:pt idx="4">
                  <c:v>2.85</c:v>
                </c:pt>
                <c:pt idx="5">
                  <c:v>2.85</c:v>
                </c:pt>
                <c:pt idx="6">
                  <c:v>2.8</c:v>
                </c:pt>
                <c:pt idx="7">
                  <c:v>2.75</c:v>
                </c:pt>
                <c:pt idx="8">
                  <c:v>2.7</c:v>
                </c:pt>
                <c:pt idx="9">
                  <c:v>2.7</c:v>
                </c:pt>
                <c:pt idx="10">
                  <c:v>2.65</c:v>
                </c:pt>
                <c:pt idx="11">
                  <c:v>2.6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0E0E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5"/>
          <c:min val="2.5"/>
        </c:scaling>
        <c:delete val="0"/>
        <c:axPos val="l"/>
        <c:majorGridlines>
          <c:spPr>
            <a:ln w="9525">
              <a:solidFill>
                <a:srgbClr val="EEEEEE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majorUnit val="0.5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solidFill>
            <a:srgbClr val="6B6B6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Leave-behind version. Self-explanatory, no presenter needed. Sources are listed in the notes of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Bain &amp; Company, 15 Apr 2024 (400+ executives). Kearney Transformation Study 2026, "The adoption gap" (102 transformation leaders). Bain &amp; Company, 29 Jan 2026 (~1,000 executives and employees).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figures are illustrative. Perception gap: Bain &amp; Company, Jan 2026, ~1,000 executives and employees who went through a reorganization.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tools are useful for detecting friction. They rarely resolve its type, location or the intervention 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Supporting data: WEF Future of Jobs Report 2025, 1,000+ employers. Skills gaps are the most cited barrier (63%), culture and resistance to change second (46%).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Seeing friction by unit, function, geography and role informs where to communicate, support, simplify, intervene and invest.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Diagnose, Activate and Measure run on the same 1:1 AI conversations, so the signal and the intervention come from one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Thumbnails are illustrative. A real Change Readiness Profile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client readout, anonymized. Groups under 50 people are never reported. n = 685 across the 7 cohorts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CCI+2: five confidence components (Support, Openness, Proactive, Adaptability, Learning) plus Value and Incentive, scored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Sessions are 10 to 15 minutes a week, private and 1:1, over 12 to 24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is illustrative. Trend values are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details come from Pandatron case studies. Coach A is a Pandatron reseller in Japan since Aug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Robert Newland, Head of Growth, robert.newland@pandatron.ai.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chart" Target="../charts/chart3.xml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robert.newland@pandatron.ai" TargetMode="External"/><Relationship Id="rId4" Type="http://schemas.openxmlformats.org/officeDocument/2006/relationships/hyperlink" Target="https://www.pandatron.ai" TargetMode="External"/><Relationship Id="rId5" Type="http://schemas.openxmlformats.org/officeDocument/2006/relationships/image" Target="../media/image29.png"/><Relationship Id="rId6" Type="http://schemas.openxmlformats.org/officeDocument/2006/relationships/hyperlink" Target="mailto:robert.newland@pandatron.ai?subject=Diagnose%20pilot" TargetMode="Externa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566928"/>
            <a:ext cx="2011680" cy="369735"/>
          </a:xfrm>
          <a:prstGeom prst="rect">
            <a:avLst/>
          </a:prstGeom>
        </p:spPr>
      </p:pic>
      <p:sp>
        <p:nvSpPr>
          <p:cNvPr id="3" name="Label"/>
          <p:cNvSpPr txBox="1"/>
          <p:nvPr/>
        </p:nvSpPr>
        <p:spPr>
          <a:xfrm>
            <a:off x="609904" y="2395728"/>
            <a:ext cx="537164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A BRIEFING FOR TRANSFORMATION LEADERS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904" y="2697480"/>
            <a:ext cx="5371642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i="0">
                <a:solidFill>
                  <a:srgbClr val="1A1A1A"/>
                </a:solidFill>
                <a:latin typeface="Arial"/>
              </a:rPr>
              <a:t>The Diagnose Conversation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09904" y="434340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434343"/>
                </a:solidFill>
                <a:latin typeface="Arial"/>
              </a:rPr>
              <a:t>Most transformations don't fail on strategy. They stall in adoption. Here is how to see it early.</a:t>
            </a:r>
          </a:p>
        </p:txBody>
      </p:sp>
      <p:sp>
        <p:nvSpPr>
          <p:cNvPr id="6" name="Web"/>
          <p:cNvSpPr txBox="1"/>
          <p:nvPr/>
        </p:nvSpPr>
        <p:spPr>
          <a:xfrm>
            <a:off x="609904" y="6355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pandatron.ai</a:t>
            </a:r>
          </a:p>
        </p:txBody>
      </p:sp>
      <p:sp>
        <p:nvSpPr>
          <p:cNvPr id="7" name="Person dot"/>
          <p:cNvSpPr/>
          <p:nvPr/>
        </p:nvSpPr>
        <p:spPr>
          <a:xfrm>
            <a:off x="7375550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erson dot"/>
          <p:cNvSpPr/>
          <p:nvPr/>
        </p:nvSpPr>
        <p:spPr>
          <a:xfrm>
            <a:off x="7777886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erson dot"/>
          <p:cNvSpPr/>
          <p:nvPr/>
        </p:nvSpPr>
        <p:spPr>
          <a:xfrm>
            <a:off x="8180222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erson dot"/>
          <p:cNvSpPr/>
          <p:nvPr/>
        </p:nvSpPr>
        <p:spPr>
          <a:xfrm>
            <a:off x="8582558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erson dot"/>
          <p:cNvSpPr/>
          <p:nvPr/>
        </p:nvSpPr>
        <p:spPr>
          <a:xfrm>
            <a:off x="8984894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erson dot"/>
          <p:cNvSpPr/>
          <p:nvPr/>
        </p:nvSpPr>
        <p:spPr>
          <a:xfrm>
            <a:off x="9387230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erson dot"/>
          <p:cNvSpPr/>
          <p:nvPr/>
        </p:nvSpPr>
        <p:spPr>
          <a:xfrm>
            <a:off x="9789566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erson dot"/>
          <p:cNvSpPr/>
          <p:nvPr/>
        </p:nvSpPr>
        <p:spPr>
          <a:xfrm>
            <a:off x="10191902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erson dot"/>
          <p:cNvSpPr/>
          <p:nvPr/>
        </p:nvSpPr>
        <p:spPr>
          <a:xfrm>
            <a:off x="10594238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erson dot"/>
          <p:cNvSpPr/>
          <p:nvPr/>
        </p:nvSpPr>
        <p:spPr>
          <a:xfrm>
            <a:off x="10996574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erson dot"/>
          <p:cNvSpPr/>
          <p:nvPr/>
        </p:nvSpPr>
        <p:spPr>
          <a:xfrm>
            <a:off x="11398910" y="45720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erson dot"/>
          <p:cNvSpPr/>
          <p:nvPr/>
        </p:nvSpPr>
        <p:spPr>
          <a:xfrm>
            <a:off x="7375550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erson dot"/>
          <p:cNvSpPr/>
          <p:nvPr/>
        </p:nvSpPr>
        <p:spPr>
          <a:xfrm>
            <a:off x="7777886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erson dot"/>
          <p:cNvSpPr/>
          <p:nvPr/>
        </p:nvSpPr>
        <p:spPr>
          <a:xfrm>
            <a:off x="8180222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erson dot"/>
          <p:cNvSpPr/>
          <p:nvPr/>
        </p:nvSpPr>
        <p:spPr>
          <a:xfrm>
            <a:off x="8582558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erson dot"/>
          <p:cNvSpPr/>
          <p:nvPr/>
        </p:nvSpPr>
        <p:spPr>
          <a:xfrm>
            <a:off x="8984894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erson dot"/>
          <p:cNvSpPr/>
          <p:nvPr/>
        </p:nvSpPr>
        <p:spPr>
          <a:xfrm>
            <a:off x="9387230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erson dot"/>
          <p:cNvSpPr/>
          <p:nvPr/>
        </p:nvSpPr>
        <p:spPr>
          <a:xfrm>
            <a:off x="9789566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erson dot"/>
          <p:cNvSpPr/>
          <p:nvPr/>
        </p:nvSpPr>
        <p:spPr>
          <a:xfrm>
            <a:off x="10191902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erson dot"/>
          <p:cNvSpPr/>
          <p:nvPr/>
        </p:nvSpPr>
        <p:spPr>
          <a:xfrm>
            <a:off x="10594238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erson dot"/>
          <p:cNvSpPr/>
          <p:nvPr/>
        </p:nvSpPr>
        <p:spPr>
          <a:xfrm>
            <a:off x="10996574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erson dot"/>
          <p:cNvSpPr/>
          <p:nvPr/>
        </p:nvSpPr>
        <p:spPr>
          <a:xfrm>
            <a:off x="11398910" y="85953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erson dot"/>
          <p:cNvSpPr/>
          <p:nvPr/>
        </p:nvSpPr>
        <p:spPr>
          <a:xfrm>
            <a:off x="7375550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erson dot"/>
          <p:cNvSpPr/>
          <p:nvPr/>
        </p:nvSpPr>
        <p:spPr>
          <a:xfrm>
            <a:off x="7777886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Signal dot"/>
          <p:cNvSpPr/>
          <p:nvPr/>
        </p:nvSpPr>
        <p:spPr>
          <a:xfrm>
            <a:off x="8161934" y="1243584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Signal ring"/>
          <p:cNvSpPr/>
          <p:nvPr/>
        </p:nvSpPr>
        <p:spPr>
          <a:xfrm>
            <a:off x="8509406" y="1188720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erson dot"/>
          <p:cNvSpPr/>
          <p:nvPr/>
        </p:nvSpPr>
        <p:spPr>
          <a:xfrm>
            <a:off x="8984894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erson dot"/>
          <p:cNvSpPr/>
          <p:nvPr/>
        </p:nvSpPr>
        <p:spPr>
          <a:xfrm>
            <a:off x="9387230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erson dot"/>
          <p:cNvSpPr/>
          <p:nvPr/>
        </p:nvSpPr>
        <p:spPr>
          <a:xfrm>
            <a:off x="9789566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erson dot"/>
          <p:cNvSpPr/>
          <p:nvPr/>
        </p:nvSpPr>
        <p:spPr>
          <a:xfrm>
            <a:off x="10191902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erson dot"/>
          <p:cNvSpPr/>
          <p:nvPr/>
        </p:nvSpPr>
        <p:spPr>
          <a:xfrm>
            <a:off x="10594238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erson dot"/>
          <p:cNvSpPr/>
          <p:nvPr/>
        </p:nvSpPr>
        <p:spPr>
          <a:xfrm>
            <a:off x="10996574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erson dot"/>
          <p:cNvSpPr/>
          <p:nvPr/>
        </p:nvSpPr>
        <p:spPr>
          <a:xfrm>
            <a:off x="11398910" y="126187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erson dot"/>
          <p:cNvSpPr/>
          <p:nvPr/>
        </p:nvSpPr>
        <p:spPr>
          <a:xfrm>
            <a:off x="7375550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Signal ring"/>
          <p:cNvSpPr/>
          <p:nvPr/>
        </p:nvSpPr>
        <p:spPr>
          <a:xfrm>
            <a:off x="7704734" y="1591056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Signal dot"/>
          <p:cNvSpPr/>
          <p:nvPr/>
        </p:nvSpPr>
        <p:spPr>
          <a:xfrm>
            <a:off x="8161934" y="1645920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erson dot"/>
          <p:cNvSpPr/>
          <p:nvPr/>
        </p:nvSpPr>
        <p:spPr>
          <a:xfrm>
            <a:off x="8582558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erson dot"/>
          <p:cNvSpPr/>
          <p:nvPr/>
        </p:nvSpPr>
        <p:spPr>
          <a:xfrm>
            <a:off x="8984894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erson dot"/>
          <p:cNvSpPr/>
          <p:nvPr/>
        </p:nvSpPr>
        <p:spPr>
          <a:xfrm>
            <a:off x="9387230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erson dot"/>
          <p:cNvSpPr/>
          <p:nvPr/>
        </p:nvSpPr>
        <p:spPr>
          <a:xfrm>
            <a:off x="9789566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erson dot"/>
          <p:cNvSpPr/>
          <p:nvPr/>
        </p:nvSpPr>
        <p:spPr>
          <a:xfrm>
            <a:off x="10191902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erson dot"/>
          <p:cNvSpPr/>
          <p:nvPr/>
        </p:nvSpPr>
        <p:spPr>
          <a:xfrm>
            <a:off x="10594238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erson dot"/>
          <p:cNvSpPr/>
          <p:nvPr/>
        </p:nvSpPr>
        <p:spPr>
          <a:xfrm>
            <a:off x="10996574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erson dot"/>
          <p:cNvSpPr/>
          <p:nvPr/>
        </p:nvSpPr>
        <p:spPr>
          <a:xfrm>
            <a:off x="11398910" y="166420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erson dot"/>
          <p:cNvSpPr/>
          <p:nvPr/>
        </p:nvSpPr>
        <p:spPr>
          <a:xfrm>
            <a:off x="7375550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erson dot"/>
          <p:cNvSpPr/>
          <p:nvPr/>
        </p:nvSpPr>
        <p:spPr>
          <a:xfrm>
            <a:off x="7777886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erson dot"/>
          <p:cNvSpPr/>
          <p:nvPr/>
        </p:nvSpPr>
        <p:spPr>
          <a:xfrm>
            <a:off x="8180222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erson dot"/>
          <p:cNvSpPr/>
          <p:nvPr/>
        </p:nvSpPr>
        <p:spPr>
          <a:xfrm>
            <a:off x="8582558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erson dot"/>
          <p:cNvSpPr/>
          <p:nvPr/>
        </p:nvSpPr>
        <p:spPr>
          <a:xfrm>
            <a:off x="8984894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erson dot"/>
          <p:cNvSpPr/>
          <p:nvPr/>
        </p:nvSpPr>
        <p:spPr>
          <a:xfrm>
            <a:off x="9387230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erson dot"/>
          <p:cNvSpPr/>
          <p:nvPr/>
        </p:nvSpPr>
        <p:spPr>
          <a:xfrm>
            <a:off x="9789566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erson dot"/>
          <p:cNvSpPr/>
          <p:nvPr/>
        </p:nvSpPr>
        <p:spPr>
          <a:xfrm>
            <a:off x="10191902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erson dot"/>
          <p:cNvSpPr/>
          <p:nvPr/>
        </p:nvSpPr>
        <p:spPr>
          <a:xfrm>
            <a:off x="10594238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erson dot"/>
          <p:cNvSpPr/>
          <p:nvPr/>
        </p:nvSpPr>
        <p:spPr>
          <a:xfrm>
            <a:off x="10996574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erson dot"/>
          <p:cNvSpPr/>
          <p:nvPr/>
        </p:nvSpPr>
        <p:spPr>
          <a:xfrm>
            <a:off x="11398910" y="206654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erson dot"/>
          <p:cNvSpPr/>
          <p:nvPr/>
        </p:nvSpPr>
        <p:spPr>
          <a:xfrm>
            <a:off x="7375550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Signal ring"/>
          <p:cNvSpPr/>
          <p:nvPr/>
        </p:nvSpPr>
        <p:spPr>
          <a:xfrm>
            <a:off x="7704734" y="2395728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erson dot"/>
          <p:cNvSpPr/>
          <p:nvPr/>
        </p:nvSpPr>
        <p:spPr>
          <a:xfrm>
            <a:off x="8180222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erson dot"/>
          <p:cNvSpPr/>
          <p:nvPr/>
        </p:nvSpPr>
        <p:spPr>
          <a:xfrm>
            <a:off x="8582558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Person dot"/>
          <p:cNvSpPr/>
          <p:nvPr/>
        </p:nvSpPr>
        <p:spPr>
          <a:xfrm>
            <a:off x="8984894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erson dot"/>
          <p:cNvSpPr/>
          <p:nvPr/>
        </p:nvSpPr>
        <p:spPr>
          <a:xfrm>
            <a:off x="9387230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Signal dot"/>
          <p:cNvSpPr/>
          <p:nvPr/>
        </p:nvSpPr>
        <p:spPr>
          <a:xfrm>
            <a:off x="9771278" y="2450592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Person dot"/>
          <p:cNvSpPr/>
          <p:nvPr/>
        </p:nvSpPr>
        <p:spPr>
          <a:xfrm>
            <a:off x="10191902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Person dot"/>
          <p:cNvSpPr/>
          <p:nvPr/>
        </p:nvSpPr>
        <p:spPr>
          <a:xfrm>
            <a:off x="10594238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Person dot"/>
          <p:cNvSpPr/>
          <p:nvPr/>
        </p:nvSpPr>
        <p:spPr>
          <a:xfrm>
            <a:off x="10996574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Person dot"/>
          <p:cNvSpPr/>
          <p:nvPr/>
        </p:nvSpPr>
        <p:spPr>
          <a:xfrm>
            <a:off x="11398910" y="246888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Person dot"/>
          <p:cNvSpPr/>
          <p:nvPr/>
        </p:nvSpPr>
        <p:spPr>
          <a:xfrm>
            <a:off x="7375550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erson dot"/>
          <p:cNvSpPr/>
          <p:nvPr/>
        </p:nvSpPr>
        <p:spPr>
          <a:xfrm>
            <a:off x="7777886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erson dot"/>
          <p:cNvSpPr/>
          <p:nvPr/>
        </p:nvSpPr>
        <p:spPr>
          <a:xfrm>
            <a:off x="8180222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Person dot"/>
          <p:cNvSpPr/>
          <p:nvPr/>
        </p:nvSpPr>
        <p:spPr>
          <a:xfrm>
            <a:off x="8582558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Signal ring"/>
          <p:cNvSpPr/>
          <p:nvPr/>
        </p:nvSpPr>
        <p:spPr>
          <a:xfrm>
            <a:off x="8911742" y="2798064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Person dot"/>
          <p:cNvSpPr/>
          <p:nvPr/>
        </p:nvSpPr>
        <p:spPr>
          <a:xfrm>
            <a:off x="9387230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Person dot"/>
          <p:cNvSpPr/>
          <p:nvPr/>
        </p:nvSpPr>
        <p:spPr>
          <a:xfrm>
            <a:off x="9789566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erson dot"/>
          <p:cNvSpPr/>
          <p:nvPr/>
        </p:nvSpPr>
        <p:spPr>
          <a:xfrm>
            <a:off x="10191902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Person dot"/>
          <p:cNvSpPr/>
          <p:nvPr/>
        </p:nvSpPr>
        <p:spPr>
          <a:xfrm>
            <a:off x="10594238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Person dot"/>
          <p:cNvSpPr/>
          <p:nvPr/>
        </p:nvSpPr>
        <p:spPr>
          <a:xfrm>
            <a:off x="10996574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Person dot"/>
          <p:cNvSpPr/>
          <p:nvPr/>
        </p:nvSpPr>
        <p:spPr>
          <a:xfrm>
            <a:off x="11398910" y="287121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Person dot"/>
          <p:cNvSpPr/>
          <p:nvPr/>
        </p:nvSpPr>
        <p:spPr>
          <a:xfrm>
            <a:off x="7375550" y="327355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Person dot"/>
          <p:cNvSpPr/>
          <p:nvPr/>
        </p:nvSpPr>
        <p:spPr>
          <a:xfrm>
            <a:off x="7777886" y="327355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Person dot"/>
          <p:cNvSpPr/>
          <p:nvPr/>
        </p:nvSpPr>
        <p:spPr>
          <a:xfrm>
            <a:off x="8180222" y="327355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Signal dot"/>
          <p:cNvSpPr/>
          <p:nvPr/>
        </p:nvSpPr>
        <p:spPr>
          <a:xfrm>
            <a:off x="8564270" y="3255264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Signal ring"/>
          <p:cNvSpPr/>
          <p:nvPr/>
        </p:nvSpPr>
        <p:spPr>
          <a:xfrm>
            <a:off x="8911742" y="3200400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ignal ring"/>
          <p:cNvSpPr/>
          <p:nvPr/>
        </p:nvSpPr>
        <p:spPr>
          <a:xfrm>
            <a:off x="9314078" y="3200400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Person dot"/>
          <p:cNvSpPr/>
          <p:nvPr/>
        </p:nvSpPr>
        <p:spPr>
          <a:xfrm>
            <a:off x="9789566" y="327355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Signal dot"/>
          <p:cNvSpPr/>
          <p:nvPr/>
        </p:nvSpPr>
        <p:spPr>
          <a:xfrm>
            <a:off x="10173614" y="3255264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Person dot"/>
          <p:cNvSpPr/>
          <p:nvPr/>
        </p:nvSpPr>
        <p:spPr>
          <a:xfrm>
            <a:off x="10594238" y="327355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Person dot"/>
          <p:cNvSpPr/>
          <p:nvPr/>
        </p:nvSpPr>
        <p:spPr>
          <a:xfrm>
            <a:off x="10996574" y="327355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Person dot"/>
          <p:cNvSpPr/>
          <p:nvPr/>
        </p:nvSpPr>
        <p:spPr>
          <a:xfrm>
            <a:off x="11398910" y="327355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erson dot"/>
          <p:cNvSpPr/>
          <p:nvPr/>
        </p:nvSpPr>
        <p:spPr>
          <a:xfrm>
            <a:off x="7375550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Person dot"/>
          <p:cNvSpPr/>
          <p:nvPr/>
        </p:nvSpPr>
        <p:spPr>
          <a:xfrm>
            <a:off x="7777886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Person dot"/>
          <p:cNvSpPr/>
          <p:nvPr/>
        </p:nvSpPr>
        <p:spPr>
          <a:xfrm>
            <a:off x="8180222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Person dot"/>
          <p:cNvSpPr/>
          <p:nvPr/>
        </p:nvSpPr>
        <p:spPr>
          <a:xfrm>
            <a:off x="8582558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Person dot"/>
          <p:cNvSpPr/>
          <p:nvPr/>
        </p:nvSpPr>
        <p:spPr>
          <a:xfrm>
            <a:off x="8984894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Person dot"/>
          <p:cNvSpPr/>
          <p:nvPr/>
        </p:nvSpPr>
        <p:spPr>
          <a:xfrm>
            <a:off x="9387230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Signal dot"/>
          <p:cNvSpPr/>
          <p:nvPr/>
        </p:nvSpPr>
        <p:spPr>
          <a:xfrm>
            <a:off x="9771278" y="3657600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Signal dot"/>
          <p:cNvSpPr/>
          <p:nvPr/>
        </p:nvSpPr>
        <p:spPr>
          <a:xfrm>
            <a:off x="10173614" y="3657600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Person dot"/>
          <p:cNvSpPr/>
          <p:nvPr/>
        </p:nvSpPr>
        <p:spPr>
          <a:xfrm>
            <a:off x="10594238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Person dot"/>
          <p:cNvSpPr/>
          <p:nvPr/>
        </p:nvSpPr>
        <p:spPr>
          <a:xfrm>
            <a:off x="10996574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Person dot"/>
          <p:cNvSpPr/>
          <p:nvPr/>
        </p:nvSpPr>
        <p:spPr>
          <a:xfrm>
            <a:off x="11398910" y="367588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Person dot"/>
          <p:cNvSpPr/>
          <p:nvPr/>
        </p:nvSpPr>
        <p:spPr>
          <a:xfrm>
            <a:off x="7375550" y="407822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Person dot"/>
          <p:cNvSpPr/>
          <p:nvPr/>
        </p:nvSpPr>
        <p:spPr>
          <a:xfrm>
            <a:off x="7777886" y="407822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Person dot"/>
          <p:cNvSpPr/>
          <p:nvPr/>
        </p:nvSpPr>
        <p:spPr>
          <a:xfrm>
            <a:off x="8180222" y="407822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erson dot"/>
          <p:cNvSpPr/>
          <p:nvPr/>
        </p:nvSpPr>
        <p:spPr>
          <a:xfrm>
            <a:off x="8582558" y="407822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Person dot"/>
          <p:cNvSpPr/>
          <p:nvPr/>
        </p:nvSpPr>
        <p:spPr>
          <a:xfrm>
            <a:off x="8984894" y="407822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Person dot"/>
          <p:cNvSpPr/>
          <p:nvPr/>
        </p:nvSpPr>
        <p:spPr>
          <a:xfrm>
            <a:off x="9387230" y="407822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Signal dot"/>
          <p:cNvSpPr/>
          <p:nvPr/>
        </p:nvSpPr>
        <p:spPr>
          <a:xfrm>
            <a:off x="9771278" y="4059935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Signal ring"/>
          <p:cNvSpPr/>
          <p:nvPr/>
        </p:nvSpPr>
        <p:spPr>
          <a:xfrm>
            <a:off x="10118750" y="4005072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Signal dot"/>
          <p:cNvSpPr/>
          <p:nvPr/>
        </p:nvSpPr>
        <p:spPr>
          <a:xfrm>
            <a:off x="10575950" y="4059935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erson dot"/>
          <p:cNvSpPr/>
          <p:nvPr/>
        </p:nvSpPr>
        <p:spPr>
          <a:xfrm>
            <a:off x="10996574" y="407822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Person dot"/>
          <p:cNvSpPr/>
          <p:nvPr/>
        </p:nvSpPr>
        <p:spPr>
          <a:xfrm>
            <a:off x="11398910" y="4078224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Person dot"/>
          <p:cNvSpPr/>
          <p:nvPr/>
        </p:nvSpPr>
        <p:spPr>
          <a:xfrm>
            <a:off x="7375550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Person dot"/>
          <p:cNvSpPr/>
          <p:nvPr/>
        </p:nvSpPr>
        <p:spPr>
          <a:xfrm>
            <a:off x="7777886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Person dot"/>
          <p:cNvSpPr/>
          <p:nvPr/>
        </p:nvSpPr>
        <p:spPr>
          <a:xfrm>
            <a:off x="8180222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Person dot"/>
          <p:cNvSpPr/>
          <p:nvPr/>
        </p:nvSpPr>
        <p:spPr>
          <a:xfrm>
            <a:off x="8582558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Person dot"/>
          <p:cNvSpPr/>
          <p:nvPr/>
        </p:nvSpPr>
        <p:spPr>
          <a:xfrm>
            <a:off x="8984894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Signal ring"/>
          <p:cNvSpPr/>
          <p:nvPr/>
        </p:nvSpPr>
        <p:spPr>
          <a:xfrm>
            <a:off x="9314078" y="4407408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Person dot"/>
          <p:cNvSpPr/>
          <p:nvPr/>
        </p:nvSpPr>
        <p:spPr>
          <a:xfrm>
            <a:off x="9789566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Person dot"/>
          <p:cNvSpPr/>
          <p:nvPr/>
        </p:nvSpPr>
        <p:spPr>
          <a:xfrm>
            <a:off x="10191902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Person dot"/>
          <p:cNvSpPr/>
          <p:nvPr/>
        </p:nvSpPr>
        <p:spPr>
          <a:xfrm>
            <a:off x="10594238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Person dot"/>
          <p:cNvSpPr/>
          <p:nvPr/>
        </p:nvSpPr>
        <p:spPr>
          <a:xfrm>
            <a:off x="10996574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Person dot"/>
          <p:cNvSpPr/>
          <p:nvPr/>
        </p:nvSpPr>
        <p:spPr>
          <a:xfrm>
            <a:off x="11398910" y="4480560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Person dot"/>
          <p:cNvSpPr/>
          <p:nvPr/>
        </p:nvSpPr>
        <p:spPr>
          <a:xfrm>
            <a:off x="7375550" y="488289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Person dot"/>
          <p:cNvSpPr/>
          <p:nvPr/>
        </p:nvSpPr>
        <p:spPr>
          <a:xfrm>
            <a:off x="7777886" y="488289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Person dot"/>
          <p:cNvSpPr/>
          <p:nvPr/>
        </p:nvSpPr>
        <p:spPr>
          <a:xfrm>
            <a:off x="8180222" y="488289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Person dot"/>
          <p:cNvSpPr/>
          <p:nvPr/>
        </p:nvSpPr>
        <p:spPr>
          <a:xfrm>
            <a:off x="8582558" y="488289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Person dot"/>
          <p:cNvSpPr/>
          <p:nvPr/>
        </p:nvSpPr>
        <p:spPr>
          <a:xfrm>
            <a:off x="8984894" y="488289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Person dot"/>
          <p:cNvSpPr/>
          <p:nvPr/>
        </p:nvSpPr>
        <p:spPr>
          <a:xfrm>
            <a:off x="9387230" y="488289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Signal dot"/>
          <p:cNvSpPr/>
          <p:nvPr/>
        </p:nvSpPr>
        <p:spPr>
          <a:xfrm>
            <a:off x="9771278" y="4864607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Person dot"/>
          <p:cNvSpPr/>
          <p:nvPr/>
        </p:nvSpPr>
        <p:spPr>
          <a:xfrm>
            <a:off x="10191902" y="488289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Signal ring"/>
          <p:cNvSpPr/>
          <p:nvPr/>
        </p:nvSpPr>
        <p:spPr>
          <a:xfrm>
            <a:off x="10521086" y="4809744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Signal ring"/>
          <p:cNvSpPr/>
          <p:nvPr/>
        </p:nvSpPr>
        <p:spPr>
          <a:xfrm>
            <a:off x="10923422" y="4809744"/>
            <a:ext cx="237744" cy="237744"/>
          </a:xfrm>
          <a:prstGeom prst="ellipse">
            <a:avLst/>
          </a:prstGeom>
          <a:noFill/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Person dot"/>
          <p:cNvSpPr/>
          <p:nvPr/>
        </p:nvSpPr>
        <p:spPr>
          <a:xfrm>
            <a:off x="11398910" y="4882896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Person dot"/>
          <p:cNvSpPr/>
          <p:nvPr/>
        </p:nvSpPr>
        <p:spPr>
          <a:xfrm>
            <a:off x="7375550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Person dot"/>
          <p:cNvSpPr/>
          <p:nvPr/>
        </p:nvSpPr>
        <p:spPr>
          <a:xfrm>
            <a:off x="7777886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Person dot"/>
          <p:cNvSpPr/>
          <p:nvPr/>
        </p:nvSpPr>
        <p:spPr>
          <a:xfrm>
            <a:off x="8180222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Person dot"/>
          <p:cNvSpPr/>
          <p:nvPr/>
        </p:nvSpPr>
        <p:spPr>
          <a:xfrm>
            <a:off x="8582558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Person dot"/>
          <p:cNvSpPr/>
          <p:nvPr/>
        </p:nvSpPr>
        <p:spPr>
          <a:xfrm>
            <a:off x="8984894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Person dot"/>
          <p:cNvSpPr/>
          <p:nvPr/>
        </p:nvSpPr>
        <p:spPr>
          <a:xfrm>
            <a:off x="9387230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Person dot"/>
          <p:cNvSpPr/>
          <p:nvPr/>
        </p:nvSpPr>
        <p:spPr>
          <a:xfrm>
            <a:off x="9789566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Person dot"/>
          <p:cNvSpPr/>
          <p:nvPr/>
        </p:nvSpPr>
        <p:spPr>
          <a:xfrm>
            <a:off x="10191902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Person dot"/>
          <p:cNvSpPr/>
          <p:nvPr/>
        </p:nvSpPr>
        <p:spPr>
          <a:xfrm>
            <a:off x="10594238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Person dot"/>
          <p:cNvSpPr/>
          <p:nvPr/>
        </p:nvSpPr>
        <p:spPr>
          <a:xfrm>
            <a:off x="10996574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Person dot"/>
          <p:cNvSpPr/>
          <p:nvPr/>
        </p:nvSpPr>
        <p:spPr>
          <a:xfrm>
            <a:off x="11398910" y="5285232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Person dot"/>
          <p:cNvSpPr/>
          <p:nvPr/>
        </p:nvSpPr>
        <p:spPr>
          <a:xfrm>
            <a:off x="7375550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Person dot"/>
          <p:cNvSpPr/>
          <p:nvPr/>
        </p:nvSpPr>
        <p:spPr>
          <a:xfrm>
            <a:off x="7777886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Person dot"/>
          <p:cNvSpPr/>
          <p:nvPr/>
        </p:nvSpPr>
        <p:spPr>
          <a:xfrm>
            <a:off x="8180222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Person dot"/>
          <p:cNvSpPr/>
          <p:nvPr/>
        </p:nvSpPr>
        <p:spPr>
          <a:xfrm>
            <a:off x="8582558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Person dot"/>
          <p:cNvSpPr/>
          <p:nvPr/>
        </p:nvSpPr>
        <p:spPr>
          <a:xfrm>
            <a:off x="8984894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Person dot"/>
          <p:cNvSpPr/>
          <p:nvPr/>
        </p:nvSpPr>
        <p:spPr>
          <a:xfrm>
            <a:off x="9387230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Person dot"/>
          <p:cNvSpPr/>
          <p:nvPr/>
        </p:nvSpPr>
        <p:spPr>
          <a:xfrm>
            <a:off x="9789566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Person dot"/>
          <p:cNvSpPr/>
          <p:nvPr/>
        </p:nvSpPr>
        <p:spPr>
          <a:xfrm>
            <a:off x="10191902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Person dot"/>
          <p:cNvSpPr/>
          <p:nvPr/>
        </p:nvSpPr>
        <p:spPr>
          <a:xfrm>
            <a:off x="10594238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Person dot"/>
          <p:cNvSpPr/>
          <p:nvPr/>
        </p:nvSpPr>
        <p:spPr>
          <a:xfrm>
            <a:off x="10996574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Person dot"/>
          <p:cNvSpPr/>
          <p:nvPr/>
        </p:nvSpPr>
        <p:spPr>
          <a:xfrm>
            <a:off x="11398910" y="5687568"/>
            <a:ext cx="91440" cy="91440"/>
          </a:xfrm>
          <a:prstGeom prst="ellipse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THE PATTERN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Strategy gets approved. Adoption is where transformations stall.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02 / 14</a:t>
            </a:r>
          </a:p>
        </p:txBody>
      </p:sp>
      <p:sp>
        <p:nvSpPr>
          <p:cNvPr id="7" name="Card"/>
          <p:cNvSpPr/>
          <p:nvPr/>
        </p:nvSpPr>
        <p:spPr>
          <a:xfrm>
            <a:off x="609904" y="2011680"/>
            <a:ext cx="3504895" cy="3611880"/>
          </a:xfrm>
          <a:prstGeom prst="roundRect">
            <a:avLst>
              <a:gd name="adj" fmla="val 313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"/>
          <p:cNvSpPr txBox="1"/>
          <p:nvPr/>
        </p:nvSpPr>
        <p:spPr>
          <a:xfrm>
            <a:off x="929944" y="2286000"/>
            <a:ext cx="286481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28A019"/>
                </a:solidFill>
                <a:latin typeface="Arial"/>
              </a:rPr>
              <a:t>12%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29944" y="3337560"/>
            <a:ext cx="2864815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of business transformations achieve their original ambitions. 88% fall short.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29944" y="4965192"/>
            <a:ext cx="2864815" cy="4114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 spc="100">
                <a:solidFill>
                  <a:srgbClr val="6B6B6B"/>
                </a:solidFill>
                <a:latin typeface="Arial"/>
              </a:rPr>
              <a:t>BAIN &amp; COMPANY · 2024 · 400+ EXECUTIVES</a:t>
            </a:r>
          </a:p>
        </p:txBody>
      </p:sp>
      <p:sp>
        <p:nvSpPr>
          <p:cNvPr id="11" name="Card"/>
          <p:cNvSpPr/>
          <p:nvPr/>
        </p:nvSpPr>
        <p:spPr>
          <a:xfrm>
            <a:off x="4343400" y="2011680"/>
            <a:ext cx="3504895" cy="3611880"/>
          </a:xfrm>
          <a:prstGeom prst="roundRect">
            <a:avLst>
              <a:gd name="adj" fmla="val 313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4663440" y="2286000"/>
            <a:ext cx="286481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28A019"/>
                </a:solidFill>
                <a:latin typeface="Arial"/>
              </a:rPr>
              <a:t>#1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663440" y="3337560"/>
            <a:ext cx="2864815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implementation barrier is resistance to change, ahead of budget, timelines and technology.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63440" y="4965192"/>
            <a:ext cx="2864815" cy="4114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 spc="100">
                <a:solidFill>
                  <a:srgbClr val="6B6B6B"/>
                </a:solidFill>
                <a:latin typeface="Arial"/>
              </a:rPr>
              <a:t>KEARNEY TRANSFORMATION STUDY · 2026 · 102 LEADERS</a:t>
            </a:r>
          </a:p>
        </p:txBody>
      </p:sp>
      <p:sp>
        <p:nvSpPr>
          <p:cNvPr id="15" name="Card"/>
          <p:cNvSpPr/>
          <p:nvPr/>
        </p:nvSpPr>
        <p:spPr>
          <a:xfrm>
            <a:off x="8076895" y="2011680"/>
            <a:ext cx="3504895" cy="3611880"/>
          </a:xfrm>
          <a:prstGeom prst="roundRect">
            <a:avLst>
              <a:gd name="adj" fmla="val 313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8396935" y="2286000"/>
            <a:ext cx="286481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28A019"/>
                </a:solidFill>
                <a:latin typeface="Arial"/>
              </a:rPr>
              <a:t>22%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396935" y="3337560"/>
            <a:ext cx="2864815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of employees say they got enough training, coaching or tools to adapt after a reorganization.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396935" y="4965192"/>
            <a:ext cx="2864815" cy="4114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 spc="100">
                <a:solidFill>
                  <a:srgbClr val="6B6B6B"/>
                </a:solidFill>
                <a:latin typeface="Arial"/>
              </a:rPr>
              <a:t>BAIN &amp; COMPANY · 2026 · ~1,000 EXECUTIVES AND EMPLOYEES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609904" y="5852160"/>
            <a:ext cx="1097188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Three studies, one pattern: the plan survives approval, then stalls where people meet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THE BLIND SPOT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Dashboards report adoption. They cannot see the workarounds.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03 / 14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609904" y="19659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WHAT THE DASHBOARD SHOWS</a:t>
            </a:r>
          </a:p>
        </p:txBody>
      </p:sp>
      <p:sp>
        <p:nvSpPr>
          <p:cNvPr id="8" name="Badge"/>
          <p:cNvSpPr/>
          <p:nvPr/>
        </p:nvSpPr>
        <p:spPr>
          <a:xfrm>
            <a:off x="4564227" y="193852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 spc="100">
                <a:solidFill>
                  <a:srgbClr val="6B6B6B"/>
                </a:solidFill>
                <a:latin typeface="Arial"/>
              </a:rPr>
              <a:t>ILLUSTRATIVE</a:t>
            </a:r>
          </a:p>
        </p:txBody>
      </p:sp>
      <p:sp>
        <p:nvSpPr>
          <p:cNvPr id="9" name="Card"/>
          <p:cNvSpPr/>
          <p:nvPr/>
        </p:nvSpPr>
        <p:spPr>
          <a:xfrm>
            <a:off x="609904" y="2286000"/>
            <a:ext cx="537164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Icon circle-check" descr="circle-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" y="2651760"/>
            <a:ext cx="292608" cy="292608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884224" y="3063239"/>
            <a:ext cx="1546707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80%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84224" y="3611880"/>
            <a:ext cx="154670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Adoption</a:t>
            </a:r>
          </a:p>
        </p:txBody>
      </p:sp>
      <p:pic>
        <p:nvPicPr>
          <p:cNvPr id="13" name="Icon circle-check" descr="circle-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372" y="2651760"/>
            <a:ext cx="292608" cy="292608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2522372" y="3063239"/>
            <a:ext cx="1546707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94%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522372" y="3611880"/>
            <a:ext cx="154670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Trained</a:t>
            </a:r>
          </a:p>
        </p:txBody>
      </p:sp>
      <p:pic>
        <p:nvPicPr>
          <p:cNvPr id="16" name="Icon circle-check" descr="circle-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651760"/>
            <a:ext cx="292608" cy="292608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4160520" y="3063239"/>
            <a:ext cx="1546707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+32%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160520" y="3611880"/>
            <a:ext cx="154670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Logins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884224" y="4114800"/>
            <a:ext cx="482300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STATUS: ON TRACK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6210147" y="196596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A1A1A"/>
                </a:solidFill>
                <a:latin typeface="Arial"/>
              </a:rPr>
              <a:t>WHAT IS ACTUALLY HAPPENING</a:t>
            </a:r>
          </a:p>
        </p:txBody>
      </p:sp>
      <p:sp>
        <p:nvSpPr>
          <p:cNvPr id="21" name="Card"/>
          <p:cNvSpPr/>
          <p:nvPr/>
        </p:nvSpPr>
        <p:spPr>
          <a:xfrm>
            <a:off x="6210147" y="2286000"/>
            <a:ext cx="5371642" cy="21945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Icon shuffle" descr="shuffle-in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7" y="2551176"/>
            <a:ext cx="292608" cy="292608"/>
          </a:xfrm>
          <a:prstGeom prst="rect">
            <a:avLst/>
          </a:prstGeom>
        </p:spPr>
      </p:pic>
      <p:sp>
        <p:nvSpPr>
          <p:cNvPr id="23" name="Text"/>
          <p:cNvSpPr txBox="1"/>
          <p:nvPr/>
        </p:nvSpPr>
        <p:spPr>
          <a:xfrm>
            <a:off x="6987387" y="2532888"/>
            <a:ext cx="436580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Workarounds keep the old process alive</a:t>
            </a:r>
          </a:p>
        </p:txBody>
      </p:sp>
      <p:pic>
        <p:nvPicPr>
          <p:cNvPr id="24" name="Icon repeat" descr="repeat-ink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7" y="3172968"/>
            <a:ext cx="292608" cy="292608"/>
          </a:xfrm>
          <a:prstGeom prst="rect">
            <a:avLst/>
          </a:prstGeom>
        </p:spPr>
      </p:pic>
      <p:sp>
        <p:nvSpPr>
          <p:cNvPr id="25" name="Text"/>
          <p:cNvSpPr txBox="1"/>
          <p:nvPr/>
        </p:nvSpPr>
        <p:spPr>
          <a:xfrm>
            <a:off x="6987387" y="3154680"/>
            <a:ext cx="436580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New tool for reporting, old habits for the work</a:t>
            </a:r>
          </a:p>
        </p:txBody>
      </p:sp>
      <p:pic>
        <p:nvPicPr>
          <p:cNvPr id="26" name="Icon eye-off" descr="eye-off-ink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187" y="3794759"/>
            <a:ext cx="292608" cy="292608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6987387" y="3776472"/>
            <a:ext cx="436580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Compliance on record, not in practice</a:t>
            </a:r>
          </a:p>
        </p:txBody>
      </p:sp>
      <p:sp>
        <p:nvSpPr>
          <p:cNvPr id="28" name="Label"/>
          <p:cNvSpPr txBox="1"/>
          <p:nvPr/>
        </p:nvSpPr>
        <p:spPr>
          <a:xfrm>
            <a:off x="609904" y="4800600"/>
            <a:ext cx="723839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SAME REORGANIZATION, TWO VIEWS: SHARE WHO BELIEVE IT WILL DELIVER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09904" y="5093208"/>
            <a:ext cx="182102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Leaders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09904" y="5513832"/>
            <a:ext cx="182102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Employees</a:t>
            </a:r>
          </a:p>
        </p:txBody>
      </p:sp>
      <p:graphicFrame>
        <p:nvGraphicFramePr>
          <p:cNvPr id="31" name="Chart perception gap"/>
          <p:cNvGraphicFramePr>
            <a:graphicFrameLocks noGrp="1"/>
          </p:cNvGraphicFramePr>
          <p:nvPr/>
        </p:nvGraphicFramePr>
        <p:xfrm>
          <a:off x="2568092" y="5074920"/>
          <a:ext cx="6305016" cy="841248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2" name="Text"/>
          <p:cNvSpPr txBox="1"/>
          <p:nvPr/>
        </p:nvSpPr>
        <p:spPr>
          <a:xfrm>
            <a:off x="7653105" y="5129784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88%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4702357" y="555040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36%</a:t>
            </a:r>
          </a:p>
        </p:txBody>
      </p:sp>
      <p:cxnSp>
        <p:nvCxnSpPr>
          <p:cNvPr id="34" name="Line"/>
          <p:cNvCxnSpPr/>
          <p:nvPr/>
        </p:nvCxnSpPr>
        <p:spPr>
          <a:xfrm>
            <a:off x="4610917" y="5989320"/>
            <a:ext cx="2950748" cy="0"/>
          </a:xfrm>
          <a:prstGeom prst="line">
            <a:avLst/>
          </a:prstGeom>
          <a:ln w="25400">
            <a:solidFill>
              <a:srgbClr val="28A019"/>
            </a:solidFill>
          </a:ln>
        </p:spPr>
      </p:cxnSp>
      <p:cxnSp>
        <p:nvCxnSpPr>
          <p:cNvPr id="35" name="Line"/>
          <p:cNvCxnSpPr/>
          <p:nvPr/>
        </p:nvCxnSpPr>
        <p:spPr>
          <a:xfrm>
            <a:off x="4610917" y="5916168"/>
            <a:ext cx="0" cy="146304"/>
          </a:xfrm>
          <a:prstGeom prst="line">
            <a:avLst/>
          </a:prstGeom>
          <a:ln w="25400">
            <a:solidFill>
              <a:srgbClr val="28A019"/>
            </a:solidFill>
          </a:ln>
        </p:spPr>
      </p:cxnSp>
      <p:cxnSp>
        <p:nvCxnSpPr>
          <p:cNvPr id="36" name="Line"/>
          <p:cNvCxnSpPr/>
          <p:nvPr/>
        </p:nvCxnSpPr>
        <p:spPr>
          <a:xfrm>
            <a:off x="7561665" y="5916168"/>
            <a:ext cx="0" cy="146304"/>
          </a:xfrm>
          <a:prstGeom prst="line">
            <a:avLst/>
          </a:prstGeom>
          <a:ln w="25400">
            <a:solidFill>
              <a:srgbClr val="28A019"/>
            </a:solidFill>
          </a:ln>
        </p:spPr>
      </p:cxnSp>
      <p:sp>
        <p:nvSpPr>
          <p:cNvPr id="37" name="Text"/>
          <p:cNvSpPr txBox="1"/>
          <p:nvPr/>
        </p:nvSpPr>
        <p:spPr>
          <a:xfrm>
            <a:off x="9852202" y="5093208"/>
            <a:ext cx="1729587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8A019"/>
                </a:solidFill>
                <a:latin typeface="Arial"/>
              </a:rPr>
              <a:t>52 pts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9852202" y="5586984"/>
            <a:ext cx="172958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perception gap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609904" y="6099048"/>
            <a:ext cx="1097188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 spc="100">
                <a:solidFill>
                  <a:srgbClr val="6B6B6B"/>
                </a:solidFill>
                <a:latin typeface="Arial"/>
              </a:rPr>
              <a:t>BAIN &amp; COMPANY · JAN 2026 · ~1,000 EXECUTIVES AND EMPLOYEES WHO WENT THROUGH A REORGANIZATION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CURRENT VISIBILITY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Snapshot tools show that friction exists. They rarely show its kind, location or fix.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04 / 14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609904" y="1938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TODAY'S SNAPSHOT TOOLS</a:t>
            </a:r>
          </a:p>
        </p:txBody>
      </p:sp>
      <p:sp>
        <p:nvSpPr>
          <p:cNvPr id="8" name="Pill"/>
          <p:cNvSpPr/>
          <p:nvPr/>
        </p:nvSpPr>
        <p:spPr>
          <a:xfrm>
            <a:off x="609904" y="2212848"/>
            <a:ext cx="121249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Surveys</a:t>
            </a:r>
          </a:p>
        </p:txBody>
      </p:sp>
      <p:sp>
        <p:nvSpPr>
          <p:cNvPr id="9" name="Pill"/>
          <p:cNvSpPr/>
          <p:nvPr/>
        </p:nvSpPr>
        <p:spPr>
          <a:xfrm>
            <a:off x="1986991" y="2212848"/>
            <a:ext cx="175199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Focus groups</a:t>
            </a:r>
          </a:p>
        </p:txBody>
      </p:sp>
      <p:sp>
        <p:nvSpPr>
          <p:cNvPr id="10" name="Pill"/>
          <p:cNvSpPr/>
          <p:nvPr/>
        </p:nvSpPr>
        <p:spPr>
          <a:xfrm>
            <a:off x="3903573" y="2212848"/>
            <a:ext cx="218358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Manager feedback</a:t>
            </a:r>
          </a:p>
        </p:txBody>
      </p:sp>
      <p:sp>
        <p:nvSpPr>
          <p:cNvPr id="11" name="Pill"/>
          <p:cNvSpPr/>
          <p:nvPr/>
        </p:nvSpPr>
        <p:spPr>
          <a:xfrm>
            <a:off x="6251752" y="2212848"/>
            <a:ext cx="272308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Readiness assessments</a:t>
            </a:r>
          </a:p>
        </p:txBody>
      </p:sp>
      <p:sp>
        <p:nvSpPr>
          <p:cNvPr id="12" name="Label"/>
          <p:cNvSpPr txBox="1"/>
          <p:nvPr/>
        </p:nvSpPr>
        <p:spPr>
          <a:xfrm>
            <a:off x="609904" y="301752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WHAT THEY SHOW</a:t>
            </a:r>
          </a:p>
        </p:txBody>
      </p:sp>
      <p:sp>
        <p:nvSpPr>
          <p:cNvPr id="13" name="Card"/>
          <p:cNvSpPr/>
          <p:nvPr/>
        </p:nvSpPr>
        <p:spPr>
          <a:xfrm>
            <a:off x="609904" y="3337560"/>
            <a:ext cx="3504895" cy="2103120"/>
          </a:xfrm>
          <a:prstGeom prst="roundRect">
            <a:avLst>
              <a:gd name="adj" fmla="val 5217"/>
            </a:avLst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Icon circle-check" descr="circle-check-green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" y="3703320"/>
            <a:ext cx="384048" cy="384048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929944" y="4251960"/>
            <a:ext cx="28648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That friction exists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343400" y="3017520"/>
            <a:ext cx="723839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A1A1A"/>
                </a:solidFill>
                <a:latin typeface="Arial"/>
              </a:rPr>
              <a:t>WHAT THEY MISS</a:t>
            </a:r>
          </a:p>
        </p:txBody>
      </p:sp>
      <p:sp>
        <p:nvSpPr>
          <p:cNvPr id="17" name="Card"/>
          <p:cNvSpPr/>
          <p:nvPr/>
        </p:nvSpPr>
        <p:spPr>
          <a:xfrm>
            <a:off x="4343400" y="3337560"/>
            <a:ext cx="7238390" cy="2103120"/>
          </a:xfrm>
          <a:prstGeom prst="roundRect">
            <a:avLst>
              <a:gd name="adj" fmla="val 5217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Icon circle-help" descr="circle-help-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11879"/>
            <a:ext cx="310896" cy="310896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5120640" y="352043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What kind of friction it is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092440" y="3520439"/>
            <a:ext cx="326075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Knowledge, bandwidth, identity or loss</a:t>
            </a:r>
          </a:p>
        </p:txBody>
      </p:sp>
      <p:pic>
        <p:nvPicPr>
          <p:cNvPr id="21" name="Icon circle-help" descr="circle-help-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33671"/>
            <a:ext cx="310896" cy="310896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5120640" y="4142231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Where it concentrates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092440" y="4142231"/>
            <a:ext cx="326075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By unit, function, geography and role</a:t>
            </a:r>
          </a:p>
        </p:txBody>
      </p:sp>
      <p:pic>
        <p:nvPicPr>
          <p:cNvPr id="24" name="Icon circle-help" descr="circle-help-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855464"/>
            <a:ext cx="310896" cy="310896"/>
          </a:xfrm>
          <a:prstGeom prst="rect">
            <a:avLst/>
          </a:prstGeom>
        </p:spPr>
      </p:pic>
      <p:sp>
        <p:nvSpPr>
          <p:cNvPr id="25" name="Text"/>
          <p:cNvSpPr txBox="1"/>
          <p:nvPr/>
        </p:nvSpPr>
        <p:spPr>
          <a:xfrm>
            <a:off x="5120640" y="4764024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Which intervention it needs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092440" y="4764024"/>
            <a:ext cx="326075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Training, provisioning, role design or acknowledgement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09904" y="5715000"/>
            <a:ext cx="1097188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The gap is rarely commitment. It is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THE FOUR COSTS OF CHANGE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Most friction gets filed as a skills gap. The expensive costs are the other three.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05 / 14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609904" y="1810512"/>
            <a:ext cx="257152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USUALLY FILED HERE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3410026" y="1810512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THE EXPENSIVE THREE</a:t>
            </a:r>
          </a:p>
        </p:txBody>
      </p:sp>
      <p:cxnSp>
        <p:nvCxnSpPr>
          <p:cNvPr id="9" name="Line"/>
          <p:cNvCxnSpPr/>
          <p:nvPr/>
        </p:nvCxnSpPr>
        <p:spPr>
          <a:xfrm>
            <a:off x="3410026" y="2066543"/>
            <a:ext cx="8171764" cy="0"/>
          </a:xfrm>
          <a:prstGeom prst="line">
            <a:avLst/>
          </a:prstGeom>
          <a:ln w="22225">
            <a:solidFill>
              <a:srgbClr val="28A019"/>
            </a:solidFill>
          </a:ln>
        </p:spPr>
      </p:cxnSp>
      <p:cxnSp>
        <p:nvCxnSpPr>
          <p:cNvPr id="10" name="Line"/>
          <p:cNvCxnSpPr/>
          <p:nvPr/>
        </p:nvCxnSpPr>
        <p:spPr>
          <a:xfrm>
            <a:off x="3410026" y="2066543"/>
            <a:ext cx="0" cy="73153"/>
          </a:xfrm>
          <a:prstGeom prst="line">
            <a:avLst/>
          </a:prstGeom>
          <a:ln w="22225">
            <a:solidFill>
              <a:srgbClr val="28A019"/>
            </a:solidFill>
          </a:ln>
        </p:spPr>
      </p:cxnSp>
      <p:cxnSp>
        <p:nvCxnSpPr>
          <p:cNvPr id="11" name="Line"/>
          <p:cNvCxnSpPr/>
          <p:nvPr/>
        </p:nvCxnSpPr>
        <p:spPr>
          <a:xfrm>
            <a:off x="11581790" y="2066543"/>
            <a:ext cx="0" cy="73153"/>
          </a:xfrm>
          <a:prstGeom prst="line">
            <a:avLst/>
          </a:prstGeom>
          <a:ln w="22225">
            <a:solidFill>
              <a:srgbClr val="28A019"/>
            </a:solidFill>
          </a:ln>
        </p:spPr>
      </p:cxnSp>
      <p:sp>
        <p:nvSpPr>
          <p:cNvPr id="12" name="Card"/>
          <p:cNvSpPr/>
          <p:nvPr/>
        </p:nvSpPr>
        <p:spPr>
          <a:xfrm>
            <a:off x="609904" y="2212848"/>
            <a:ext cx="2571521" cy="36576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ng"/>
          <p:cNvSpPr/>
          <p:nvPr/>
        </p:nvSpPr>
        <p:spPr>
          <a:xfrm>
            <a:off x="838504" y="244144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6B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Icon book-open" descr="book-open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6" y="2560320"/>
            <a:ext cx="237744" cy="237744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1432864" y="2441448"/>
            <a:ext cx="156568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434343"/>
                </a:solidFill>
                <a:latin typeface="Arial"/>
              </a:rPr>
              <a:t>Knowledge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38504" y="3054096"/>
            <a:ext cx="216004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1">
                <a:solidFill>
                  <a:srgbClr val="6B6B6B"/>
                </a:solidFill>
                <a:latin typeface="Arial"/>
              </a:rPr>
              <a:t>“I don't know it yet, or nobody has decided.”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38504" y="3675887"/>
            <a:ext cx="2160041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Something new, unknown or undecided.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838504" y="4544568"/>
            <a:ext cx="211432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WHAT WORKS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38504" y="4791456"/>
            <a:ext cx="216004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Supply the answer: a decision, specific information, or training.</a:t>
            </a:r>
          </a:p>
        </p:txBody>
      </p:sp>
      <p:sp>
        <p:nvSpPr>
          <p:cNvPr id="20" name="Card"/>
          <p:cNvSpPr/>
          <p:nvPr/>
        </p:nvSpPr>
        <p:spPr>
          <a:xfrm>
            <a:off x="3410026" y="2212848"/>
            <a:ext cx="2571521" cy="3657600"/>
          </a:xfrm>
          <a:prstGeom prst="roundRect">
            <a:avLst>
              <a:gd name="adj" fmla="val 4267"/>
            </a:avLst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ing"/>
          <p:cNvSpPr/>
          <p:nvPr/>
        </p:nvSpPr>
        <p:spPr>
          <a:xfrm>
            <a:off x="3638626" y="244144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Icon hourglass" descr="hourglass-green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498" y="2560320"/>
            <a:ext cx="237744" cy="237744"/>
          </a:xfrm>
          <a:prstGeom prst="rect">
            <a:avLst/>
          </a:prstGeom>
        </p:spPr>
      </p:pic>
      <p:sp>
        <p:nvSpPr>
          <p:cNvPr id="23" name="Text"/>
          <p:cNvSpPr txBox="1"/>
          <p:nvPr/>
        </p:nvSpPr>
        <p:spPr>
          <a:xfrm>
            <a:off x="4232986" y="2441448"/>
            <a:ext cx="156568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Bandwidth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638626" y="3054096"/>
            <a:ext cx="216004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1">
                <a:solidFill>
                  <a:srgbClr val="1E7A13"/>
                </a:solidFill>
                <a:latin typeface="Arial"/>
              </a:rPr>
              <a:t>“I can't reach it or fit it.”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638626" y="3675887"/>
            <a:ext cx="2160041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No time, tools or access. The environment blocks it.</a:t>
            </a:r>
          </a:p>
        </p:txBody>
      </p:sp>
      <p:sp>
        <p:nvSpPr>
          <p:cNvPr id="26" name="Label"/>
          <p:cNvSpPr txBox="1"/>
          <p:nvPr/>
        </p:nvSpPr>
        <p:spPr>
          <a:xfrm>
            <a:off x="3638626" y="4544568"/>
            <a:ext cx="211432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WHAT WORKS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3638626" y="4791456"/>
            <a:ext cx="216004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Provision and simplify: devices, access, time, fewer demands.</a:t>
            </a:r>
          </a:p>
        </p:txBody>
      </p:sp>
      <p:sp>
        <p:nvSpPr>
          <p:cNvPr id="28" name="Card"/>
          <p:cNvSpPr/>
          <p:nvPr/>
        </p:nvSpPr>
        <p:spPr>
          <a:xfrm>
            <a:off x="6210147" y="2212848"/>
            <a:ext cx="2571521" cy="3657600"/>
          </a:xfrm>
          <a:prstGeom prst="roundRect">
            <a:avLst>
              <a:gd name="adj" fmla="val 4267"/>
            </a:avLst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ing"/>
          <p:cNvSpPr/>
          <p:nvPr/>
        </p:nvSpPr>
        <p:spPr>
          <a:xfrm>
            <a:off x="6438747" y="244144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Icon user-round" descr="user-round-green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619" y="2560320"/>
            <a:ext cx="237744" cy="237744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7033107" y="2441448"/>
            <a:ext cx="156568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Identity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438747" y="3054096"/>
            <a:ext cx="216004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1">
                <a:solidFill>
                  <a:srgbClr val="1E7A13"/>
                </a:solidFill>
                <a:latin typeface="Arial"/>
              </a:rPr>
              <a:t>“Who am I here now?”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438747" y="3675887"/>
            <a:ext cx="2160041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The change reads as a threat to standing, not a training gap.</a:t>
            </a:r>
          </a:p>
        </p:txBody>
      </p:sp>
      <p:sp>
        <p:nvSpPr>
          <p:cNvPr id="34" name="Label"/>
          <p:cNvSpPr txBox="1"/>
          <p:nvPr/>
        </p:nvSpPr>
        <p:spPr>
          <a:xfrm>
            <a:off x="6438747" y="4544568"/>
            <a:ext cx="211432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WHAT WORKS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438747" y="4791456"/>
            <a:ext cx="216004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concrete, respected role in the new model, built with peers.</a:t>
            </a:r>
          </a:p>
        </p:txBody>
      </p:sp>
      <p:sp>
        <p:nvSpPr>
          <p:cNvPr id="36" name="Card"/>
          <p:cNvSpPr/>
          <p:nvPr/>
        </p:nvSpPr>
        <p:spPr>
          <a:xfrm>
            <a:off x="9010269" y="2212848"/>
            <a:ext cx="2571521" cy="3657600"/>
          </a:xfrm>
          <a:prstGeom prst="roundRect">
            <a:avLst>
              <a:gd name="adj" fmla="val 4267"/>
            </a:avLst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ing"/>
          <p:cNvSpPr/>
          <p:nvPr/>
        </p:nvSpPr>
        <p:spPr>
          <a:xfrm>
            <a:off x="9238869" y="244144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Icon heart-crack" descr="heart-crack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7741" y="2560320"/>
            <a:ext cx="237744" cy="237744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9833229" y="2441448"/>
            <a:ext cx="156568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Loss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9238869" y="3054096"/>
            <a:ext cx="216004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1">
                <a:solidFill>
                  <a:srgbClr val="1E7A13"/>
                </a:solidFill>
                <a:latin typeface="Arial"/>
              </a:rPr>
              <a:t>“Nothing replaces it.”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9238869" y="3675887"/>
            <a:ext cx="2160041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Something valued is ending. Arguing only confirms the loss.</a:t>
            </a:r>
          </a:p>
        </p:txBody>
      </p:sp>
      <p:sp>
        <p:nvSpPr>
          <p:cNvPr id="42" name="Label"/>
          <p:cNvSpPr txBox="1"/>
          <p:nvPr/>
        </p:nvSpPr>
        <p:spPr>
          <a:xfrm>
            <a:off x="9238869" y="4544568"/>
            <a:ext cx="211432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WHAT WORKS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9238869" y="4791456"/>
            <a:ext cx="216004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Acknowledge the loss and restore what it carried. Never argue with it.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609904" y="5989320"/>
            <a:ext cx="1097188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Training fixes knowledge. The other three need changes to the environment, the role or the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FROM DIAGNOSIS TO DECISIONS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Seeing where friction concentrates changes five decisions.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06 / 14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609904" y="2011680"/>
            <a:ext cx="723839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DECISIONS THIS COULD INFORM</a:t>
            </a:r>
          </a:p>
        </p:txBody>
      </p:sp>
      <p:sp>
        <p:nvSpPr>
          <p:cNvPr id="8" name="Card"/>
          <p:cNvSpPr/>
          <p:nvPr/>
        </p:nvSpPr>
        <p:spPr>
          <a:xfrm>
            <a:off x="609904" y="2313432"/>
            <a:ext cx="2011497" cy="205740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ing"/>
          <p:cNvSpPr/>
          <p:nvPr/>
        </p:nvSpPr>
        <p:spPr>
          <a:xfrm>
            <a:off x="811072" y="249631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Icon megaphone" descr="megaphone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" y="2610612"/>
            <a:ext cx="228600" cy="228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811072" y="3044952"/>
            <a:ext cx="164573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Communication strategy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11072" y="3566160"/>
            <a:ext cx="164573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Which message lands where</a:t>
            </a:r>
          </a:p>
        </p:txBody>
      </p:sp>
      <p:sp>
        <p:nvSpPr>
          <p:cNvPr id="13" name="Card"/>
          <p:cNvSpPr/>
          <p:nvPr/>
        </p:nvSpPr>
        <p:spPr>
          <a:xfrm>
            <a:off x="2850001" y="2313432"/>
            <a:ext cx="2011497" cy="205740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ing"/>
          <p:cNvSpPr/>
          <p:nvPr/>
        </p:nvSpPr>
        <p:spPr>
          <a:xfrm>
            <a:off x="3051169" y="249631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Icon users" descr="users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469" y="2610612"/>
            <a:ext cx="228600" cy="22860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3051169" y="3044952"/>
            <a:ext cx="164573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Manager support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051169" y="3566160"/>
            <a:ext cx="164573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Which managers need help first</a:t>
            </a:r>
          </a:p>
        </p:txBody>
      </p:sp>
      <p:sp>
        <p:nvSpPr>
          <p:cNvPr id="18" name="Card"/>
          <p:cNvSpPr/>
          <p:nvPr/>
        </p:nvSpPr>
        <p:spPr>
          <a:xfrm>
            <a:off x="5090099" y="2313432"/>
            <a:ext cx="2011497" cy="205740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ing"/>
          <p:cNvSpPr/>
          <p:nvPr/>
        </p:nvSpPr>
        <p:spPr>
          <a:xfrm>
            <a:off x="5291267" y="249631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Icon route" descr="route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567" y="2610612"/>
            <a:ext cx="228600" cy="22860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5291267" y="3044952"/>
            <a:ext cx="164573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Rollout scope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291267" y="3566160"/>
            <a:ext cx="164573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What to simplify or sequence</a:t>
            </a:r>
          </a:p>
        </p:txBody>
      </p:sp>
      <p:sp>
        <p:nvSpPr>
          <p:cNvPr id="23" name="Card"/>
          <p:cNvSpPr/>
          <p:nvPr/>
        </p:nvSpPr>
        <p:spPr>
          <a:xfrm>
            <a:off x="7330196" y="2313432"/>
            <a:ext cx="2011497" cy="205740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ing"/>
          <p:cNvSpPr/>
          <p:nvPr/>
        </p:nvSpPr>
        <p:spPr>
          <a:xfrm>
            <a:off x="7531364" y="249631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Icon clock" descr="clock-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5664" y="2610612"/>
            <a:ext cx="228600" cy="2286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7531364" y="3044952"/>
            <a:ext cx="164573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Intervention timing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7531364" y="3566160"/>
            <a:ext cx="164573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Where to step in early</a:t>
            </a:r>
          </a:p>
        </p:txBody>
      </p:sp>
      <p:sp>
        <p:nvSpPr>
          <p:cNvPr id="28" name="Card"/>
          <p:cNvSpPr/>
          <p:nvPr/>
        </p:nvSpPr>
        <p:spPr>
          <a:xfrm>
            <a:off x="9570293" y="2313432"/>
            <a:ext cx="2011497" cy="205740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ing"/>
          <p:cNvSpPr/>
          <p:nvPr/>
        </p:nvSpPr>
        <p:spPr>
          <a:xfrm>
            <a:off x="9771461" y="249631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Icon wallet" descr="wallet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5761" y="2610612"/>
            <a:ext cx="228600" cy="22860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9771461" y="3044952"/>
            <a:ext cx="164573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Change resources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9771461" y="3566160"/>
            <a:ext cx="164573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Where to put people and budget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09904" y="4892040"/>
            <a:ext cx="1097188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The value is not another survey. </a:t>
            </a:r>
            <a:r>
              <a:rPr sz="2000" b="0" i="0">
                <a:solidFill>
                  <a:srgbClr val="1A1A1A"/>
                </a:solidFill>
                <a:latin typeface="Arial"/>
              </a:rPr>
              <a:t>It is seeing execution risk early enough to avoid the delay, the productivity loss and the failed adoption.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THE SYSTEM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Diagnosis is one layer of three. The same conversations run the whole loop.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07 / 14</a:t>
            </a:r>
          </a:p>
        </p:txBody>
      </p:sp>
      <p:sp>
        <p:nvSpPr>
          <p:cNvPr id="7" name="Loop ring"/>
          <p:cNvSpPr/>
          <p:nvPr/>
        </p:nvSpPr>
        <p:spPr>
          <a:xfrm>
            <a:off x="1734616" y="2468880"/>
            <a:ext cx="3145536" cy="3145536"/>
          </a:xfrm>
          <a:prstGeom prst="ellipse">
            <a:avLst/>
          </a:prstGeom>
          <a:noFill/>
          <a:ln w="31750">
            <a:solidFill>
              <a:srgbClr val="D4D4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oop arrow"/>
          <p:cNvSpPr/>
          <p:nvPr/>
        </p:nvSpPr>
        <p:spPr>
          <a:xfrm rot="9000000">
            <a:off x="4559713" y="3099816"/>
            <a:ext cx="219456" cy="310896"/>
          </a:xfrm>
          <a:prstGeom prst="triangl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oop arrow"/>
          <p:cNvSpPr/>
          <p:nvPr/>
        </p:nvSpPr>
        <p:spPr>
          <a:xfrm rot="16200000">
            <a:off x="3197656" y="5458968"/>
            <a:ext cx="219456" cy="310896"/>
          </a:xfrm>
          <a:prstGeom prst="triangl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oop arrow"/>
          <p:cNvSpPr/>
          <p:nvPr/>
        </p:nvSpPr>
        <p:spPr>
          <a:xfrm rot="1800000">
            <a:off x="1835599" y="3099815"/>
            <a:ext cx="219456" cy="310896"/>
          </a:xfrm>
          <a:prstGeom prst="triangl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Node Diagnose"/>
          <p:cNvSpPr/>
          <p:nvPr/>
        </p:nvSpPr>
        <p:spPr>
          <a:xfrm>
            <a:off x="2644444" y="1805940"/>
            <a:ext cx="1325880" cy="1325880"/>
          </a:xfrm>
          <a:prstGeom prst="ellipse">
            <a:avLst/>
          </a:prstGeom>
          <a:solidFill>
            <a:srgbClr val="28A019"/>
          </a:solidFill>
          <a:ln w="31750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Node label Diagnose"/>
          <p:cNvSpPr txBox="1"/>
          <p:nvPr/>
        </p:nvSpPr>
        <p:spPr>
          <a:xfrm>
            <a:off x="2370124" y="1805940"/>
            <a:ext cx="1874519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Diagnose</a:t>
            </a:r>
          </a:p>
        </p:txBody>
      </p:sp>
      <p:sp>
        <p:nvSpPr>
          <p:cNvPr id="13" name="Node Activate"/>
          <p:cNvSpPr/>
          <p:nvPr/>
        </p:nvSpPr>
        <p:spPr>
          <a:xfrm>
            <a:off x="4006501" y="4165091"/>
            <a:ext cx="1325880" cy="1325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ode label Activate"/>
          <p:cNvSpPr txBox="1"/>
          <p:nvPr/>
        </p:nvSpPr>
        <p:spPr>
          <a:xfrm>
            <a:off x="3732181" y="4165091"/>
            <a:ext cx="1874519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Activate</a:t>
            </a:r>
          </a:p>
        </p:txBody>
      </p:sp>
      <p:sp>
        <p:nvSpPr>
          <p:cNvPr id="15" name="Node Measure"/>
          <p:cNvSpPr/>
          <p:nvPr/>
        </p:nvSpPr>
        <p:spPr>
          <a:xfrm>
            <a:off x="1282387" y="4165091"/>
            <a:ext cx="1325880" cy="1325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Node label Measure"/>
          <p:cNvSpPr txBox="1"/>
          <p:nvPr/>
        </p:nvSpPr>
        <p:spPr>
          <a:xfrm>
            <a:off x="1008067" y="4165091"/>
            <a:ext cx="1874519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Measure</a:t>
            </a:r>
          </a:p>
        </p:txBody>
      </p:sp>
      <p:pic>
        <p:nvPicPr>
          <p:cNvPr id="17" name="Icon messages-square" descr="messages-square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784" y="3383280"/>
            <a:ext cx="457200" cy="457200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2484424" y="3904487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1:1 AI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conversations</a:t>
            </a:r>
          </a:p>
        </p:txBody>
      </p:sp>
      <p:sp>
        <p:nvSpPr>
          <p:cNvPr id="19" name="Number ring"/>
          <p:cNvSpPr/>
          <p:nvPr/>
        </p:nvSpPr>
        <p:spPr>
          <a:xfrm>
            <a:off x="6393027" y="20574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01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033107" y="2039112"/>
            <a:ext cx="454868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Diagnose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33107" y="2404872"/>
            <a:ext cx="454868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MAPPING AND DIAGNOSING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033107" y="2660904"/>
            <a:ext cx="454868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Maps readiness and friction by cohort, so every intervention is targeted, not broadcast.</a:t>
            </a:r>
          </a:p>
        </p:txBody>
      </p:sp>
      <p:sp>
        <p:nvSpPr>
          <p:cNvPr id="23" name="Number ring"/>
          <p:cNvSpPr/>
          <p:nvPr/>
        </p:nvSpPr>
        <p:spPr>
          <a:xfrm>
            <a:off x="6393027" y="34290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02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033107" y="3410712"/>
            <a:ext cx="454868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Activate</a:t>
            </a:r>
          </a:p>
        </p:txBody>
      </p:sp>
      <p:sp>
        <p:nvSpPr>
          <p:cNvPr id="25" name="Label"/>
          <p:cNvSpPr txBox="1"/>
          <p:nvPr/>
        </p:nvSpPr>
        <p:spPr>
          <a:xfrm>
            <a:off x="7033107" y="3776472"/>
            <a:ext cx="454868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CHANGE ACTIVATION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7033107" y="4032504"/>
            <a:ext cx="454868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Weekly 1:1 AI conversations move each person from confusion to committed action.</a:t>
            </a:r>
          </a:p>
        </p:txBody>
      </p:sp>
      <p:sp>
        <p:nvSpPr>
          <p:cNvPr id="27" name="Number ring"/>
          <p:cNvSpPr/>
          <p:nvPr/>
        </p:nvSpPr>
        <p:spPr>
          <a:xfrm>
            <a:off x="6393027" y="48006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03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033107" y="4782312"/>
            <a:ext cx="454868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Measure</a:t>
            </a:r>
          </a:p>
        </p:txBody>
      </p:sp>
      <p:sp>
        <p:nvSpPr>
          <p:cNvPr id="29" name="Label"/>
          <p:cNvSpPr txBox="1"/>
          <p:nvPr/>
        </p:nvSpPr>
        <p:spPr>
          <a:xfrm>
            <a:off x="7033107" y="5148072"/>
            <a:ext cx="454868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EXECUTION INTELLIGENCE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033107" y="5404104"/>
            <a:ext cx="454868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A weekly signal on adoption, friction and emerging risk, while there is still time to 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LAYER 01 · DIAGNOSE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Diagnose gives leaders four views of where execution will stall.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08 / 14</a:t>
            </a:r>
          </a:p>
        </p:txBody>
      </p:sp>
      <p:sp>
        <p:nvSpPr>
          <p:cNvPr id="7" name="Card"/>
          <p:cNvSpPr/>
          <p:nvPr/>
        </p:nvSpPr>
        <p:spPr>
          <a:xfrm>
            <a:off x="609904" y="2011680"/>
            <a:ext cx="2571521" cy="1600200"/>
          </a:xfrm>
          <a:prstGeom prst="roundRect">
            <a:avLst>
              <a:gd name="adj" fmla="val 6857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Heat cell"/>
          <p:cNvSpPr/>
          <p:nvPr/>
        </p:nvSpPr>
        <p:spPr>
          <a:xfrm>
            <a:off x="838504" y="224028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Heat cell"/>
          <p:cNvSpPr/>
          <p:nvPr/>
        </p:nvSpPr>
        <p:spPr>
          <a:xfrm>
            <a:off x="1140550" y="2240280"/>
            <a:ext cx="265469" cy="249174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Heat cell"/>
          <p:cNvSpPr/>
          <p:nvPr/>
        </p:nvSpPr>
        <p:spPr>
          <a:xfrm>
            <a:off x="1442596" y="2240280"/>
            <a:ext cx="265469" cy="249174"/>
          </a:xfrm>
          <a:prstGeom prst="rect">
            <a:avLst/>
          </a:prstGeom>
          <a:solidFill>
            <a:srgbClr val="BFE9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Heat cell"/>
          <p:cNvSpPr/>
          <p:nvPr/>
        </p:nvSpPr>
        <p:spPr>
          <a:xfrm>
            <a:off x="1744642" y="2240280"/>
            <a:ext cx="265469" cy="249174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Heat cell"/>
          <p:cNvSpPr/>
          <p:nvPr/>
        </p:nvSpPr>
        <p:spPr>
          <a:xfrm>
            <a:off x="2046688" y="224028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Heat cell"/>
          <p:cNvSpPr/>
          <p:nvPr/>
        </p:nvSpPr>
        <p:spPr>
          <a:xfrm>
            <a:off x="2348734" y="224028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Heat cell"/>
          <p:cNvSpPr/>
          <p:nvPr/>
        </p:nvSpPr>
        <p:spPr>
          <a:xfrm>
            <a:off x="2650780" y="2240280"/>
            <a:ext cx="265469" cy="249174"/>
          </a:xfrm>
          <a:prstGeom prst="rect">
            <a:avLst/>
          </a:prstGeom>
          <a:solidFill>
            <a:srgbClr val="1E7A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Heat cell"/>
          <p:cNvSpPr/>
          <p:nvPr/>
        </p:nvSpPr>
        <p:spPr>
          <a:xfrm>
            <a:off x="838504" y="252603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Heat cell"/>
          <p:cNvSpPr/>
          <p:nvPr/>
        </p:nvSpPr>
        <p:spPr>
          <a:xfrm>
            <a:off x="1140550" y="252603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Heat cell"/>
          <p:cNvSpPr/>
          <p:nvPr/>
        </p:nvSpPr>
        <p:spPr>
          <a:xfrm>
            <a:off x="1442596" y="252603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Heat cell"/>
          <p:cNvSpPr/>
          <p:nvPr/>
        </p:nvSpPr>
        <p:spPr>
          <a:xfrm>
            <a:off x="1744642" y="2526030"/>
            <a:ext cx="265469" cy="249174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Heat cell"/>
          <p:cNvSpPr/>
          <p:nvPr/>
        </p:nvSpPr>
        <p:spPr>
          <a:xfrm>
            <a:off x="2046688" y="252603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Heat cell"/>
          <p:cNvSpPr/>
          <p:nvPr/>
        </p:nvSpPr>
        <p:spPr>
          <a:xfrm>
            <a:off x="2348734" y="2526030"/>
            <a:ext cx="265469" cy="249174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Heat cell"/>
          <p:cNvSpPr/>
          <p:nvPr/>
        </p:nvSpPr>
        <p:spPr>
          <a:xfrm>
            <a:off x="2650780" y="2526030"/>
            <a:ext cx="265469" cy="249174"/>
          </a:xfrm>
          <a:prstGeom prst="rect">
            <a:avLst/>
          </a:prstGeom>
          <a:solidFill>
            <a:srgbClr val="BFE9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Heat cell"/>
          <p:cNvSpPr/>
          <p:nvPr/>
        </p:nvSpPr>
        <p:spPr>
          <a:xfrm>
            <a:off x="838504" y="2811780"/>
            <a:ext cx="265469" cy="249174"/>
          </a:xfrm>
          <a:prstGeom prst="rect">
            <a:avLst/>
          </a:prstGeom>
          <a:solidFill>
            <a:srgbClr val="BFE9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Heat cell"/>
          <p:cNvSpPr/>
          <p:nvPr/>
        </p:nvSpPr>
        <p:spPr>
          <a:xfrm>
            <a:off x="1140550" y="2811780"/>
            <a:ext cx="265469" cy="249174"/>
          </a:xfrm>
          <a:prstGeom prst="rect">
            <a:avLst/>
          </a:prstGeom>
          <a:solidFill>
            <a:srgbClr val="BFE9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Heat cell"/>
          <p:cNvSpPr/>
          <p:nvPr/>
        </p:nvSpPr>
        <p:spPr>
          <a:xfrm>
            <a:off x="1442596" y="2811780"/>
            <a:ext cx="265469" cy="24917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Heat cell"/>
          <p:cNvSpPr/>
          <p:nvPr/>
        </p:nvSpPr>
        <p:spPr>
          <a:xfrm>
            <a:off x="1744642" y="2811780"/>
            <a:ext cx="265469" cy="24917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Heat cell"/>
          <p:cNvSpPr/>
          <p:nvPr/>
        </p:nvSpPr>
        <p:spPr>
          <a:xfrm>
            <a:off x="2046688" y="2811780"/>
            <a:ext cx="265469" cy="24917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Heat cell"/>
          <p:cNvSpPr/>
          <p:nvPr/>
        </p:nvSpPr>
        <p:spPr>
          <a:xfrm>
            <a:off x="2348734" y="2811780"/>
            <a:ext cx="265469" cy="249174"/>
          </a:xfrm>
          <a:prstGeom prst="rect">
            <a:avLst/>
          </a:prstGeom>
          <a:solidFill>
            <a:srgbClr val="BFE9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Heat cell"/>
          <p:cNvSpPr/>
          <p:nvPr/>
        </p:nvSpPr>
        <p:spPr>
          <a:xfrm>
            <a:off x="2650780" y="281178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Heat cell"/>
          <p:cNvSpPr/>
          <p:nvPr/>
        </p:nvSpPr>
        <p:spPr>
          <a:xfrm>
            <a:off x="838504" y="3097530"/>
            <a:ext cx="265469" cy="24917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Heat cell"/>
          <p:cNvSpPr/>
          <p:nvPr/>
        </p:nvSpPr>
        <p:spPr>
          <a:xfrm>
            <a:off x="1140550" y="3097530"/>
            <a:ext cx="265469" cy="249174"/>
          </a:xfrm>
          <a:prstGeom prst="rect">
            <a:avLst/>
          </a:prstGeom>
          <a:solidFill>
            <a:srgbClr val="BFE9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Heat cell"/>
          <p:cNvSpPr/>
          <p:nvPr/>
        </p:nvSpPr>
        <p:spPr>
          <a:xfrm>
            <a:off x="1442596" y="3097530"/>
            <a:ext cx="265469" cy="24917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Heat cell"/>
          <p:cNvSpPr/>
          <p:nvPr/>
        </p:nvSpPr>
        <p:spPr>
          <a:xfrm>
            <a:off x="1744642" y="3097530"/>
            <a:ext cx="265469" cy="249174"/>
          </a:xfrm>
          <a:prstGeom prst="rect">
            <a:avLst/>
          </a:prstGeom>
          <a:solidFill>
            <a:srgbClr val="BFE9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Heat cell"/>
          <p:cNvSpPr/>
          <p:nvPr/>
        </p:nvSpPr>
        <p:spPr>
          <a:xfrm>
            <a:off x="2046688" y="3097530"/>
            <a:ext cx="265469" cy="249174"/>
          </a:xfrm>
          <a:prstGeom prst="rect">
            <a:avLst/>
          </a:prstGeom>
          <a:solidFill>
            <a:srgbClr val="BFE9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Heat cell"/>
          <p:cNvSpPr/>
          <p:nvPr/>
        </p:nvSpPr>
        <p:spPr>
          <a:xfrm>
            <a:off x="2348734" y="3097530"/>
            <a:ext cx="265469" cy="24917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Heat cell"/>
          <p:cNvSpPr/>
          <p:nvPr/>
        </p:nvSpPr>
        <p:spPr>
          <a:xfrm>
            <a:off x="2650780" y="3097530"/>
            <a:ext cx="265469" cy="24917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609904" y="3794760"/>
            <a:ext cx="2571521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Readiness Map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609904" y="4480560"/>
            <a:ext cx="257152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Readiness by cohort and component, so interventions land in the right place.</a:t>
            </a:r>
          </a:p>
        </p:txBody>
      </p:sp>
      <p:sp>
        <p:nvSpPr>
          <p:cNvPr id="38" name="Card"/>
          <p:cNvSpPr/>
          <p:nvPr/>
        </p:nvSpPr>
        <p:spPr>
          <a:xfrm>
            <a:off x="3410026" y="2011680"/>
            <a:ext cx="2571521" cy="1600200"/>
          </a:xfrm>
          <a:prstGeom prst="roundRect">
            <a:avLst>
              <a:gd name="adj" fmla="val 6857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iction bar"/>
          <p:cNvSpPr/>
          <p:nvPr/>
        </p:nvSpPr>
        <p:spPr>
          <a:xfrm>
            <a:off x="3734918" y="2240280"/>
            <a:ext cx="960868" cy="1554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low bar"/>
          <p:cNvSpPr/>
          <p:nvPr/>
        </p:nvSpPr>
        <p:spPr>
          <a:xfrm>
            <a:off x="4695786" y="2240280"/>
            <a:ext cx="354004" cy="155448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iction bar"/>
          <p:cNvSpPr/>
          <p:nvPr/>
        </p:nvSpPr>
        <p:spPr>
          <a:xfrm>
            <a:off x="3937206" y="2468880"/>
            <a:ext cx="758580" cy="1554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Flow bar"/>
          <p:cNvSpPr/>
          <p:nvPr/>
        </p:nvSpPr>
        <p:spPr>
          <a:xfrm>
            <a:off x="4695786" y="2468880"/>
            <a:ext cx="556292" cy="155448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iction bar"/>
          <p:cNvSpPr/>
          <p:nvPr/>
        </p:nvSpPr>
        <p:spPr>
          <a:xfrm>
            <a:off x="4088922" y="2697480"/>
            <a:ext cx="606864" cy="1554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Flow bar"/>
          <p:cNvSpPr/>
          <p:nvPr/>
        </p:nvSpPr>
        <p:spPr>
          <a:xfrm>
            <a:off x="4695786" y="2697480"/>
            <a:ext cx="708008" cy="155448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Friction bar"/>
          <p:cNvSpPr/>
          <p:nvPr/>
        </p:nvSpPr>
        <p:spPr>
          <a:xfrm>
            <a:off x="4240638" y="2926080"/>
            <a:ext cx="455148" cy="1554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low bar"/>
          <p:cNvSpPr/>
          <p:nvPr/>
        </p:nvSpPr>
        <p:spPr>
          <a:xfrm>
            <a:off x="4695786" y="2926080"/>
            <a:ext cx="910296" cy="155448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Friction bar"/>
          <p:cNvSpPr/>
          <p:nvPr/>
        </p:nvSpPr>
        <p:spPr>
          <a:xfrm>
            <a:off x="4392354" y="3154680"/>
            <a:ext cx="303432" cy="1554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low bar"/>
          <p:cNvSpPr/>
          <p:nvPr/>
        </p:nvSpPr>
        <p:spPr>
          <a:xfrm>
            <a:off x="4695786" y="3154680"/>
            <a:ext cx="1011440" cy="155448"/>
          </a:xfrm>
          <a:prstGeom prst="rect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Line"/>
          <p:cNvCxnSpPr/>
          <p:nvPr/>
        </p:nvCxnSpPr>
        <p:spPr>
          <a:xfrm>
            <a:off x="4695786" y="2176272"/>
            <a:ext cx="0" cy="1271016"/>
          </a:xfrm>
          <a:prstGeom prst="line">
            <a:avLst/>
          </a:prstGeom>
          <a:ln w="12700">
            <a:solidFill>
              <a:srgbClr val="434343"/>
            </a:solidFill>
          </a:ln>
        </p:spPr>
      </p:cxnSp>
      <p:sp>
        <p:nvSpPr>
          <p:cNvPr id="50" name="Text"/>
          <p:cNvSpPr txBox="1"/>
          <p:nvPr/>
        </p:nvSpPr>
        <p:spPr>
          <a:xfrm>
            <a:off x="3410026" y="3794760"/>
            <a:ext cx="2571521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Risk and Reward Profiles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3410026" y="4480560"/>
            <a:ext cx="257152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Friction and flow factors, ranked by likely impact on timelines.</a:t>
            </a:r>
          </a:p>
        </p:txBody>
      </p:sp>
      <p:sp>
        <p:nvSpPr>
          <p:cNvPr id="52" name="Card"/>
          <p:cNvSpPr/>
          <p:nvPr/>
        </p:nvSpPr>
        <p:spPr>
          <a:xfrm>
            <a:off x="6210147" y="2011680"/>
            <a:ext cx="2571521" cy="1600200"/>
          </a:xfrm>
          <a:prstGeom prst="roundRect">
            <a:avLst>
              <a:gd name="adj" fmla="val 6857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Line"/>
          <p:cNvCxnSpPr/>
          <p:nvPr/>
        </p:nvCxnSpPr>
        <p:spPr>
          <a:xfrm>
            <a:off x="6484467" y="2383155"/>
            <a:ext cx="2022882" cy="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cxnSp>
        <p:nvCxnSpPr>
          <p:cNvPr id="54" name="Line"/>
          <p:cNvCxnSpPr/>
          <p:nvPr/>
        </p:nvCxnSpPr>
        <p:spPr>
          <a:xfrm>
            <a:off x="7091332" y="2383155"/>
            <a:ext cx="16183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55" name="Dot"/>
          <p:cNvSpPr/>
          <p:nvPr/>
        </p:nvSpPr>
        <p:spPr>
          <a:xfrm>
            <a:off x="7027324" y="2319147"/>
            <a:ext cx="128016" cy="128016"/>
          </a:xfrm>
          <a:prstGeom prst="ellipse">
            <a:avLst/>
          </a:prstGeom>
          <a:solidFill>
            <a:srgbClr val="4343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Dot"/>
          <p:cNvSpPr/>
          <p:nvPr/>
        </p:nvSpPr>
        <p:spPr>
          <a:xfrm>
            <a:off x="7189154" y="2319147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Line"/>
          <p:cNvCxnSpPr/>
          <p:nvPr/>
        </p:nvCxnSpPr>
        <p:spPr>
          <a:xfrm>
            <a:off x="6484467" y="2668905"/>
            <a:ext cx="2022882" cy="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cxnSp>
        <p:nvCxnSpPr>
          <p:cNvPr id="58" name="Line"/>
          <p:cNvCxnSpPr/>
          <p:nvPr/>
        </p:nvCxnSpPr>
        <p:spPr>
          <a:xfrm>
            <a:off x="7394764" y="2668905"/>
            <a:ext cx="141601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59" name="Dot"/>
          <p:cNvSpPr/>
          <p:nvPr/>
        </p:nvSpPr>
        <p:spPr>
          <a:xfrm>
            <a:off x="7330756" y="2604897"/>
            <a:ext cx="128016" cy="128016"/>
          </a:xfrm>
          <a:prstGeom prst="ellipse">
            <a:avLst/>
          </a:prstGeom>
          <a:solidFill>
            <a:srgbClr val="4343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Dot"/>
          <p:cNvSpPr/>
          <p:nvPr/>
        </p:nvSpPr>
        <p:spPr>
          <a:xfrm>
            <a:off x="7472357" y="2604897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1" name="Line"/>
          <p:cNvCxnSpPr/>
          <p:nvPr/>
        </p:nvCxnSpPr>
        <p:spPr>
          <a:xfrm>
            <a:off x="6484467" y="2954655"/>
            <a:ext cx="2022882" cy="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cxnSp>
        <p:nvCxnSpPr>
          <p:cNvPr id="62" name="Line"/>
          <p:cNvCxnSpPr/>
          <p:nvPr/>
        </p:nvCxnSpPr>
        <p:spPr>
          <a:xfrm>
            <a:off x="6889043" y="2954655"/>
            <a:ext cx="1254187" cy="0"/>
          </a:xfrm>
          <a:prstGeom prst="line">
            <a:avLst/>
          </a:prstGeom>
          <a:ln w="31750">
            <a:solidFill>
              <a:srgbClr val="28A019"/>
            </a:solidFill>
          </a:ln>
        </p:spPr>
      </p:cxnSp>
      <p:sp>
        <p:nvSpPr>
          <p:cNvPr id="63" name="Dot"/>
          <p:cNvSpPr/>
          <p:nvPr/>
        </p:nvSpPr>
        <p:spPr>
          <a:xfrm>
            <a:off x="6825035" y="2890647"/>
            <a:ext cx="128016" cy="128016"/>
          </a:xfrm>
          <a:prstGeom prst="ellipse">
            <a:avLst/>
          </a:prstGeom>
          <a:solidFill>
            <a:srgbClr val="4343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Dot"/>
          <p:cNvSpPr/>
          <p:nvPr/>
        </p:nvSpPr>
        <p:spPr>
          <a:xfrm>
            <a:off x="8079222" y="2890647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Line"/>
          <p:cNvCxnSpPr/>
          <p:nvPr/>
        </p:nvCxnSpPr>
        <p:spPr>
          <a:xfrm>
            <a:off x="6484467" y="3240405"/>
            <a:ext cx="2022882" cy="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cxnSp>
        <p:nvCxnSpPr>
          <p:cNvPr id="66" name="Line"/>
          <p:cNvCxnSpPr/>
          <p:nvPr/>
        </p:nvCxnSpPr>
        <p:spPr>
          <a:xfrm>
            <a:off x="7597052" y="3240405"/>
            <a:ext cx="101144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67" name="Dot"/>
          <p:cNvSpPr/>
          <p:nvPr/>
        </p:nvSpPr>
        <p:spPr>
          <a:xfrm>
            <a:off x="7533044" y="3176397"/>
            <a:ext cx="128016" cy="128016"/>
          </a:xfrm>
          <a:prstGeom prst="ellipse">
            <a:avLst/>
          </a:prstGeom>
          <a:solidFill>
            <a:srgbClr val="4343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ot"/>
          <p:cNvSpPr/>
          <p:nvPr/>
        </p:nvSpPr>
        <p:spPr>
          <a:xfrm>
            <a:off x="7634188" y="3176397"/>
            <a:ext cx="128016" cy="12801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"/>
          <p:cNvSpPr txBox="1"/>
          <p:nvPr/>
        </p:nvSpPr>
        <p:spPr>
          <a:xfrm>
            <a:off x="6210147" y="3794760"/>
            <a:ext cx="2571521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Stakeholder Alignment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6210147" y="4480560"/>
            <a:ext cx="257152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Where leadership narratives diverge before the front line feels it.</a:t>
            </a:r>
          </a:p>
        </p:txBody>
      </p:sp>
      <p:sp>
        <p:nvSpPr>
          <p:cNvPr id="71" name="Card"/>
          <p:cNvSpPr/>
          <p:nvPr/>
        </p:nvSpPr>
        <p:spPr>
          <a:xfrm>
            <a:off x="9010269" y="2011680"/>
            <a:ext cx="2571521" cy="1600200"/>
          </a:xfrm>
          <a:prstGeom prst="roundRect">
            <a:avLst>
              <a:gd name="adj" fmla="val 6857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Profile seg"/>
          <p:cNvSpPr/>
          <p:nvPr/>
        </p:nvSpPr>
        <p:spPr>
          <a:xfrm>
            <a:off x="9238869" y="2240280"/>
            <a:ext cx="1271448" cy="194310"/>
          </a:xfrm>
          <a:prstGeom prst="rect">
            <a:avLst/>
          </a:prstGeom>
          <a:solidFill>
            <a:srgbClr val="1E7A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Profile seg"/>
          <p:cNvSpPr/>
          <p:nvPr/>
        </p:nvSpPr>
        <p:spPr>
          <a:xfrm>
            <a:off x="10528605" y="2240280"/>
            <a:ext cx="616008" cy="194310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rofile seg"/>
          <p:cNvSpPr/>
          <p:nvPr/>
        </p:nvSpPr>
        <p:spPr>
          <a:xfrm>
            <a:off x="11162901" y="2240280"/>
            <a:ext cx="129714" cy="19431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rofile seg"/>
          <p:cNvSpPr/>
          <p:nvPr/>
        </p:nvSpPr>
        <p:spPr>
          <a:xfrm>
            <a:off x="11310903" y="2240280"/>
            <a:ext cx="23998" cy="19431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Profile seg"/>
          <p:cNvSpPr/>
          <p:nvPr/>
        </p:nvSpPr>
        <p:spPr>
          <a:xfrm>
            <a:off x="9238869" y="2526030"/>
            <a:ext cx="679438" cy="194310"/>
          </a:xfrm>
          <a:prstGeom prst="rect">
            <a:avLst/>
          </a:prstGeom>
          <a:solidFill>
            <a:srgbClr val="1E7A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Profile seg"/>
          <p:cNvSpPr/>
          <p:nvPr/>
        </p:nvSpPr>
        <p:spPr>
          <a:xfrm>
            <a:off x="9936595" y="2526030"/>
            <a:ext cx="848583" cy="194310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Profile seg"/>
          <p:cNvSpPr/>
          <p:nvPr/>
        </p:nvSpPr>
        <p:spPr>
          <a:xfrm>
            <a:off x="10803466" y="2526030"/>
            <a:ext cx="404576" cy="19431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Profile seg"/>
          <p:cNvSpPr/>
          <p:nvPr/>
        </p:nvSpPr>
        <p:spPr>
          <a:xfrm>
            <a:off x="11226331" y="2526030"/>
            <a:ext cx="108571" cy="19431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rofile seg"/>
          <p:cNvSpPr/>
          <p:nvPr/>
        </p:nvSpPr>
        <p:spPr>
          <a:xfrm>
            <a:off x="9238869" y="2811780"/>
            <a:ext cx="552578" cy="194310"/>
          </a:xfrm>
          <a:prstGeom prst="rect">
            <a:avLst/>
          </a:prstGeom>
          <a:solidFill>
            <a:srgbClr val="1E7A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Profile seg"/>
          <p:cNvSpPr/>
          <p:nvPr/>
        </p:nvSpPr>
        <p:spPr>
          <a:xfrm>
            <a:off x="9809735" y="2811780"/>
            <a:ext cx="616008" cy="194310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Profile seg"/>
          <p:cNvSpPr/>
          <p:nvPr/>
        </p:nvSpPr>
        <p:spPr>
          <a:xfrm>
            <a:off x="10444032" y="2811780"/>
            <a:ext cx="594865" cy="19431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Profile seg"/>
          <p:cNvSpPr/>
          <p:nvPr/>
        </p:nvSpPr>
        <p:spPr>
          <a:xfrm>
            <a:off x="11057185" y="2811780"/>
            <a:ext cx="277716" cy="19431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Profile seg"/>
          <p:cNvSpPr/>
          <p:nvPr/>
        </p:nvSpPr>
        <p:spPr>
          <a:xfrm>
            <a:off x="9238869" y="3097530"/>
            <a:ext cx="277716" cy="194310"/>
          </a:xfrm>
          <a:prstGeom prst="rect">
            <a:avLst/>
          </a:prstGeom>
          <a:solidFill>
            <a:srgbClr val="1E7A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Profile seg"/>
          <p:cNvSpPr/>
          <p:nvPr/>
        </p:nvSpPr>
        <p:spPr>
          <a:xfrm>
            <a:off x="9534873" y="3097530"/>
            <a:ext cx="637151" cy="194310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Profile seg"/>
          <p:cNvSpPr/>
          <p:nvPr/>
        </p:nvSpPr>
        <p:spPr>
          <a:xfrm>
            <a:off x="10190313" y="3097530"/>
            <a:ext cx="742867" cy="19431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Profile seg"/>
          <p:cNvSpPr/>
          <p:nvPr/>
        </p:nvSpPr>
        <p:spPr>
          <a:xfrm>
            <a:off x="10951469" y="3097530"/>
            <a:ext cx="383433" cy="19431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"/>
          <p:cNvSpPr txBox="1"/>
          <p:nvPr/>
        </p:nvSpPr>
        <p:spPr>
          <a:xfrm>
            <a:off x="9010269" y="3794760"/>
            <a:ext cx="2571521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Change Readiness Profile</a:t>
            </a:r>
          </a:p>
        </p:txBody>
      </p:sp>
      <p:sp>
        <p:nvSpPr>
          <p:cNvPr id="89" name="Text"/>
          <p:cNvSpPr txBox="1"/>
          <p:nvPr/>
        </p:nvSpPr>
        <p:spPr>
          <a:xfrm>
            <a:off x="9010269" y="4480560"/>
            <a:ext cx="257152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The share of each cohort ready today, and the constraint holding the rest.</a:t>
            </a:r>
          </a:p>
        </p:txBody>
      </p:sp>
      <p:sp>
        <p:nvSpPr>
          <p:cNvPr id="90" name="Label"/>
          <p:cNvSpPr txBox="1"/>
          <p:nvPr/>
        </p:nvSpPr>
        <p:spPr>
          <a:xfrm>
            <a:off x="9010269" y="5504688"/>
            <a:ext cx="257152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SHOWN NEXT</a:t>
            </a:r>
          </a:p>
        </p:txBody>
      </p:sp>
      <p:sp>
        <p:nvSpPr>
          <p:cNvPr id="91" name="Badge"/>
          <p:cNvSpPr/>
          <p:nvPr/>
        </p:nvSpPr>
        <p:spPr>
          <a:xfrm>
            <a:off x="10164470" y="175564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 spc="100">
                <a:solidFill>
                  <a:srgbClr val="6B6B6B"/>
                </a:solidFill>
                <a:latin typeface="Arial"/>
              </a:rPr>
              <a:t>ILLUSTRATIVE</a:t>
            </a:r>
          </a:p>
        </p:txBody>
      </p:sp>
      <p:sp>
        <p:nvSpPr>
          <p:cNvPr id="92" name="Text"/>
          <p:cNvSpPr txBox="1"/>
          <p:nvPr/>
        </p:nvSpPr>
        <p:spPr>
          <a:xfrm>
            <a:off x="609904" y="5852160"/>
            <a:ext cx="1097188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One map for leadership: where we will lose execution velocity, why, and what to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LAYER 01 · CHANGE READINESS PROFILE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In three cohorts, readiness is already there. Incentives are holding it back.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09 / 14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609904" y="1901952"/>
            <a:ext cx="257152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COHORT  ·  RESPONDENTS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7143521" y="1901952"/>
            <a:ext cx="257152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BINDING CONSTRAINT</a:t>
            </a:r>
          </a:p>
        </p:txBody>
      </p:sp>
      <p:sp>
        <p:nvSpPr>
          <p:cNvPr id="9" name="Legend swatch"/>
          <p:cNvSpPr/>
          <p:nvPr/>
        </p:nvSpPr>
        <p:spPr>
          <a:xfrm>
            <a:off x="3410026" y="2121408"/>
            <a:ext cx="146304" cy="146304"/>
          </a:xfrm>
          <a:prstGeom prst="rect">
            <a:avLst/>
          </a:prstGeom>
          <a:solidFill>
            <a:srgbClr val="1E7A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3611194" y="20756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Champion</a:t>
            </a:r>
          </a:p>
        </p:txBody>
      </p:sp>
      <p:sp>
        <p:nvSpPr>
          <p:cNvPr id="11" name="Legend swatch"/>
          <p:cNvSpPr/>
          <p:nvPr/>
        </p:nvSpPr>
        <p:spPr>
          <a:xfrm>
            <a:off x="4357344" y="2121408"/>
            <a:ext cx="146304" cy="14630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4558512" y="20756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Ready</a:t>
            </a:r>
          </a:p>
        </p:txBody>
      </p:sp>
      <p:sp>
        <p:nvSpPr>
          <p:cNvPr id="13" name="Legend swatch"/>
          <p:cNvSpPr/>
          <p:nvPr/>
        </p:nvSpPr>
        <p:spPr>
          <a:xfrm>
            <a:off x="5107152" y="2121408"/>
            <a:ext cx="146304" cy="14630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5308320" y="20756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Hesitant</a:t>
            </a:r>
          </a:p>
        </p:txBody>
      </p:sp>
      <p:sp>
        <p:nvSpPr>
          <p:cNvPr id="15" name="Legend swatch"/>
          <p:cNvSpPr/>
          <p:nvPr/>
        </p:nvSpPr>
        <p:spPr>
          <a:xfrm>
            <a:off x="6054471" y="2121408"/>
            <a:ext cx="146304" cy="14630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6255639" y="20756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Resistant</a:t>
            </a:r>
          </a:p>
        </p:txBody>
      </p:sp>
      <p:graphicFrame>
        <p:nvGraphicFramePr>
          <p:cNvPr id="17" name="Chart readiness profile"/>
          <p:cNvGraphicFramePr>
            <a:graphicFrameLocks noGrp="1"/>
          </p:cNvGraphicFramePr>
          <p:nvPr/>
        </p:nvGraphicFramePr>
        <p:xfrm>
          <a:off x="3410026" y="2395728"/>
          <a:ext cx="3504895" cy="28163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"/>
          <p:cNvSpPr txBox="1"/>
          <p:nvPr/>
        </p:nvSpPr>
        <p:spPr>
          <a:xfrm>
            <a:off x="609904" y="2395728"/>
            <a:ext cx="2571521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Technology &amp; Data</a:t>
            </a:r>
            <a:r>
              <a:rPr sz="1100" b="0" i="0">
                <a:solidFill>
                  <a:srgbClr val="6B6B6B"/>
                </a:solidFill>
                <a:latin typeface="Arial"/>
              </a:rPr>
              <a:t>   n = 88</a:t>
            </a:r>
          </a:p>
        </p:txBody>
      </p:sp>
      <p:sp>
        <p:nvSpPr>
          <p:cNvPr id="19" name="Pill"/>
          <p:cNvSpPr/>
          <p:nvPr/>
        </p:nvSpPr>
        <p:spPr>
          <a:xfrm>
            <a:off x="7143521" y="2459736"/>
            <a:ext cx="5742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None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09904" y="2798064"/>
            <a:ext cx="2571521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Marketing</a:t>
            </a:r>
            <a:r>
              <a:rPr sz="1100" b="0" i="0">
                <a:solidFill>
                  <a:srgbClr val="6B6B6B"/>
                </a:solidFill>
                <a:latin typeface="Arial"/>
              </a:rPr>
              <a:t>   n = 62</a:t>
            </a:r>
          </a:p>
        </p:txBody>
      </p:sp>
      <p:sp>
        <p:nvSpPr>
          <p:cNvPr id="21" name="Pill"/>
          <p:cNvSpPr/>
          <p:nvPr/>
        </p:nvSpPr>
        <p:spPr>
          <a:xfrm>
            <a:off x="7143521" y="2862072"/>
            <a:ext cx="5742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None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09904" y="3200400"/>
            <a:ext cx="2571521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Sales &amp; Distribution</a:t>
            </a:r>
            <a:r>
              <a:rPr sz="1100" b="0" i="0">
                <a:solidFill>
                  <a:srgbClr val="6B6B6B"/>
                </a:solidFill>
                <a:latin typeface="Arial"/>
              </a:rPr>
              <a:t>   n = 110</a:t>
            </a:r>
          </a:p>
        </p:txBody>
      </p:sp>
      <p:sp>
        <p:nvSpPr>
          <p:cNvPr id="23" name="Pill"/>
          <p:cNvSpPr/>
          <p:nvPr/>
        </p:nvSpPr>
        <p:spPr>
          <a:xfrm>
            <a:off x="7143521" y="3264408"/>
            <a:ext cx="132405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Support (mild)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09904" y="3602736"/>
            <a:ext cx="2571521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Claims</a:t>
            </a:r>
            <a:r>
              <a:rPr sz="1100" b="0" i="0">
                <a:solidFill>
                  <a:srgbClr val="6B6B6B"/>
                </a:solidFill>
                <a:latin typeface="Arial"/>
              </a:rPr>
              <a:t>   n = 141</a:t>
            </a:r>
          </a:p>
        </p:txBody>
      </p:sp>
      <p:sp>
        <p:nvSpPr>
          <p:cNvPr id="25" name="Pill"/>
          <p:cNvSpPr/>
          <p:nvPr/>
        </p:nvSpPr>
        <p:spPr>
          <a:xfrm>
            <a:off x="7143521" y="3666744"/>
            <a:ext cx="949147" cy="27432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Incentive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09904" y="4005072"/>
            <a:ext cx="2571521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Underwriting</a:t>
            </a:r>
            <a:r>
              <a:rPr sz="1100" b="0" i="0">
                <a:solidFill>
                  <a:srgbClr val="6B6B6B"/>
                </a:solidFill>
                <a:latin typeface="Arial"/>
              </a:rPr>
              <a:t>   n = 96</a:t>
            </a:r>
          </a:p>
        </p:txBody>
      </p:sp>
      <p:sp>
        <p:nvSpPr>
          <p:cNvPr id="27" name="Pill"/>
          <p:cNvSpPr/>
          <p:nvPr/>
        </p:nvSpPr>
        <p:spPr>
          <a:xfrm>
            <a:off x="7143521" y="4069080"/>
            <a:ext cx="949147" cy="27432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Incentive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09904" y="4407408"/>
            <a:ext cx="2571521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Legal &amp; Compliance</a:t>
            </a:r>
            <a:r>
              <a:rPr sz="1100" b="0" i="0">
                <a:solidFill>
                  <a:srgbClr val="6B6B6B"/>
                </a:solidFill>
                <a:latin typeface="Arial"/>
              </a:rPr>
              <a:t>   n = 61</a:t>
            </a:r>
          </a:p>
        </p:txBody>
      </p:sp>
      <p:sp>
        <p:nvSpPr>
          <p:cNvPr id="29" name="Pill"/>
          <p:cNvSpPr/>
          <p:nvPr/>
        </p:nvSpPr>
        <p:spPr>
          <a:xfrm>
            <a:off x="7143521" y="4471416"/>
            <a:ext cx="949147" cy="27432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Incentive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09904" y="4809744"/>
            <a:ext cx="2571521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Customer Service</a:t>
            </a:r>
            <a:r>
              <a:rPr sz="1100" b="0" i="0">
                <a:solidFill>
                  <a:srgbClr val="6B6B6B"/>
                </a:solidFill>
                <a:latin typeface="Arial"/>
              </a:rPr>
              <a:t>   n = 127</a:t>
            </a:r>
          </a:p>
        </p:txBody>
      </p:sp>
      <p:sp>
        <p:nvSpPr>
          <p:cNvPr id="31" name="Pill"/>
          <p:cNvSpPr/>
          <p:nvPr/>
        </p:nvSpPr>
        <p:spPr>
          <a:xfrm>
            <a:off x="7143521" y="4873752"/>
            <a:ext cx="169895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Value (credibility)</a:t>
            </a:r>
          </a:p>
        </p:txBody>
      </p:sp>
      <p:cxnSp>
        <p:nvCxnSpPr>
          <p:cNvPr id="32" name="Line"/>
          <p:cNvCxnSpPr/>
          <p:nvPr/>
        </p:nvCxnSpPr>
        <p:spPr>
          <a:xfrm>
            <a:off x="8918829" y="3657600"/>
            <a:ext cx="0" cy="1097280"/>
          </a:xfrm>
          <a:prstGeom prst="line">
            <a:avLst/>
          </a:prstGeom>
          <a:ln w="25400">
            <a:solidFill>
              <a:srgbClr val="28A019"/>
            </a:solidFill>
          </a:ln>
        </p:spPr>
      </p:cxnSp>
      <p:cxnSp>
        <p:nvCxnSpPr>
          <p:cNvPr id="33" name="Line"/>
          <p:cNvCxnSpPr/>
          <p:nvPr/>
        </p:nvCxnSpPr>
        <p:spPr>
          <a:xfrm>
            <a:off x="8827389" y="3657600"/>
            <a:ext cx="91440" cy="0"/>
          </a:xfrm>
          <a:prstGeom prst="line">
            <a:avLst/>
          </a:prstGeom>
          <a:ln w="25400">
            <a:solidFill>
              <a:srgbClr val="28A019"/>
            </a:solidFill>
          </a:ln>
        </p:spPr>
      </p:cxnSp>
      <p:cxnSp>
        <p:nvCxnSpPr>
          <p:cNvPr id="34" name="Line"/>
          <p:cNvCxnSpPr/>
          <p:nvPr/>
        </p:nvCxnSpPr>
        <p:spPr>
          <a:xfrm>
            <a:off x="8827389" y="4754880"/>
            <a:ext cx="91440" cy="0"/>
          </a:xfrm>
          <a:prstGeom prst="line">
            <a:avLst/>
          </a:prstGeom>
          <a:ln w="25400">
            <a:solidFill>
              <a:srgbClr val="28A019"/>
            </a:solidFill>
          </a:ln>
        </p:spPr>
      </p:cxnSp>
      <p:sp>
        <p:nvSpPr>
          <p:cNvPr id="35" name="Text"/>
          <p:cNvSpPr txBox="1"/>
          <p:nvPr/>
        </p:nvSpPr>
        <p:spPr>
          <a:xfrm>
            <a:off x="9119997" y="3154680"/>
            <a:ext cx="2480081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Readiness is there.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48 to 57% of Claims, Underwriting and Legal already score Ready or Champion. Fix the incentive before adding training.</a:t>
            </a:r>
          </a:p>
        </p:txBody>
      </p:sp>
      <p:pic>
        <p:nvPicPr>
          <p:cNvPr id="36" name="Icon lock" descr="lock-in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5431536"/>
            <a:ext cx="256032" cy="256032"/>
          </a:xfrm>
          <a:prstGeom prst="rect">
            <a:avLst/>
          </a:prstGeom>
        </p:spPr>
      </p:pic>
      <p:sp>
        <p:nvSpPr>
          <p:cNvPr id="37" name="Text"/>
          <p:cNvSpPr txBox="1"/>
          <p:nvPr/>
        </p:nvSpPr>
        <p:spPr>
          <a:xfrm>
            <a:off x="993952" y="5413248"/>
            <a:ext cx="10587837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434343"/>
                </a:solidFill>
                <a:latin typeface="Arial"/>
              </a:rPr>
              <a:t>Shares, never names. </a:t>
            </a:r>
            <a:r>
              <a:rPr sz="1600" b="0" i="0">
                <a:solidFill>
                  <a:srgbClr val="434343"/>
                </a:solidFill>
                <a:latin typeface="Arial"/>
              </a:rPr>
              <a:t>Groups under 50 people are never reported, so Senior Leaders is not shown.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609904" y="5852160"/>
            <a:ext cx="1097188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Real client readout, anonymized. Enterprise AI adoption program. n = 685 across the 7 cohorts shown. Champion = CCI score of 4 or higher. Bands use the five confidence components. Value and Incentive are scored separately. No cohort mean is reported: an average describes none of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LAYER 01 · HOW READINESS IS MEASURED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Confidence sets readiness. Value amplifies it. Incentive decides whether anyone moves.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10 / 14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609904" y="1828800"/>
            <a:ext cx="443826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CHANGE CONFIDENCE INDEX · FIVE COMPONENTS</a:t>
            </a:r>
          </a:p>
        </p:txBody>
      </p:sp>
      <p:sp>
        <p:nvSpPr>
          <p:cNvPr id="8" name="Card"/>
          <p:cNvSpPr/>
          <p:nvPr/>
        </p:nvSpPr>
        <p:spPr>
          <a:xfrm>
            <a:off x="609904" y="2103120"/>
            <a:ext cx="3824935" cy="566928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onent dot"/>
          <p:cNvSpPr/>
          <p:nvPr/>
        </p:nvSpPr>
        <p:spPr>
          <a:xfrm>
            <a:off x="792784" y="2304288"/>
            <a:ext cx="164592" cy="164592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085392" y="2103120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Support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392984" y="2103120"/>
            <a:ext cx="195041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Does my world give me what I need?</a:t>
            </a:r>
          </a:p>
        </p:txBody>
      </p:sp>
      <p:cxnSp>
        <p:nvCxnSpPr>
          <p:cNvPr id="12" name="Line"/>
          <p:cNvCxnSpPr/>
          <p:nvPr/>
        </p:nvCxnSpPr>
        <p:spPr>
          <a:xfrm>
            <a:off x="4453127" y="2386584"/>
            <a:ext cx="384049" cy="1316736"/>
          </a:xfrm>
          <a:prstGeom prst="line">
            <a:avLst/>
          </a:prstGeom>
          <a:ln w="15875">
            <a:solidFill>
              <a:srgbClr val="D4D4D4"/>
            </a:solidFill>
          </a:ln>
        </p:spPr>
      </p:cxnSp>
      <p:sp>
        <p:nvSpPr>
          <p:cNvPr id="13" name="Card"/>
          <p:cNvSpPr/>
          <p:nvPr/>
        </p:nvSpPr>
        <p:spPr>
          <a:xfrm>
            <a:off x="609904" y="2761487"/>
            <a:ext cx="3824935" cy="566928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omponent dot"/>
          <p:cNvSpPr/>
          <p:nvPr/>
        </p:nvSpPr>
        <p:spPr>
          <a:xfrm>
            <a:off x="792784" y="2962656"/>
            <a:ext cx="164592" cy="164592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85392" y="2761487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Openness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392984" y="2761487"/>
            <a:ext cx="195041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Am I looking ahead?</a:t>
            </a:r>
          </a:p>
        </p:txBody>
      </p:sp>
      <p:cxnSp>
        <p:nvCxnSpPr>
          <p:cNvPr id="17" name="Line"/>
          <p:cNvCxnSpPr/>
          <p:nvPr/>
        </p:nvCxnSpPr>
        <p:spPr>
          <a:xfrm>
            <a:off x="4453127" y="3044951"/>
            <a:ext cx="384049" cy="658369"/>
          </a:xfrm>
          <a:prstGeom prst="line">
            <a:avLst/>
          </a:prstGeom>
          <a:ln w="15875">
            <a:solidFill>
              <a:srgbClr val="D4D4D4"/>
            </a:solidFill>
          </a:ln>
        </p:spPr>
      </p:cxnSp>
      <p:sp>
        <p:nvSpPr>
          <p:cNvPr id="18" name="Card"/>
          <p:cNvSpPr/>
          <p:nvPr/>
        </p:nvSpPr>
        <p:spPr>
          <a:xfrm>
            <a:off x="609904" y="3419856"/>
            <a:ext cx="3824935" cy="566928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omponent dot"/>
          <p:cNvSpPr/>
          <p:nvPr/>
        </p:nvSpPr>
        <p:spPr>
          <a:xfrm>
            <a:off x="792784" y="3621024"/>
            <a:ext cx="164592" cy="164592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1085392" y="341985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Proactive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2392984" y="3419856"/>
            <a:ext cx="195041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Am I initiating?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453127" y="3703320"/>
            <a:ext cx="384049" cy="0"/>
          </a:xfrm>
          <a:prstGeom prst="line">
            <a:avLst/>
          </a:prstGeom>
          <a:ln w="15875">
            <a:solidFill>
              <a:srgbClr val="D4D4D4"/>
            </a:solidFill>
          </a:ln>
        </p:spPr>
      </p:cxnSp>
      <p:sp>
        <p:nvSpPr>
          <p:cNvPr id="23" name="Card"/>
          <p:cNvSpPr/>
          <p:nvPr/>
        </p:nvSpPr>
        <p:spPr>
          <a:xfrm>
            <a:off x="609904" y="4078224"/>
            <a:ext cx="3824935" cy="566928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omponent dot"/>
          <p:cNvSpPr/>
          <p:nvPr/>
        </p:nvSpPr>
        <p:spPr>
          <a:xfrm>
            <a:off x="792784" y="4279392"/>
            <a:ext cx="164592" cy="164592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1085392" y="407822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Adaptability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2392984" y="4078224"/>
            <a:ext cx="195041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Can I handle what is changing now?</a:t>
            </a:r>
          </a:p>
        </p:txBody>
      </p:sp>
      <p:cxnSp>
        <p:nvCxnSpPr>
          <p:cNvPr id="27" name="Line"/>
          <p:cNvCxnSpPr/>
          <p:nvPr/>
        </p:nvCxnSpPr>
        <p:spPr>
          <a:xfrm flipV="1">
            <a:off x="4453127" y="3703320"/>
            <a:ext cx="384049" cy="658368"/>
          </a:xfrm>
          <a:prstGeom prst="line">
            <a:avLst/>
          </a:prstGeom>
          <a:ln w="15875">
            <a:solidFill>
              <a:srgbClr val="D4D4D4"/>
            </a:solidFill>
          </a:ln>
        </p:spPr>
      </p:cxnSp>
      <p:sp>
        <p:nvSpPr>
          <p:cNvPr id="28" name="Card"/>
          <p:cNvSpPr/>
          <p:nvPr/>
        </p:nvSpPr>
        <p:spPr>
          <a:xfrm>
            <a:off x="609904" y="4736592"/>
            <a:ext cx="3824935" cy="566928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omponent dot"/>
          <p:cNvSpPr/>
          <p:nvPr/>
        </p:nvSpPr>
        <p:spPr>
          <a:xfrm>
            <a:off x="792784" y="4937759"/>
            <a:ext cx="164592" cy="164592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1085392" y="4736592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Learning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2392984" y="4736592"/>
            <a:ext cx="195041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Am I building the skills?</a:t>
            </a:r>
          </a:p>
        </p:txBody>
      </p:sp>
      <p:cxnSp>
        <p:nvCxnSpPr>
          <p:cNvPr id="32" name="Line"/>
          <p:cNvCxnSpPr/>
          <p:nvPr/>
        </p:nvCxnSpPr>
        <p:spPr>
          <a:xfrm flipV="1">
            <a:off x="4453127" y="3703320"/>
            <a:ext cx="384049" cy="1316735"/>
          </a:xfrm>
          <a:prstGeom prst="line">
            <a:avLst/>
          </a:prstGeom>
          <a:ln w="15875">
            <a:solidFill>
              <a:srgbClr val="D4D4D4"/>
            </a:solidFill>
          </a:ln>
        </p:spPr>
      </p:cxnSp>
      <p:sp>
        <p:nvSpPr>
          <p:cNvPr id="33" name="Gauge track"/>
          <p:cNvSpPr/>
          <p:nvPr/>
        </p:nvSpPr>
        <p:spPr>
          <a:xfrm>
            <a:off x="4892040" y="2971800"/>
            <a:ext cx="1463040" cy="1463040"/>
          </a:xfrm>
          <a:prstGeom prst="blockArc">
            <a:avLst>
              <a:gd name="adj1" fmla="val 10800000"/>
              <a:gd name="adj2" fmla="val 0"/>
              <a:gd name="adj3" fmla="val 20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Gauge fill"/>
          <p:cNvSpPr/>
          <p:nvPr/>
        </p:nvSpPr>
        <p:spPr>
          <a:xfrm>
            <a:off x="4892040" y="2971800"/>
            <a:ext cx="1463040" cy="1463040"/>
          </a:xfrm>
          <a:prstGeom prst="blockArc">
            <a:avLst>
              <a:gd name="adj1" fmla="val 10800000"/>
              <a:gd name="adj2" fmla="val 17820000"/>
              <a:gd name="adj3" fmla="val 20000"/>
            </a:avLst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Line"/>
          <p:cNvCxnSpPr/>
          <p:nvPr/>
        </p:nvCxnSpPr>
        <p:spPr>
          <a:xfrm>
            <a:off x="6409943" y="3657600"/>
            <a:ext cx="320040" cy="0"/>
          </a:xfrm>
          <a:prstGeom prst="line">
            <a:avLst/>
          </a:prstGeom>
          <a:ln w="19050">
            <a:solidFill>
              <a:srgbClr val="434343"/>
            </a:solidFill>
            <a:tailEnd type="triangle" w="med" len="med"/>
          </a:ln>
        </p:spPr>
      </p:cxnSp>
      <p:sp>
        <p:nvSpPr>
          <p:cNvPr id="36" name="Value amplifier"/>
          <p:cNvSpPr/>
          <p:nvPr/>
        </p:nvSpPr>
        <p:spPr>
          <a:xfrm rot="5400000">
            <a:off x="6784847" y="3200400"/>
            <a:ext cx="822960" cy="914400"/>
          </a:xfrm>
          <a:prstGeom prst="triangle">
            <a:avLst/>
          </a:prstGeom>
          <a:solidFill>
            <a:srgbClr val="EAF7E6"/>
          </a:solidFill>
          <a:ln w="25400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6830567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E7A13"/>
                </a:solidFill>
                <a:latin typeface="Arial"/>
              </a:rPr>
              <a:t>×</a:t>
            </a:r>
          </a:p>
        </p:txBody>
      </p:sp>
      <p:cxnSp>
        <p:nvCxnSpPr>
          <p:cNvPr id="38" name="Line"/>
          <p:cNvCxnSpPr/>
          <p:nvPr/>
        </p:nvCxnSpPr>
        <p:spPr>
          <a:xfrm>
            <a:off x="7662671" y="3657600"/>
            <a:ext cx="667512" cy="0"/>
          </a:xfrm>
          <a:prstGeom prst="line">
            <a:avLst/>
          </a:prstGeom>
          <a:ln w="19050">
            <a:solidFill>
              <a:srgbClr val="434343"/>
            </a:solidFill>
            <a:tailEnd type="triangle" w="med" len="med"/>
          </a:ln>
        </p:spPr>
      </p:cxnSp>
      <p:sp>
        <p:nvSpPr>
          <p:cNvPr id="39" name="Valve L"/>
          <p:cNvSpPr/>
          <p:nvPr/>
        </p:nvSpPr>
        <p:spPr>
          <a:xfrm rot="5400000">
            <a:off x="8385048" y="3328416"/>
            <a:ext cx="384048" cy="658368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Valve R"/>
          <p:cNvSpPr/>
          <p:nvPr/>
        </p:nvSpPr>
        <p:spPr>
          <a:xfrm rot="16200000">
            <a:off x="8769096" y="3328416"/>
            <a:ext cx="384048" cy="658368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Line"/>
          <p:cNvCxnSpPr/>
          <p:nvPr/>
        </p:nvCxnSpPr>
        <p:spPr>
          <a:xfrm>
            <a:off x="8769096" y="3090672"/>
            <a:ext cx="0" cy="566928"/>
          </a:xfrm>
          <a:prstGeom prst="line">
            <a:avLst/>
          </a:prstGeom>
          <a:ln w="31750">
            <a:solidFill>
              <a:srgbClr val="1A1A1A"/>
            </a:solidFill>
          </a:ln>
        </p:spPr>
      </p:cxnSp>
      <p:cxnSp>
        <p:nvCxnSpPr>
          <p:cNvPr id="42" name="Line"/>
          <p:cNvCxnSpPr/>
          <p:nvPr/>
        </p:nvCxnSpPr>
        <p:spPr>
          <a:xfrm>
            <a:off x="8586216" y="3090672"/>
            <a:ext cx="365760" cy="0"/>
          </a:xfrm>
          <a:prstGeom prst="line">
            <a:avLst/>
          </a:prstGeom>
          <a:ln w="31750">
            <a:solidFill>
              <a:srgbClr val="1A1A1A"/>
            </a:solidFill>
          </a:ln>
        </p:spPr>
      </p:cxnSp>
      <p:cxnSp>
        <p:nvCxnSpPr>
          <p:cNvPr id="43" name="Line"/>
          <p:cNvCxnSpPr/>
          <p:nvPr/>
        </p:nvCxnSpPr>
        <p:spPr>
          <a:xfrm>
            <a:off x="9208008" y="3657600"/>
            <a:ext cx="694943" cy="0"/>
          </a:xfrm>
          <a:prstGeom prst="line">
            <a:avLst/>
          </a:prstGeom>
          <a:ln w="19050">
            <a:solidFill>
              <a:srgbClr val="434343"/>
            </a:solidFill>
            <a:tailEnd type="triangle" w="med" len="med"/>
          </a:ln>
        </p:spPr>
      </p:cxnSp>
      <p:sp>
        <p:nvSpPr>
          <p:cNvPr id="44" name="Movement"/>
          <p:cNvSpPr/>
          <p:nvPr/>
        </p:nvSpPr>
        <p:spPr>
          <a:xfrm>
            <a:off x="9957815" y="3273552"/>
            <a:ext cx="768096" cy="768096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Icon arrow-right" descr="arrow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695" y="3456432"/>
            <a:ext cx="402336" cy="402336"/>
          </a:xfrm>
          <a:prstGeom prst="rect">
            <a:avLst/>
          </a:prstGeom>
        </p:spPr>
      </p:pic>
      <p:sp>
        <p:nvSpPr>
          <p:cNvPr id="46" name="Text"/>
          <p:cNvSpPr txBox="1"/>
          <p:nvPr/>
        </p:nvSpPr>
        <p:spPr>
          <a:xfrm>
            <a:off x="4892040" y="4343400"/>
            <a:ext cx="146304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Readiness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Set by the five confidence components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6464807" y="4343400"/>
            <a:ext cx="146304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Value amplifies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Is this worth it, for me?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8037575" y="4343400"/>
            <a:ext cx="146304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Incentive gates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Does it pay, and is it safe?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9610343" y="4343400"/>
            <a:ext cx="146304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People move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Behavior changes at work</a:t>
            </a:r>
          </a:p>
        </p:txBody>
      </p:sp>
      <p:sp>
        <p:nvSpPr>
          <p:cNvPr id="50" name="Card"/>
          <p:cNvSpPr/>
          <p:nvPr/>
        </p:nvSpPr>
        <p:spPr>
          <a:xfrm>
            <a:off x="609904" y="5559552"/>
            <a:ext cx="10971885" cy="566928"/>
          </a:xfrm>
          <a:prstGeom prst="roundRect">
            <a:avLst>
              <a:gd name="adj" fmla="val 19354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884224" y="5559552"/>
            <a:ext cx="1042324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Gating rule: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if the change is not worth it or does not pay, readiness is capped, whatever confidence says.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LAYER 02 · ACTIVATE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A short weekly conversation moves each person from ambiguity to agency.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11 / 14</a:t>
            </a:r>
          </a:p>
        </p:txBody>
      </p:sp>
      <p:sp>
        <p:nvSpPr>
          <p:cNvPr id="7" name="Card"/>
          <p:cNvSpPr/>
          <p:nvPr/>
        </p:nvSpPr>
        <p:spPr>
          <a:xfrm>
            <a:off x="609904" y="2011680"/>
            <a:ext cx="2743200" cy="1325880"/>
          </a:xfrm>
          <a:prstGeom prst="roundRect">
            <a:avLst>
              <a:gd name="adj" fmla="val 8275"/>
            </a:avLst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abel"/>
          <p:cNvSpPr txBox="1"/>
          <p:nvPr/>
        </p:nvSpPr>
        <p:spPr>
          <a:xfrm>
            <a:off x="838504" y="21945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38504" y="2395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Clarify priorities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38504" y="2688336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What the change means for me, specifically.</a:t>
            </a:r>
          </a:p>
        </p:txBody>
      </p:sp>
      <p:sp>
        <p:nvSpPr>
          <p:cNvPr id="11" name="Card"/>
          <p:cNvSpPr/>
          <p:nvPr/>
        </p:nvSpPr>
        <p:spPr>
          <a:xfrm>
            <a:off x="4130344" y="2011680"/>
            <a:ext cx="2743200" cy="1325880"/>
          </a:xfrm>
          <a:prstGeom prst="roundRect">
            <a:avLst>
              <a:gd name="adj" fmla="val 8275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abel"/>
          <p:cNvSpPr txBox="1"/>
          <p:nvPr/>
        </p:nvSpPr>
        <p:spPr>
          <a:xfrm>
            <a:off x="4358944" y="21945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358944" y="2395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Surface blockers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358944" y="2688336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Name what is in the way, in my own words.</a:t>
            </a:r>
          </a:p>
        </p:txBody>
      </p:sp>
      <p:sp>
        <p:nvSpPr>
          <p:cNvPr id="15" name="Card"/>
          <p:cNvSpPr/>
          <p:nvPr/>
        </p:nvSpPr>
        <p:spPr>
          <a:xfrm>
            <a:off x="4130344" y="4297680"/>
            <a:ext cx="2743200" cy="1325880"/>
          </a:xfrm>
          <a:prstGeom prst="roundRect">
            <a:avLst>
              <a:gd name="adj" fmla="val 8275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abel"/>
          <p:cNvSpPr txBox="1"/>
          <p:nvPr/>
        </p:nvSpPr>
        <p:spPr>
          <a:xfrm>
            <a:off x="4358944" y="44805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358944" y="468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Reframe resistance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358944" y="4974336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Build readiness before it is required.</a:t>
            </a:r>
          </a:p>
        </p:txBody>
      </p:sp>
      <p:sp>
        <p:nvSpPr>
          <p:cNvPr id="19" name="Card"/>
          <p:cNvSpPr/>
          <p:nvPr/>
        </p:nvSpPr>
        <p:spPr>
          <a:xfrm>
            <a:off x="609904" y="4297680"/>
            <a:ext cx="2743200" cy="1325880"/>
          </a:xfrm>
          <a:prstGeom prst="roundRect">
            <a:avLst>
              <a:gd name="adj" fmla="val 8275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abel"/>
          <p:cNvSpPr txBox="1"/>
          <p:nvPr/>
        </p:nvSpPr>
        <p:spPr>
          <a:xfrm>
            <a:off x="838504" y="44805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38504" y="468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Connect back to work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38504" y="4974336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Tie the strategy to this week's tasks.</a:t>
            </a:r>
          </a:p>
        </p:txBody>
      </p:sp>
      <p:cxnSp>
        <p:nvCxnSpPr>
          <p:cNvPr id="23" name="Line"/>
          <p:cNvCxnSpPr/>
          <p:nvPr/>
        </p:nvCxnSpPr>
        <p:spPr>
          <a:xfrm>
            <a:off x="3426256" y="2674620"/>
            <a:ext cx="630936" cy="0"/>
          </a:xfrm>
          <a:prstGeom prst="line">
            <a:avLst/>
          </a:prstGeom>
          <a:ln w="25400">
            <a:solidFill>
              <a:srgbClr val="28A019"/>
            </a:solidFill>
            <a:tailEnd type="triangle" w="med" len="med"/>
          </a:ln>
        </p:spPr>
      </p:cxnSp>
      <p:cxnSp>
        <p:nvCxnSpPr>
          <p:cNvPr id="24" name="Line"/>
          <p:cNvCxnSpPr/>
          <p:nvPr/>
        </p:nvCxnSpPr>
        <p:spPr>
          <a:xfrm>
            <a:off x="5501944" y="3410712"/>
            <a:ext cx="0" cy="813816"/>
          </a:xfrm>
          <a:prstGeom prst="line">
            <a:avLst/>
          </a:prstGeom>
          <a:ln w="25400">
            <a:solidFill>
              <a:srgbClr val="28A019"/>
            </a:solidFill>
            <a:tailEnd type="triangle" w="med" len="med"/>
          </a:ln>
        </p:spPr>
      </p:cxnSp>
      <p:cxnSp>
        <p:nvCxnSpPr>
          <p:cNvPr id="25" name="Line"/>
          <p:cNvCxnSpPr/>
          <p:nvPr/>
        </p:nvCxnSpPr>
        <p:spPr>
          <a:xfrm flipH="1">
            <a:off x="3426256" y="4960620"/>
            <a:ext cx="630936" cy="0"/>
          </a:xfrm>
          <a:prstGeom prst="line">
            <a:avLst/>
          </a:prstGeom>
          <a:ln w="25400">
            <a:solidFill>
              <a:srgbClr val="28A019"/>
            </a:solidFill>
            <a:tailEnd type="triangle" w="med" len="med"/>
          </a:ln>
        </p:spPr>
      </p:cxnSp>
      <p:cxnSp>
        <p:nvCxnSpPr>
          <p:cNvPr id="26" name="Line"/>
          <p:cNvCxnSpPr/>
          <p:nvPr/>
        </p:nvCxnSpPr>
        <p:spPr>
          <a:xfrm flipV="1">
            <a:off x="1981504" y="3410712"/>
            <a:ext cx="0" cy="813816"/>
          </a:xfrm>
          <a:prstGeom prst="line">
            <a:avLst/>
          </a:prstGeom>
          <a:ln w="25400">
            <a:solidFill>
              <a:srgbClr val="28A019"/>
            </a:solidFill>
            <a:tailEnd type="triangle" w="med" len="med"/>
          </a:ln>
        </p:spPr>
      </p:cxnSp>
      <p:sp>
        <p:nvSpPr>
          <p:cNvPr id="27" name="Text"/>
          <p:cNvSpPr txBox="1"/>
          <p:nvPr/>
        </p:nvSpPr>
        <p:spPr>
          <a:xfrm>
            <a:off x="2164384" y="3520440"/>
            <a:ext cx="3154679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Every week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private 1:1 session</a:t>
            </a:r>
          </a:p>
        </p:txBody>
      </p:sp>
      <p:sp>
        <p:nvSpPr>
          <p:cNvPr id="28" name="Label"/>
          <p:cNvSpPr txBox="1"/>
          <p:nvPr/>
        </p:nvSpPr>
        <p:spPr>
          <a:xfrm>
            <a:off x="8076895" y="201168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WHAT MAKES IT STICK</a:t>
            </a:r>
          </a:p>
        </p:txBody>
      </p:sp>
      <p:pic>
        <p:nvPicPr>
          <p:cNvPr id="29" name="Icon clock" descr="clock-green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2350008"/>
            <a:ext cx="274320" cy="274320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8488375" y="2304288"/>
            <a:ext cx="309341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10 to 15 minutes a week</a:t>
            </a:r>
          </a:p>
        </p:txBody>
      </p:sp>
      <p:pic>
        <p:nvPicPr>
          <p:cNvPr id="31" name="Icon lock" descr="lock-green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895" y="2779776"/>
            <a:ext cx="274320" cy="274320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8488375" y="2734056"/>
            <a:ext cx="309341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Private and 1:1</a:t>
            </a:r>
          </a:p>
        </p:txBody>
      </p:sp>
      <p:pic>
        <p:nvPicPr>
          <p:cNvPr id="33" name="Icon messages-square" descr="messages-square-green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895" y="3209544"/>
            <a:ext cx="274320" cy="274320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8488375" y="3163824"/>
            <a:ext cx="309341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Remembers context</a:t>
            </a:r>
          </a:p>
        </p:txBody>
      </p:sp>
      <p:pic>
        <p:nvPicPr>
          <p:cNvPr id="35" name="Icon sliders-horizontal" descr="sliders-horizontal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895" y="3639311"/>
            <a:ext cx="274320" cy="274320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8488375" y="3593591"/>
            <a:ext cx="309341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 tone each person picks</a:t>
            </a:r>
          </a:p>
        </p:txBody>
      </p:sp>
      <p:sp>
        <p:nvSpPr>
          <p:cNvPr id="37" name="Label"/>
          <p:cNvSpPr txBox="1"/>
          <p:nvPr/>
        </p:nvSpPr>
        <p:spPr>
          <a:xfrm>
            <a:off x="8076895" y="416052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12 TO 24 WEEKS OF REINFORCEMENT</a:t>
            </a:r>
          </a:p>
        </p:txBody>
      </p:sp>
      <p:sp>
        <p:nvSpPr>
          <p:cNvPr id="38" name="Session"/>
          <p:cNvSpPr/>
          <p:nvPr/>
        </p:nvSpPr>
        <p:spPr>
          <a:xfrm>
            <a:off x="8095049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Session"/>
          <p:cNvSpPr/>
          <p:nvPr/>
        </p:nvSpPr>
        <p:spPr>
          <a:xfrm>
            <a:off x="8241087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Session"/>
          <p:cNvSpPr/>
          <p:nvPr/>
        </p:nvSpPr>
        <p:spPr>
          <a:xfrm>
            <a:off x="8387124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Session"/>
          <p:cNvSpPr/>
          <p:nvPr/>
        </p:nvSpPr>
        <p:spPr>
          <a:xfrm>
            <a:off x="8533161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Session"/>
          <p:cNvSpPr/>
          <p:nvPr/>
        </p:nvSpPr>
        <p:spPr>
          <a:xfrm>
            <a:off x="8679199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Session"/>
          <p:cNvSpPr/>
          <p:nvPr/>
        </p:nvSpPr>
        <p:spPr>
          <a:xfrm>
            <a:off x="8825236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Session"/>
          <p:cNvSpPr/>
          <p:nvPr/>
        </p:nvSpPr>
        <p:spPr>
          <a:xfrm>
            <a:off x="8971273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Session"/>
          <p:cNvSpPr/>
          <p:nvPr/>
        </p:nvSpPr>
        <p:spPr>
          <a:xfrm>
            <a:off x="9117310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Session"/>
          <p:cNvSpPr/>
          <p:nvPr/>
        </p:nvSpPr>
        <p:spPr>
          <a:xfrm>
            <a:off x="9263348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Session"/>
          <p:cNvSpPr/>
          <p:nvPr/>
        </p:nvSpPr>
        <p:spPr>
          <a:xfrm>
            <a:off x="9409385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Session"/>
          <p:cNvSpPr/>
          <p:nvPr/>
        </p:nvSpPr>
        <p:spPr>
          <a:xfrm>
            <a:off x="9555422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Session"/>
          <p:cNvSpPr/>
          <p:nvPr/>
        </p:nvSpPr>
        <p:spPr>
          <a:xfrm>
            <a:off x="9701460" y="4727448"/>
            <a:ext cx="109728" cy="109728"/>
          </a:xfrm>
          <a:prstGeom prst="ellips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Session"/>
          <p:cNvSpPr/>
          <p:nvPr/>
        </p:nvSpPr>
        <p:spPr>
          <a:xfrm>
            <a:off x="9847497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Session"/>
          <p:cNvSpPr/>
          <p:nvPr/>
        </p:nvSpPr>
        <p:spPr>
          <a:xfrm>
            <a:off x="9993534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Session"/>
          <p:cNvSpPr/>
          <p:nvPr/>
        </p:nvSpPr>
        <p:spPr>
          <a:xfrm>
            <a:off x="10139572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Session"/>
          <p:cNvSpPr/>
          <p:nvPr/>
        </p:nvSpPr>
        <p:spPr>
          <a:xfrm>
            <a:off x="10285609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ession"/>
          <p:cNvSpPr/>
          <p:nvPr/>
        </p:nvSpPr>
        <p:spPr>
          <a:xfrm>
            <a:off x="10431646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ession"/>
          <p:cNvSpPr/>
          <p:nvPr/>
        </p:nvSpPr>
        <p:spPr>
          <a:xfrm>
            <a:off x="10577683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Session"/>
          <p:cNvSpPr/>
          <p:nvPr/>
        </p:nvSpPr>
        <p:spPr>
          <a:xfrm>
            <a:off x="10723721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Session"/>
          <p:cNvSpPr/>
          <p:nvPr/>
        </p:nvSpPr>
        <p:spPr>
          <a:xfrm>
            <a:off x="10869758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Session"/>
          <p:cNvSpPr/>
          <p:nvPr/>
        </p:nvSpPr>
        <p:spPr>
          <a:xfrm>
            <a:off x="11015795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Session"/>
          <p:cNvSpPr/>
          <p:nvPr/>
        </p:nvSpPr>
        <p:spPr>
          <a:xfrm>
            <a:off x="11161833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Session"/>
          <p:cNvSpPr/>
          <p:nvPr/>
        </p:nvSpPr>
        <p:spPr>
          <a:xfrm>
            <a:off x="11307870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Session"/>
          <p:cNvSpPr/>
          <p:nvPr/>
        </p:nvSpPr>
        <p:spPr>
          <a:xfrm>
            <a:off x="11453907" y="4727448"/>
            <a:ext cx="109728" cy="109728"/>
          </a:xfrm>
          <a:prstGeom prst="ellipse">
            <a:avLst/>
          </a:prstGeom>
          <a:noFill/>
          <a:ln w="158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Label"/>
          <p:cNvSpPr txBox="1"/>
          <p:nvPr/>
        </p:nvSpPr>
        <p:spPr>
          <a:xfrm>
            <a:off x="8076895" y="4462272"/>
            <a:ext cx="1752447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CORE · 12 WEEKS</a:t>
            </a:r>
          </a:p>
        </p:txBody>
      </p:sp>
      <p:sp>
        <p:nvSpPr>
          <p:cNvPr id="63" name="Label"/>
          <p:cNvSpPr txBox="1"/>
          <p:nvPr/>
        </p:nvSpPr>
        <p:spPr>
          <a:xfrm>
            <a:off x="9829342" y="4462272"/>
            <a:ext cx="1752447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EXTENDED · TO 24</a:t>
            </a:r>
          </a:p>
        </p:txBody>
      </p:sp>
      <p:sp>
        <p:nvSpPr>
          <p:cNvPr id="64" name="Label"/>
          <p:cNvSpPr txBox="1"/>
          <p:nvPr/>
        </p:nvSpPr>
        <p:spPr>
          <a:xfrm>
            <a:off x="8076895" y="4937759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 spc="120">
                <a:solidFill>
                  <a:srgbClr val="6B6B6B"/>
                </a:solidFill>
                <a:latin typeface="Arial"/>
              </a:rPr>
              <a:t>WK 1</a:t>
            </a:r>
          </a:p>
        </p:txBody>
      </p:sp>
      <p:sp>
        <p:nvSpPr>
          <p:cNvPr id="65" name="Label"/>
          <p:cNvSpPr txBox="1"/>
          <p:nvPr/>
        </p:nvSpPr>
        <p:spPr>
          <a:xfrm>
            <a:off x="9390564" y="4937759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 spc="120">
                <a:solidFill>
                  <a:srgbClr val="6B6B6B"/>
                </a:solidFill>
                <a:latin typeface="Arial"/>
              </a:rPr>
              <a:t>WK 12</a:t>
            </a:r>
          </a:p>
        </p:txBody>
      </p:sp>
      <p:sp>
        <p:nvSpPr>
          <p:cNvPr id="66" name="Label"/>
          <p:cNvSpPr txBox="1"/>
          <p:nvPr/>
        </p:nvSpPr>
        <p:spPr>
          <a:xfrm>
            <a:off x="10850270" y="4937759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 spc="120">
                <a:solidFill>
                  <a:srgbClr val="6B6B6B"/>
                </a:solidFill>
                <a:latin typeface="Arial"/>
              </a:rPr>
              <a:t>WK 24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8076895" y="5349240"/>
            <a:ext cx="350489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Small shifts, reinforced weekly, compound into new habits.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LAYER 03 · MEASURE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Leaders get a weekly execution signal, not a quarterly snapshot.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12 / 14</a:t>
            </a:r>
          </a:p>
        </p:txBody>
      </p:sp>
      <p:sp>
        <p:nvSpPr>
          <p:cNvPr id="7" name="Card"/>
          <p:cNvSpPr/>
          <p:nvPr/>
        </p:nvSpPr>
        <p:spPr>
          <a:xfrm>
            <a:off x="609904" y="1874519"/>
            <a:ext cx="10971885" cy="429768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Icon gauge" descr="gauge-green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" y="2057400"/>
            <a:ext cx="274320" cy="27432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204264" y="201167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Execution signal</a:t>
            </a:r>
            <a:r>
              <a:rPr sz="1100" b="0" i="0">
                <a:solidFill>
                  <a:srgbClr val="6B6B6B"/>
                </a:solidFill>
                <a:latin typeface="Arial"/>
              </a:rPr>
              <a:t>   Week 12 · all units</a:t>
            </a:r>
          </a:p>
        </p:txBody>
      </p:sp>
      <p:sp>
        <p:nvSpPr>
          <p:cNvPr id="10" name="Pill"/>
          <p:cNvSpPr/>
          <p:nvPr/>
        </p:nvSpPr>
        <p:spPr>
          <a:xfrm>
            <a:off x="10722254" y="2057400"/>
            <a:ext cx="6309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Role</a:t>
            </a:r>
          </a:p>
        </p:txBody>
      </p:sp>
      <p:sp>
        <p:nvSpPr>
          <p:cNvPr id="11" name="Pill"/>
          <p:cNvSpPr/>
          <p:nvPr/>
        </p:nvSpPr>
        <p:spPr>
          <a:xfrm>
            <a:off x="9844430" y="20574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Region</a:t>
            </a:r>
          </a:p>
        </p:txBody>
      </p:sp>
      <p:sp>
        <p:nvSpPr>
          <p:cNvPr id="12" name="Pill"/>
          <p:cNvSpPr/>
          <p:nvPr/>
        </p:nvSpPr>
        <p:spPr>
          <a:xfrm>
            <a:off x="8811158" y="205740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Function</a:t>
            </a:r>
          </a:p>
        </p:txBody>
      </p:sp>
      <p:sp>
        <p:nvSpPr>
          <p:cNvPr id="13" name="Pill"/>
          <p:cNvSpPr/>
          <p:nvPr/>
        </p:nvSpPr>
        <p:spPr>
          <a:xfrm>
            <a:off x="8088782" y="2057400"/>
            <a:ext cx="6309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Unit</a:t>
            </a:r>
          </a:p>
        </p:txBody>
      </p:sp>
      <p:sp>
        <p:nvSpPr>
          <p:cNvPr id="14" name="Badge"/>
          <p:cNvSpPr/>
          <p:nvPr/>
        </p:nvSpPr>
        <p:spPr>
          <a:xfrm>
            <a:off x="6259982" y="207568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 spc="100">
                <a:solidFill>
                  <a:srgbClr val="6B6B6B"/>
                </a:solidFill>
                <a:latin typeface="Arial"/>
              </a:rPr>
              <a:t>ILLUSTRATIVE DATA</a:t>
            </a:r>
          </a:p>
        </p:txBody>
      </p:sp>
      <p:cxnSp>
        <p:nvCxnSpPr>
          <p:cNvPr id="15" name="Line"/>
          <p:cNvCxnSpPr/>
          <p:nvPr/>
        </p:nvCxnSpPr>
        <p:spPr>
          <a:xfrm>
            <a:off x="609904" y="2496312"/>
            <a:ext cx="10971886" cy="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884224" y="274320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CHAMPION SHARE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84224" y="294436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41%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84224" y="34564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E7A13"/>
                </a:solidFill>
                <a:latin typeface="Arial"/>
              </a:rPr>
              <a:t>▲ 6 pts since week 1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884224" y="385876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HOTSPOTS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84224" y="4059935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84224" y="4572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Customer Service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884224" y="497433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PARTICIPATION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84224" y="5175503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78%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84224" y="56875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of invited employees</a:t>
            </a:r>
          </a:p>
        </p:txBody>
      </p:sp>
      <p:sp>
        <p:nvSpPr>
          <p:cNvPr id="25" name="Label"/>
          <p:cNvSpPr txBox="1"/>
          <p:nvPr/>
        </p:nvSpPr>
        <p:spPr>
          <a:xfrm>
            <a:off x="3170224" y="2651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CCI+2 LEVEL BY COHORT</a:t>
            </a:r>
          </a:p>
        </p:txBody>
      </p:sp>
      <p:graphicFrame>
        <p:nvGraphicFramePr>
          <p:cNvPr id="26" name="Chart CCI+2 trend"/>
          <p:cNvGraphicFramePr>
            <a:graphicFrameLocks noGrp="1"/>
          </p:cNvGraphicFramePr>
          <p:nvPr/>
        </p:nvGraphicFramePr>
        <p:xfrm>
          <a:off x="3124504" y="2880360"/>
          <a:ext cx="5212080" cy="3063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"/>
          <p:cNvSpPr txBox="1"/>
          <p:nvPr/>
        </p:nvSpPr>
        <p:spPr>
          <a:xfrm>
            <a:off x="7299655" y="3116823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Tech &amp; Data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299655" y="370956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Sales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299655" y="3972999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E7A13"/>
                </a:solidFill>
                <a:latin typeface="Arial"/>
              </a:rPr>
              <a:t>Claims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299655" y="535605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Customer Svc</a:t>
            </a:r>
          </a:p>
        </p:txBody>
      </p:sp>
      <p:sp>
        <p:nvSpPr>
          <p:cNvPr id="31" name="Pin claims"/>
          <p:cNvSpPr/>
          <p:nvPr/>
        </p:nvSpPr>
        <p:spPr>
          <a:xfrm>
            <a:off x="5212994" y="4781603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3484778" y="4553003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E7A13"/>
                </a:solidFill>
                <a:latin typeface="Arial"/>
              </a:rPr>
              <a:t>Incentive fixed, wk 6</a:t>
            </a:r>
          </a:p>
        </p:txBody>
      </p:sp>
      <p:sp>
        <p:nvSpPr>
          <p:cNvPr id="33" name="Pin CS"/>
          <p:cNvSpPr/>
          <p:nvPr/>
        </p:nvSpPr>
        <p:spPr>
          <a:xfrm>
            <a:off x="7089343" y="5374340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Label"/>
          <p:cNvSpPr txBox="1"/>
          <p:nvPr/>
        </p:nvSpPr>
        <p:spPr>
          <a:xfrm>
            <a:off x="8610904" y="2743200"/>
            <a:ext cx="269656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SIGNALS THIS WEEK</a:t>
            </a:r>
          </a:p>
        </p:txBody>
      </p:sp>
      <p:sp>
        <p:nvSpPr>
          <p:cNvPr id="35" name="Card"/>
          <p:cNvSpPr/>
          <p:nvPr/>
        </p:nvSpPr>
        <p:spPr>
          <a:xfrm>
            <a:off x="8610904" y="3063239"/>
            <a:ext cx="2696565" cy="1298448"/>
          </a:xfrm>
          <a:prstGeom prst="roundRect">
            <a:avLst>
              <a:gd name="adj" fmla="val 845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Icon triangle-alert" descr="triangle-alert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3784" y="3246120"/>
            <a:ext cx="274320" cy="274320"/>
          </a:xfrm>
          <a:prstGeom prst="rect">
            <a:avLst/>
          </a:prstGeom>
        </p:spPr>
      </p:pic>
      <p:sp>
        <p:nvSpPr>
          <p:cNvPr id="37" name="Text"/>
          <p:cNvSpPr txBox="1"/>
          <p:nvPr/>
        </p:nvSpPr>
        <p:spPr>
          <a:xfrm>
            <a:off x="9159544" y="3227832"/>
            <a:ext cx="2010765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Customer Service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793784" y="3593591"/>
            <a:ext cx="237652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34343"/>
                </a:solidFill>
                <a:latin typeface="Arial"/>
              </a:rPr>
              <a:t>Down six weeks running. Value credibility is the binding constraint.</a:t>
            </a:r>
          </a:p>
        </p:txBody>
      </p:sp>
      <p:sp>
        <p:nvSpPr>
          <p:cNvPr id="39" name="Card"/>
          <p:cNvSpPr/>
          <p:nvPr/>
        </p:nvSpPr>
        <p:spPr>
          <a:xfrm>
            <a:off x="8610904" y="4526279"/>
            <a:ext cx="2696565" cy="1298448"/>
          </a:xfrm>
          <a:prstGeom prst="roundRect">
            <a:avLst>
              <a:gd name="adj" fmla="val 845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Icon trending-up" descr="trending-up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784" y="4709159"/>
            <a:ext cx="274320" cy="274320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9159544" y="4690871"/>
            <a:ext cx="2010765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Claims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8793784" y="5056631"/>
            <a:ext cx="237652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34343"/>
                </a:solidFill>
                <a:latin typeface="Arial"/>
              </a:rPr>
              <a:t>Recovering since the incentive fix in week 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WHERE THIS HAS WORKED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Clients used it to surface hidden risk, compress a program and launch AI products.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13 / 14</a:t>
            </a:r>
          </a:p>
        </p:txBody>
      </p:sp>
      <p:sp>
        <p:nvSpPr>
          <p:cNvPr id="7" name="Card"/>
          <p:cNvSpPr/>
          <p:nvPr/>
        </p:nvSpPr>
        <p:spPr>
          <a:xfrm>
            <a:off x="609904" y="2011680"/>
            <a:ext cx="3504895" cy="3931920"/>
          </a:xfrm>
          <a:prstGeom prst="roundRect">
            <a:avLst>
              <a:gd name="adj" fmla="val 313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"/>
          <p:cNvSpPr txBox="1"/>
          <p:nvPr/>
        </p:nvSpPr>
        <p:spPr>
          <a:xfrm>
            <a:off x="929944" y="2286000"/>
            <a:ext cx="286481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Asahi Kasei Pharma</a:t>
            </a:r>
          </a:p>
        </p:txBody>
      </p:sp>
      <p:sp>
        <p:nvSpPr>
          <p:cNvPr id="9" name="Label"/>
          <p:cNvSpPr txBox="1"/>
          <p:nvPr/>
        </p:nvSpPr>
        <p:spPr>
          <a:xfrm>
            <a:off x="929944" y="2633472"/>
            <a:ext cx="286481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CLINICAL DEVELOPMENT CENTER</a:t>
            </a:r>
          </a:p>
        </p:txBody>
      </p:sp>
      <p:sp>
        <p:nvSpPr>
          <p:cNvPr id="10" name="Pill"/>
          <p:cNvSpPr/>
          <p:nvPr/>
        </p:nvSpPr>
        <p:spPr>
          <a:xfrm>
            <a:off x="929944" y="29443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434343"/>
                </a:solidFill>
                <a:latin typeface="Arial"/>
              </a:rPr>
              <a:t>M&amp;A INTEGRATION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29944" y="3429000"/>
            <a:ext cx="286481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28A019"/>
                </a:solidFill>
                <a:latin typeface="Arial"/>
              </a:rPr>
              <a:t>2.7 / 5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929944" y="4343400"/>
            <a:ext cx="2864815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Perceived support, surfaced as a hidden risk in a multi-continent merger.</a:t>
            </a:r>
          </a:p>
        </p:txBody>
      </p:sp>
      <p:pic>
        <p:nvPicPr>
          <p:cNvPr id="13" name="Icon calendar" descr="calendar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" y="5394960"/>
            <a:ext cx="219456" cy="219456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1249984" y="5340096"/>
            <a:ext cx="259049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During integration. Milestones met.</a:t>
            </a:r>
          </a:p>
        </p:txBody>
      </p:sp>
      <p:sp>
        <p:nvSpPr>
          <p:cNvPr id="15" name="Card"/>
          <p:cNvSpPr/>
          <p:nvPr/>
        </p:nvSpPr>
        <p:spPr>
          <a:xfrm>
            <a:off x="4343400" y="2011680"/>
            <a:ext cx="3504895" cy="3931920"/>
          </a:xfrm>
          <a:prstGeom prst="roundRect">
            <a:avLst>
              <a:gd name="adj" fmla="val 313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4663440" y="2286000"/>
            <a:ext cx="286481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Skanska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663440" y="2633472"/>
            <a:ext cx="286481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LEADERSHIP DEVELOPMENT</a:t>
            </a:r>
          </a:p>
        </p:txBody>
      </p:sp>
      <p:sp>
        <p:nvSpPr>
          <p:cNvPr id="18" name="Pill"/>
          <p:cNvSpPr/>
          <p:nvPr/>
        </p:nvSpPr>
        <p:spPr>
          <a:xfrm>
            <a:off x="4663440" y="29443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434343"/>
                </a:solidFill>
                <a:latin typeface="Arial"/>
              </a:rPr>
              <a:t>LEADERSHIP TRANSFORMATION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663440" y="3429000"/>
            <a:ext cx="286481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28A019"/>
                </a:solidFill>
                <a:latin typeface="Arial"/>
              </a:rPr>
              <a:t>3× faster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663440" y="4343400"/>
            <a:ext cx="2864815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6-month leadership journey delivered in 2 months, scaled to thousands.</a:t>
            </a:r>
          </a:p>
        </p:txBody>
      </p:sp>
      <p:pic>
        <p:nvPicPr>
          <p:cNvPr id="21" name="Icon calendar" descr="calendar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5394960"/>
            <a:ext cx="219456" cy="219456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4983480" y="5340096"/>
            <a:ext cx="259049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2 months, versus 6 before</a:t>
            </a:r>
          </a:p>
        </p:txBody>
      </p:sp>
      <p:sp>
        <p:nvSpPr>
          <p:cNvPr id="23" name="Card"/>
          <p:cNvSpPr/>
          <p:nvPr/>
        </p:nvSpPr>
        <p:spPr>
          <a:xfrm>
            <a:off x="8076895" y="2011680"/>
            <a:ext cx="3504895" cy="3931920"/>
          </a:xfrm>
          <a:prstGeom prst="roundRect">
            <a:avLst>
              <a:gd name="adj" fmla="val 3130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8396935" y="2286000"/>
            <a:ext cx="286481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Coach A</a:t>
            </a:r>
          </a:p>
        </p:txBody>
      </p:sp>
      <p:sp>
        <p:nvSpPr>
          <p:cNvPr id="25" name="Label"/>
          <p:cNvSpPr txBox="1"/>
          <p:nvPr/>
        </p:nvSpPr>
        <p:spPr>
          <a:xfrm>
            <a:off x="8396935" y="2633472"/>
            <a:ext cx="286481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TSE: 9339</a:t>
            </a:r>
          </a:p>
        </p:txBody>
      </p:sp>
      <p:sp>
        <p:nvSpPr>
          <p:cNvPr id="26" name="Pill"/>
          <p:cNvSpPr/>
          <p:nvPr/>
        </p:nvSpPr>
        <p:spPr>
          <a:xfrm>
            <a:off x="8396935" y="294436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434343"/>
                </a:solidFill>
                <a:latin typeface="Arial"/>
              </a:rPr>
              <a:t>AI TRANSFORMATION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396935" y="3429000"/>
            <a:ext cx="286481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28A019"/>
                </a:solidFill>
                <a:latin typeface="Arial"/>
              </a:rPr>
              <a:t>3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396935" y="4343400"/>
            <a:ext cx="2864815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AI-powered products launched after embedding AI across its offer.</a:t>
            </a:r>
          </a:p>
        </p:txBody>
      </p:sp>
      <p:pic>
        <p:nvPicPr>
          <p:cNvPr id="29" name="Icon calendar" descr="calendar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935" y="5394960"/>
            <a:ext cx="219456" cy="219456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8716975" y="5340096"/>
            <a:ext cx="259049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Partner since Aug 2023. Also resells Pandatron in Japan.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609904" y="6053328"/>
            <a:ext cx="1097188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Sources: Pandatron client case studies. Coach A is a Pandatron partner. Its share price is not attributed to Pandatron.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NEXT STEP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Start with one live transformation. Decide once you see the data.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14 / 14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609904" y="1920240"/>
            <a:ext cx="723839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HOW A DIAGNOSTIC WORKS</a:t>
            </a:r>
          </a:p>
        </p:txBody>
      </p:sp>
      <p:sp>
        <p:nvSpPr>
          <p:cNvPr id="8" name="Number ring"/>
          <p:cNvSpPr/>
          <p:nvPr/>
        </p:nvSpPr>
        <p:spPr>
          <a:xfrm>
            <a:off x="609904" y="22860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704" y="2267712"/>
            <a:ext cx="650687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Pick one live transformation where slow adoption clearly costs the business.</a:t>
            </a:r>
          </a:p>
        </p:txBody>
      </p:sp>
      <p:sp>
        <p:nvSpPr>
          <p:cNvPr id="10" name="Number ring"/>
          <p:cNvSpPr/>
          <p:nvPr/>
        </p:nvSpPr>
        <p:spPr>
          <a:xfrm>
            <a:off x="609904" y="32918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295704" y="3273552"/>
            <a:ext cx="650687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We diagnose a meaningful population of employees, in their own words.</a:t>
            </a:r>
          </a:p>
        </p:txBody>
      </p:sp>
      <p:sp>
        <p:nvSpPr>
          <p:cNvPr id="12" name="Number ring"/>
          <p:cNvSpPr/>
          <p:nvPr/>
        </p:nvSpPr>
        <p:spPr>
          <a:xfrm>
            <a:off x="609904" y="42976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3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704" y="4279392"/>
            <a:ext cx="650687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You see friction patterns, readiness by cohort and the decisions the data supports. Then you decide.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09904" y="5486400"/>
            <a:ext cx="723839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434343"/>
                </a:solidFill>
                <a:latin typeface="Arial"/>
              </a:rPr>
              <a:t>What you get: </a:t>
            </a:r>
            <a:r>
              <a:rPr sz="1600" b="0" i="0">
                <a:solidFill>
                  <a:srgbClr val="434343"/>
                </a:solidFill>
                <a:latin typeface="Arial"/>
              </a:rPr>
              <a:t>the Readiness Map, Risk and Reward Profiles, Stakeholder Alignment and the Change Readiness Profile.</a:t>
            </a:r>
          </a:p>
        </p:txBody>
      </p:sp>
      <p:sp>
        <p:nvSpPr>
          <p:cNvPr id="15" name="Card"/>
          <p:cNvSpPr/>
          <p:nvPr/>
        </p:nvSpPr>
        <p:spPr>
          <a:xfrm>
            <a:off x="8076895" y="1920240"/>
            <a:ext cx="3504895" cy="3017520"/>
          </a:xfrm>
          <a:prstGeom prst="roundRect">
            <a:avLst>
              <a:gd name="adj" fmla="val 3636"/>
            </a:avLst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8351215" y="2176272"/>
            <a:ext cx="295625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Robert Newland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8351215" y="2487168"/>
            <a:ext cx="295625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HEAD OF GROWTH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351215" y="2788920"/>
            <a:ext cx="29562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 u="sng">
                <a:solidFill>
                  <a:srgbClr val="1E7A13"/>
                </a:solidFill>
                <a:latin typeface="Arial"/>
                <a:hlinkClick r:id="rId3"/>
              </a:rPr>
              <a:t>robert.newland@pandatron.ai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351215" y="3081528"/>
            <a:ext cx="29562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 u="sng">
                <a:solidFill>
                  <a:srgbClr val="1E7A13"/>
                </a:solidFill>
                <a:latin typeface="Arial"/>
                <a:hlinkClick r:id="rId4"/>
              </a:rPr>
              <a:t>www.pandatron.ai</a:t>
            </a:r>
          </a:p>
        </p:txBody>
      </p:sp>
      <p:pic>
        <p:nvPicPr>
          <p:cNvPr id="20" name="QR email Robert" descr="qr-contact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215" y="3657600"/>
            <a:ext cx="1051560" cy="105156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9585655" y="3657600"/>
            <a:ext cx="1676095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434343"/>
                </a:solidFill>
                <a:latin typeface="Arial"/>
              </a:rPr>
              <a:t>Scan to email Robert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434343"/>
                </a:solidFill>
                <a:latin typeface="Arial"/>
              </a:rPr>
              <a:t>Subject line pre-filled: Diagnose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tron">
  <a:themeElements>
    <a:clrScheme name="Pandatron">
      <a:dk1>
        <a:srgbClr val="1A1A1A"/>
      </a:dk1>
      <a:lt1>
        <a:srgbClr val="FFFFFF"/>
      </a:lt1>
      <a:dk2>
        <a:srgbClr val="434343"/>
      </a:dk2>
      <a:lt2>
        <a:srgbClr val="F4F4F4"/>
      </a:lt2>
      <a:accent1>
        <a:srgbClr val="28A019"/>
      </a:accent1>
      <a:accent2>
        <a:srgbClr val="1E7A13"/>
      </a:accent2>
      <a:accent3>
        <a:srgbClr val="7CBB6E"/>
      </a:accent3>
      <a:accent4>
        <a:srgbClr val="4A4A4A"/>
      </a:accent4>
      <a:accent5>
        <a:srgbClr val="D4D4D4"/>
      </a:accent5>
      <a:accent6>
        <a:srgbClr val="6B6B6B"/>
      </a:accent6>
      <a:hlink>
        <a:srgbClr val="1E7A13"/>
      </a:hlink>
      <a:folHlink>
        <a:srgbClr val="1E7A13"/>
      </a:folHlink>
    </a:clrScheme>
    <a:fontScheme name="Pandatron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Diagnose Conversation: leave-behind</dc:title>
  <dc:subject>Pandatron: diagnose change friction, activate behavior change, measure execution</dc:subject>
  <dc:creator>Pandatron</dc:creator>
  <cp:keywords>Pandatron, change readiness, transformation</cp:keywords>
  <dc:description>generated using python-pptx</dc:description>
  <cp:lastModifiedBy>Pandatron</cp:lastModifiedBy>
  <cp:revision>1</cp:revision>
  <dcterms:created xsi:type="dcterms:W3CDTF">2013-01-27T09:14:16Z</dcterms:created>
  <dcterms:modified xsi:type="dcterms:W3CDTF">2013-01-27T09:15:58Z</dcterms:modified>
  <cp:category/>
</cp:coreProperties>
</file>