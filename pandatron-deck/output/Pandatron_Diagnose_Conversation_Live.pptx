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roundedCorners val="0"/>
  <c:date1904 val="0"/>
  <c:chart>
    <c:autoTitleDeleted val="1"/>
    <c:plotArea>
      <c:layout>
        <c:manualLayout>
          <c:layoutTarget val="inner"/>
          <c:xMode val="edge"/>
          <c:yMode val="edge"/>
          <c:x val="0"/>
          <c:y val="0"/>
          <c:w val="0.9"/>
          <c:h val="1"/>
        </c:manualLayout>
      </c:layout>
      <c:barChart>
        <c:barDir val="bar"/>
        <c:grouping val="clustered"/>
        <c:ser>
          <c:idx val="0"/>
          <c:order val="0"/>
          <c:tx>
            <c:strRef>
              <c:f>Sheet1!$B$1</c:f>
              <c:strCache>
                <c:ptCount val="1"/>
                <c:pt idx="0">
                  <c:v>Believe it will deliver</c:v>
                </c:pt>
              </c:strCache>
            </c:strRef>
          </c:tx>
          <c:dPt>
            <c:idx val="0"/>
            <c:spPr>
              <a:solidFill>
                <a:srgbClr val="434343"/>
              </a:solidFill>
            </c:spPr>
          </c:dPt>
          <c:dPt>
            <c:idx val="1"/>
            <c:spPr>
              <a:solidFill>
                <a:srgbClr val="8A8A8A"/>
              </a:solidFill>
            </c:spPr>
          </c:dPt>
          <c:cat>
            <c:strRef>
              <c:f>Sheet1!$A$2:$A$3</c:f>
              <c:strCache>
                <c:ptCount val="2"/>
                <c:pt idx="0">
                  <c:v>Leaders</c:v>
                </c:pt>
                <c:pt idx="1">
                  <c:v>Employees</c:v>
                </c:pt>
              </c:strCache>
            </c:strRef>
          </c:cat>
          <c:val>
            <c:numRef>
              <c:f>Sheet1!$B$2:$B$3</c:f>
              <c:numCache>
                <c:formatCode>General</c:formatCode>
                <c:ptCount val="2"/>
                <c:pt idx="0">
                  <c:v>88</c:v>
                </c:pt>
                <c:pt idx="1">
                  <c:v>36</c:v>
                </c:pt>
              </c:numCache>
            </c:numRef>
          </c:val>
        </c:ser>
        <c:gapWidth val="45"/>
        <c:axId val="-2068027336"/>
        <c:axId val="-2113994440"/>
      </c:barChart>
      <c:catAx>
        <c:axId val="-2068027336"/>
        <c:scaling>
          <c:orientation val="maxMin"/>
        </c:scaling>
        <c:delete/>
        <c:axPos val="l"/>
        <c:majorTickMark val="out"/>
        <c:minorTickMark val="none"/>
        <c:tickLblPos val="nextTo"/>
        <c:crossAx val="-2113994440"/>
        <c:crosses val="autoZero"/>
        <c:auto val="1"/>
        <c:lblAlgn val="ctr"/>
        <c:lblOffset val="100"/>
        <c:noMultiLvlLbl val="0"/>
      </c:catAx>
      <c:valAx>
        <c:axId val="-2113994440"/>
        <c:scaling>
          <c:max val="100.0"/>
          <c:min val="0.0"/>
        </c:scaling>
        <c:delete/>
        <c:axPos val="b"/>
        <c:majorTickMark val="out"/>
        <c:minorTickMark val="none"/>
        <c:tickLblPos val="nextTo"/>
        <c:crossAx val="-2068027336"/>
        <c:crosses val="autoZero"/>
      </c:valAx>
      <c:spPr>
        <a:noFill/>
        <a:ln>
          <a:noFill/>
        </a:ln>
      </c:spPr>
    </c:plotArea>
    <c:dispBlanksAs val="gap"/>
  </c:chart>
  <c:spPr>
    <a:noFill/>
    <a:ln>
      <a:noFill/>
    </a:ln>
  </c:spPr>
  <c:txPr>
    <a:bodyPr/>
    <a:lstStyle/>
    <a:p>
      <a:pPr>
        <a:defRPr sz="1600">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roundedCorners val="0"/>
  <c:date1904 val="0"/>
  <c:chart>
    <c:autoTitleDeleted val="1"/>
    <c:plotArea>
      <c:layout>
        <c:manualLayout>
          <c:layoutTarget val="inner"/>
          <c:xMode val="edge"/>
          <c:yMode val="edge"/>
          <c:x val="0"/>
          <c:y val="0"/>
          <c:w val="1"/>
          <c:h val="1"/>
        </c:manualLayout>
      </c:layout>
      <c:barChart>
        <c:barDir val="bar"/>
        <c:grouping val="percentStacked"/>
        <c:ser>
          <c:idx val="0"/>
          <c:order val="0"/>
          <c:tx>
            <c:strRef>
              <c:f>Sheet1!$B$1</c:f>
              <c:strCache>
                <c:ptCount val="1"/>
                <c:pt idx="0">
                  <c:v>Champion</c:v>
                </c:pt>
              </c:strCache>
            </c:strRef>
          </c:tx>
          <c:spPr>
            <a:solidFill>
              <a:srgbClr val="1E7A13"/>
            </a:solidFill>
            <a:ln w="19050">
              <a:solidFill>
                <a:srgbClr val="FFFFFF"/>
              </a:solidFill>
            </a:ln>
          </c:spPr>
          <c:dLbls>
            <c:numFmt formatCode="0&quot;%&quot;" sourceLinked="0"/>
            <c:txPr>
              <a:bodyPr/>
              <a:lstStyle/>
              <a:p>
                <a:pPr>
                  <a:defRPr sz="1100" b="1">
                    <a:solidFill>
                      <a:srgbClr val="FFFFFF"/>
                    </a:solidFill>
                  </a:defRPr>
                </a:pPr>
              </a:p>
            </c:txPr>
            <c:dLblPos val="ctr"/>
            <c:showLegendKey val="0"/>
            <c:showVal val="1"/>
            <c:showCatName val="0"/>
            <c:showSerName val="0"/>
            <c:showPercent val="0"/>
            <c:showBubbleSize val="0"/>
            <c:showLeaderLines val="1"/>
          </c:dLbls>
          <c:cat>
            <c:strRef>
              <c:f>Sheet1!$A$2:$A$8</c:f>
              <c:strCache>
                <c:ptCount val="7"/>
                <c:pt idx="0">
                  <c:v>Technology &amp; Data</c:v>
                </c:pt>
                <c:pt idx="1">
                  <c:v>Marketing</c:v>
                </c:pt>
                <c:pt idx="2">
                  <c:v>Sales &amp; Distribution</c:v>
                </c:pt>
                <c:pt idx="3">
                  <c:v>Claims</c:v>
                </c:pt>
                <c:pt idx="4">
                  <c:v>Underwriting</c:v>
                </c:pt>
                <c:pt idx="5">
                  <c:v>Legal &amp; Compliance</c:v>
                </c:pt>
                <c:pt idx="6">
                  <c:v>Customer Service</c:v>
                </c:pt>
              </c:strCache>
            </c:strRef>
          </c:cat>
          <c:val>
            <c:numRef>
              <c:f>Sheet1!$B$2:$B$8</c:f>
              <c:numCache>
                <c:formatCode>General</c:formatCode>
                <c:ptCount val="7"/>
                <c:pt idx="0">
                  <c:v>61</c:v>
                </c:pt>
                <c:pt idx="1">
                  <c:v>58</c:v>
                </c:pt>
                <c:pt idx="2">
                  <c:v>33</c:v>
                </c:pt>
                <c:pt idx="3">
                  <c:v>27</c:v>
                </c:pt>
                <c:pt idx="4">
                  <c:v>24</c:v>
                </c:pt>
                <c:pt idx="5">
                  <c:v>22</c:v>
                </c:pt>
                <c:pt idx="6">
                  <c:v>14</c:v>
                </c:pt>
              </c:numCache>
            </c:numRef>
          </c:val>
        </c:ser>
        <c:ser>
          <c:idx val="1"/>
          <c:order val="1"/>
          <c:tx>
            <c:strRef>
              <c:f>Sheet1!$C$1</c:f>
              <c:strCache>
                <c:ptCount val="1"/>
                <c:pt idx="0">
                  <c:v>Ready</c:v>
                </c:pt>
              </c:strCache>
            </c:strRef>
          </c:tx>
          <c:spPr>
            <a:solidFill>
              <a:srgbClr val="7CBB6E"/>
            </a:solidFill>
            <a:ln w="19050">
              <a:solidFill>
                <a:srgbClr val="FFFFFF"/>
              </a:solidFill>
            </a:ln>
          </c:spPr>
          <c:dLbls>
            <c:numFmt formatCode="0&quot;%&quot;" sourceLinked="0"/>
            <c:txPr>
              <a:bodyPr/>
              <a:lstStyle/>
              <a:p>
                <a:pPr>
                  <a:defRPr sz="1100" b="1">
                    <a:solidFill>
                      <a:srgbClr val="1A1A1A"/>
                    </a:solidFill>
                  </a:defRPr>
                </a:pPr>
              </a:p>
            </c:txPr>
            <c:dLblPos val="ctr"/>
            <c:showLegendKey val="0"/>
            <c:showVal val="1"/>
            <c:showCatName val="0"/>
            <c:showSerName val="0"/>
            <c:showPercent val="0"/>
            <c:showBubbleSize val="0"/>
            <c:showLeaderLines val="1"/>
          </c:dLbls>
          <c:cat>
            <c:strRef>
              <c:f>Sheet1!$A$2:$A$8</c:f>
              <c:strCache>
                <c:ptCount val="7"/>
                <c:pt idx="0">
                  <c:v>Technology &amp; Data</c:v>
                </c:pt>
                <c:pt idx="1">
                  <c:v>Marketing</c:v>
                </c:pt>
                <c:pt idx="2">
                  <c:v>Sales &amp; Distribution</c:v>
                </c:pt>
                <c:pt idx="3">
                  <c:v>Claims</c:v>
                </c:pt>
                <c:pt idx="4">
                  <c:v>Underwriting</c:v>
                </c:pt>
                <c:pt idx="5">
                  <c:v>Legal &amp; Compliance</c:v>
                </c:pt>
                <c:pt idx="6">
                  <c:v>Customer Service</c:v>
                </c:pt>
              </c:strCache>
            </c:strRef>
          </c:cat>
          <c:val>
            <c:numRef>
              <c:f>Sheet1!$C$2:$C$8</c:f>
              <c:numCache>
                <c:formatCode>General</c:formatCode>
                <c:ptCount val="7"/>
                <c:pt idx="0">
                  <c:v>30</c:v>
                </c:pt>
                <c:pt idx="1">
                  <c:v>31</c:v>
                </c:pt>
                <c:pt idx="2">
                  <c:v>41</c:v>
                </c:pt>
                <c:pt idx="3">
                  <c:v>30</c:v>
                </c:pt>
                <c:pt idx="4">
                  <c:v>27</c:v>
                </c:pt>
                <c:pt idx="5">
                  <c:v>26</c:v>
                </c:pt>
                <c:pt idx="6">
                  <c:v>31</c:v>
                </c:pt>
              </c:numCache>
            </c:numRef>
          </c:val>
        </c:ser>
        <c:ser>
          <c:idx val="2"/>
          <c:order val="2"/>
          <c:tx>
            <c:strRef>
              <c:f>Sheet1!$D$1</c:f>
              <c:strCache>
                <c:ptCount val="1"/>
                <c:pt idx="0">
                  <c:v>Hesitant</c:v>
                </c:pt>
              </c:strCache>
            </c:strRef>
          </c:tx>
          <c:spPr>
            <a:solidFill>
              <a:srgbClr val="D4D4D4"/>
            </a:solidFill>
            <a:ln w="19050">
              <a:solidFill>
                <a:srgbClr val="FFFFFF"/>
              </a:solidFill>
            </a:ln>
          </c:spPr>
          <c:dLbls>
            <c:numFmt formatCode="0&quot;%&quot;" sourceLinked="0"/>
            <c:txPr>
              <a:bodyPr/>
              <a:lstStyle/>
              <a:p>
                <a:pPr>
                  <a:defRPr sz="1100" b="1">
                    <a:solidFill>
                      <a:srgbClr val="1A1A1A"/>
                    </a:solidFill>
                  </a:defRPr>
                </a:pPr>
              </a:p>
            </c:txPr>
            <c:dLblPos val="ctr"/>
            <c:showLegendKey val="0"/>
            <c:showVal val="1"/>
            <c:showCatName val="0"/>
            <c:showSerName val="0"/>
            <c:showPercent val="0"/>
            <c:showBubbleSize val="0"/>
            <c:showLeaderLines val="1"/>
          </c:dLbls>
          <c:cat>
            <c:strRef>
              <c:f>Sheet1!$A$2:$A$8</c:f>
              <c:strCache>
                <c:ptCount val="7"/>
                <c:pt idx="0">
                  <c:v>Technology &amp; Data</c:v>
                </c:pt>
                <c:pt idx="1">
                  <c:v>Marketing</c:v>
                </c:pt>
                <c:pt idx="2">
                  <c:v>Sales &amp; Distribution</c:v>
                </c:pt>
                <c:pt idx="3">
                  <c:v>Claims</c:v>
                </c:pt>
                <c:pt idx="4">
                  <c:v>Underwriting</c:v>
                </c:pt>
                <c:pt idx="5">
                  <c:v>Legal &amp; Compliance</c:v>
                </c:pt>
                <c:pt idx="6">
                  <c:v>Customer Service</c:v>
                </c:pt>
              </c:strCache>
            </c:strRef>
          </c:cat>
          <c:val>
            <c:numRef>
              <c:f>Sheet1!$D$2:$D$8</c:f>
              <c:numCache>
                <c:formatCode>General</c:formatCode>
                <c:ptCount val="7"/>
                <c:pt idx="0">
                  <c:v>7</c:v>
                </c:pt>
                <c:pt idx="1">
                  <c:v>9</c:v>
                </c:pt>
                <c:pt idx="2">
                  <c:v>20</c:v>
                </c:pt>
                <c:pt idx="3">
                  <c:v>29</c:v>
                </c:pt>
                <c:pt idx="4">
                  <c:v>31</c:v>
                </c:pt>
                <c:pt idx="5">
                  <c:v>32</c:v>
                </c:pt>
                <c:pt idx="6">
                  <c:v>36</c:v>
                </c:pt>
              </c:numCache>
            </c:numRef>
          </c:val>
        </c:ser>
        <c:ser>
          <c:idx val="3"/>
          <c:order val="3"/>
          <c:tx>
            <c:strRef>
              <c:f>Sheet1!$E$1</c:f>
              <c:strCache>
                <c:ptCount val="1"/>
                <c:pt idx="0">
                  <c:v>Resistant</c:v>
                </c:pt>
              </c:strCache>
            </c:strRef>
          </c:tx>
          <c:spPr>
            <a:solidFill>
              <a:srgbClr val="4A4A4A"/>
            </a:solidFill>
            <a:ln w="19050">
              <a:solidFill>
                <a:srgbClr val="FFFFFF"/>
              </a:solidFill>
            </a:ln>
          </c:spPr>
          <c:dLbls>
            <c:dLbl>
              <c:idx val="2"/>
              <c:delete val="1"/>
            </c:dLbl>
            <c:dLbl>
              <c:idx val="1"/>
              <c:delete val="1"/>
            </c:dLbl>
            <c:dLbl>
              <c:idx val="0"/>
              <c:delete val="1"/>
            </c:dLbl>
            <c:numFmt formatCode="0&quot;%&quot;" sourceLinked="0"/>
            <c:txPr>
              <a:bodyPr/>
              <a:lstStyle/>
              <a:p>
                <a:pPr>
                  <a:defRPr sz="1100" b="1">
                    <a:solidFill>
                      <a:srgbClr val="FFFFFF"/>
                    </a:solidFill>
                  </a:defRPr>
                </a:pPr>
              </a:p>
            </c:txPr>
            <c:dLblPos val="ctr"/>
            <c:showLegendKey val="0"/>
            <c:showVal val="1"/>
            <c:showCatName val="0"/>
            <c:showSerName val="0"/>
            <c:showPercent val="0"/>
            <c:showBubbleSize val="0"/>
            <c:showLeaderLines val="1"/>
          </c:dLbls>
          <c:cat>
            <c:strRef>
              <c:f>Sheet1!$A$2:$A$8</c:f>
              <c:strCache>
                <c:ptCount val="7"/>
                <c:pt idx="0">
                  <c:v>Technology &amp; Data</c:v>
                </c:pt>
                <c:pt idx="1">
                  <c:v>Marketing</c:v>
                </c:pt>
                <c:pt idx="2">
                  <c:v>Sales &amp; Distribution</c:v>
                </c:pt>
                <c:pt idx="3">
                  <c:v>Claims</c:v>
                </c:pt>
                <c:pt idx="4">
                  <c:v>Underwriting</c:v>
                </c:pt>
                <c:pt idx="5">
                  <c:v>Legal &amp; Compliance</c:v>
                </c:pt>
                <c:pt idx="6">
                  <c:v>Customer Service</c:v>
                </c:pt>
              </c:strCache>
            </c:strRef>
          </c:cat>
          <c:val>
            <c:numRef>
              <c:f>Sheet1!$E$2:$E$8</c:f>
              <c:numCache>
                <c:formatCode>General</c:formatCode>
                <c:ptCount val="7"/>
                <c:pt idx="0">
                  <c:v>2</c:v>
                </c:pt>
                <c:pt idx="1">
                  <c:v>2</c:v>
                </c:pt>
                <c:pt idx="2">
                  <c:v>6</c:v>
                </c:pt>
                <c:pt idx="3">
                  <c:v>14</c:v>
                </c:pt>
                <c:pt idx="4">
                  <c:v>18</c:v>
                </c:pt>
                <c:pt idx="5">
                  <c:v>20</c:v>
                </c:pt>
                <c:pt idx="6">
                  <c:v>19</c:v>
                </c:pt>
              </c:numCache>
            </c:numRef>
          </c:val>
        </c:ser>
        <c:gapWidth val="55"/>
        <c:overlap val="100"/>
        <c:axId val="-2068027336"/>
        <c:axId val="-2113994440"/>
      </c:barChart>
      <c:catAx>
        <c:axId val="-2068027336"/>
        <c:scaling>
          <c:orientation val="maxMin"/>
        </c:scaling>
        <c:delete/>
        <c:axPos val="l"/>
        <c:majorTickMark val="out"/>
        <c:minorTickMark val="none"/>
        <c:tickLblPos val="nextTo"/>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spPr>
        <a:noFill/>
        <a:ln>
          <a:noFill/>
        </a:ln>
      </c:spPr>
    </c:plotArea>
    <c:dispBlanksAs val="gap"/>
  </c:chart>
  <c:spPr>
    <a:noFill/>
    <a:ln>
      <a:noFill/>
    </a:ln>
  </c:spPr>
  <c:txPr>
    <a:bodyPr/>
    <a:lstStyle/>
    <a:p>
      <a:pPr>
        <a:defRPr sz="1100">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roundedCorners val="0"/>
  <c:date1904 val="0"/>
  <c:chart>
    <c:autoTitleDeleted val="1"/>
    <c:plotArea>
      <c:layout>
        <c:manualLayout>
          <c:layoutTarget val="inner"/>
          <c:xMode val="edge"/>
          <c:yMode val="edge"/>
          <c:x val="0.09"/>
          <c:y val="0.03"/>
          <c:w val="0.72"/>
          <c:h val="0.86"/>
        </c:manualLayout>
      </c:layout>
      <c:lineChart>
        <c:grouping val="standard"/>
        <c:varyColors val="0"/>
        <c:ser>
          <c:idx val="0"/>
          <c:order val="0"/>
          <c:tx>
            <c:strRef>
              <c:f>Sheet1!$B$1</c:f>
              <c:strCache>
                <c:ptCount val="1"/>
                <c:pt idx="0">
                  <c:v>Technology &amp; Data</c:v>
                </c:pt>
              </c:strCache>
            </c:strRef>
          </c:tx>
          <c:spPr>
            <a:ln w="22225">
              <a:solidFill>
                <a:srgbClr val="8A8A8A"/>
              </a:solidFill>
            </a:ln>
          </c:spPr>
          <c:marker>
            <c:symbol val="none"/>
          </c:marker>
          <c:cat>
            <c:strRef>
              <c:f>Sheet1!$A$2:$A$13</c:f>
              <c:strCache>
                <c:ptCount val="12"/>
                <c:pt idx="0">
                  <c:v>W1</c:v>
                </c:pt>
                <c:pt idx="1">
                  <c:v>W2</c:v>
                </c:pt>
                <c:pt idx="2">
                  <c:v>W3</c:v>
                </c:pt>
                <c:pt idx="3">
                  <c:v>W4</c:v>
                </c:pt>
                <c:pt idx="4">
                  <c:v>W5</c:v>
                </c:pt>
                <c:pt idx="5">
                  <c:v>W6</c:v>
                </c:pt>
                <c:pt idx="6">
                  <c:v>W7</c:v>
                </c:pt>
                <c:pt idx="7">
                  <c:v>W8</c:v>
                </c:pt>
                <c:pt idx="8">
                  <c:v>W9</c:v>
                </c:pt>
                <c:pt idx="9">
                  <c:v>W10</c:v>
                </c:pt>
                <c:pt idx="10">
                  <c:v>W11</c:v>
                </c:pt>
                <c:pt idx="11">
                  <c:v>W12</c:v>
                </c:pt>
              </c:strCache>
            </c:strRef>
          </c:cat>
          <c:val>
            <c:numRef>
              <c:f>Sheet1!$B$2:$B$13</c:f>
              <c:numCache>
                <c:formatCode>General</c:formatCode>
                <c:ptCount val="12"/>
                <c:pt idx="0">
                  <c:v>3.9</c:v>
                </c:pt>
                <c:pt idx="1">
                  <c:v>3.95</c:v>
                </c:pt>
                <c:pt idx="2">
                  <c:v>4.0</c:v>
                </c:pt>
                <c:pt idx="3">
                  <c:v>4.0</c:v>
                </c:pt>
                <c:pt idx="4">
                  <c:v>4.05</c:v>
                </c:pt>
                <c:pt idx="5">
                  <c:v>4.1</c:v>
                </c:pt>
                <c:pt idx="6">
                  <c:v>4.1</c:v>
                </c:pt>
                <c:pt idx="7">
                  <c:v>4.15</c:v>
                </c:pt>
                <c:pt idx="8">
                  <c:v>4.2</c:v>
                </c:pt>
                <c:pt idx="9">
                  <c:v>4.2</c:v>
                </c:pt>
                <c:pt idx="10">
                  <c:v>4.25</c:v>
                </c:pt>
                <c:pt idx="11">
                  <c:v>4.3</c:v>
                </c:pt>
              </c:numCache>
            </c:numRef>
          </c:val>
          <c:smooth val="0"/>
        </c:ser>
        <c:ser>
          <c:idx val="1"/>
          <c:order val="1"/>
          <c:tx>
            <c:strRef>
              <c:f>Sheet1!$C$1</c:f>
              <c:strCache>
                <c:ptCount val="1"/>
                <c:pt idx="0">
                  <c:v>Sales &amp; Distribution</c:v>
                </c:pt>
              </c:strCache>
            </c:strRef>
          </c:tx>
          <c:spPr>
            <a:ln w="22225">
              <a:solidFill>
                <a:srgbClr val="8A8A8A"/>
              </a:solidFill>
            </a:ln>
          </c:spPr>
          <c:marker>
            <c:symbol val="none"/>
          </c:marker>
          <c:cat>
            <c:strRef>
              <c:f>Sheet1!$A$2:$A$13</c:f>
              <c:strCache>
                <c:ptCount val="12"/>
                <c:pt idx="0">
                  <c:v>W1</c:v>
                </c:pt>
                <c:pt idx="1">
                  <c:v>W2</c:v>
                </c:pt>
                <c:pt idx="2">
                  <c:v>W3</c:v>
                </c:pt>
                <c:pt idx="3">
                  <c:v>W4</c:v>
                </c:pt>
                <c:pt idx="4">
                  <c:v>W5</c:v>
                </c:pt>
                <c:pt idx="5">
                  <c:v>W6</c:v>
                </c:pt>
                <c:pt idx="6">
                  <c:v>W7</c:v>
                </c:pt>
                <c:pt idx="7">
                  <c:v>W8</c:v>
                </c:pt>
                <c:pt idx="8">
                  <c:v>W9</c:v>
                </c:pt>
                <c:pt idx="9">
                  <c:v>W10</c:v>
                </c:pt>
                <c:pt idx="10">
                  <c:v>W11</c:v>
                </c:pt>
                <c:pt idx="11">
                  <c:v>W12</c:v>
                </c:pt>
              </c:strCache>
            </c:strRef>
          </c:cat>
          <c:val>
            <c:numRef>
              <c:f>Sheet1!$C$2:$C$13</c:f>
              <c:numCache>
                <c:formatCode>General</c:formatCode>
                <c:ptCount val="12"/>
                <c:pt idx="0">
                  <c:v>3.4</c:v>
                </c:pt>
                <c:pt idx="1">
                  <c:v>3.45</c:v>
                </c:pt>
                <c:pt idx="2">
                  <c:v>3.5</c:v>
                </c:pt>
                <c:pt idx="3">
                  <c:v>3.55</c:v>
                </c:pt>
                <c:pt idx="4">
                  <c:v>3.55</c:v>
                </c:pt>
                <c:pt idx="5">
                  <c:v>3.6</c:v>
                </c:pt>
                <c:pt idx="6">
                  <c:v>3.65</c:v>
                </c:pt>
                <c:pt idx="7">
                  <c:v>3.7</c:v>
                </c:pt>
                <c:pt idx="8">
                  <c:v>3.75</c:v>
                </c:pt>
                <c:pt idx="9">
                  <c:v>3.75</c:v>
                </c:pt>
                <c:pt idx="10">
                  <c:v>3.8</c:v>
                </c:pt>
                <c:pt idx="11">
                  <c:v>3.85</c:v>
                </c:pt>
              </c:numCache>
            </c:numRef>
          </c:val>
          <c:smooth val="0"/>
        </c:ser>
        <c:ser>
          <c:idx val="2"/>
          <c:order val="2"/>
          <c:tx>
            <c:strRef>
              <c:f>Sheet1!$D$1</c:f>
              <c:strCache>
                <c:ptCount val="1"/>
                <c:pt idx="0">
                  <c:v>Claims</c:v>
                </c:pt>
              </c:strCache>
            </c:strRef>
          </c:tx>
          <c:spPr>
            <a:ln w="38100">
              <a:solidFill>
                <a:srgbClr val="28A019"/>
              </a:solidFill>
            </a:ln>
          </c:spPr>
          <c:marker>
            <c:symbol val="none"/>
          </c:marker>
          <c:cat>
            <c:strRef>
              <c:f>Sheet1!$A$2:$A$13</c:f>
              <c:strCache>
                <c:ptCount val="12"/>
                <c:pt idx="0">
                  <c:v>W1</c:v>
                </c:pt>
                <c:pt idx="1">
                  <c:v>W2</c:v>
                </c:pt>
                <c:pt idx="2">
                  <c:v>W3</c:v>
                </c:pt>
                <c:pt idx="3">
                  <c:v>W4</c:v>
                </c:pt>
                <c:pt idx="4">
                  <c:v>W5</c:v>
                </c:pt>
                <c:pt idx="5">
                  <c:v>W6</c:v>
                </c:pt>
                <c:pt idx="6">
                  <c:v>W7</c:v>
                </c:pt>
                <c:pt idx="7">
                  <c:v>W8</c:v>
                </c:pt>
                <c:pt idx="8">
                  <c:v>W9</c:v>
                </c:pt>
                <c:pt idx="9">
                  <c:v>W10</c:v>
                </c:pt>
                <c:pt idx="10">
                  <c:v>W11</c:v>
                </c:pt>
                <c:pt idx="11">
                  <c:v>W12</c:v>
                </c:pt>
              </c:strCache>
            </c:strRef>
          </c:cat>
          <c:val>
            <c:numRef>
              <c:f>Sheet1!$D$2:$D$13</c:f>
              <c:numCache>
                <c:formatCode>General</c:formatCode>
                <c:ptCount val="12"/>
                <c:pt idx="0">
                  <c:v>3.05</c:v>
                </c:pt>
                <c:pt idx="1">
                  <c:v>3.0</c:v>
                </c:pt>
                <c:pt idx="2">
                  <c:v>3.05</c:v>
                </c:pt>
                <c:pt idx="3">
                  <c:v>3.0</c:v>
                </c:pt>
                <c:pt idx="4">
                  <c:v>3.05</c:v>
                </c:pt>
                <c:pt idx="5">
                  <c:v>3.05</c:v>
                </c:pt>
                <c:pt idx="6">
                  <c:v>3.2</c:v>
                </c:pt>
                <c:pt idx="7">
                  <c:v>3.35</c:v>
                </c:pt>
                <c:pt idx="8">
                  <c:v>3.45</c:v>
                </c:pt>
                <c:pt idx="9">
                  <c:v>3.55</c:v>
                </c:pt>
                <c:pt idx="10">
                  <c:v>3.6</c:v>
                </c:pt>
                <c:pt idx="11">
                  <c:v>3.65</c:v>
                </c:pt>
              </c:numCache>
            </c:numRef>
          </c:val>
          <c:smooth val="0"/>
        </c:ser>
        <c:ser>
          <c:idx val="3"/>
          <c:order val="3"/>
          <c:tx>
            <c:strRef>
              <c:f>Sheet1!$E$1</c:f>
              <c:strCache>
                <c:ptCount val="1"/>
                <c:pt idx="0">
                  <c:v>Customer Service</c:v>
                </c:pt>
              </c:strCache>
            </c:strRef>
          </c:tx>
          <c:spPr>
            <a:ln w="38100">
              <a:solidFill>
                <a:srgbClr val="1A1A1A"/>
              </a:solidFill>
            </a:ln>
          </c:spPr>
          <c:marker>
            <c:symbol val="none"/>
          </c:marker>
          <c:cat>
            <c:strRef>
              <c:f>Sheet1!$A$2:$A$13</c:f>
              <c:strCache>
                <c:ptCount val="12"/>
                <c:pt idx="0">
                  <c:v>W1</c:v>
                </c:pt>
                <c:pt idx="1">
                  <c:v>W2</c:v>
                </c:pt>
                <c:pt idx="2">
                  <c:v>W3</c:v>
                </c:pt>
                <c:pt idx="3">
                  <c:v>W4</c:v>
                </c:pt>
                <c:pt idx="4">
                  <c:v>W5</c:v>
                </c:pt>
                <c:pt idx="5">
                  <c:v>W6</c:v>
                </c:pt>
                <c:pt idx="6">
                  <c:v>W7</c:v>
                </c:pt>
                <c:pt idx="7">
                  <c:v>W8</c:v>
                </c:pt>
                <c:pt idx="8">
                  <c:v>W9</c:v>
                </c:pt>
                <c:pt idx="9">
                  <c:v>W10</c:v>
                </c:pt>
                <c:pt idx="10">
                  <c:v>W11</c:v>
                </c:pt>
                <c:pt idx="11">
                  <c:v>W12</c:v>
                </c:pt>
              </c:strCache>
            </c:strRef>
          </c:cat>
          <c:val>
            <c:numRef>
              <c:f>Sheet1!$E$2:$E$13</c:f>
              <c:numCache>
                <c:formatCode>General</c:formatCode>
                <c:ptCount val="12"/>
                <c:pt idx="0">
                  <c:v>3.0</c:v>
                </c:pt>
                <c:pt idx="1">
                  <c:v>2.95</c:v>
                </c:pt>
                <c:pt idx="2">
                  <c:v>2.95</c:v>
                </c:pt>
                <c:pt idx="3">
                  <c:v>2.9</c:v>
                </c:pt>
                <c:pt idx="4">
                  <c:v>2.85</c:v>
                </c:pt>
                <c:pt idx="5">
                  <c:v>2.85</c:v>
                </c:pt>
                <c:pt idx="6">
                  <c:v>2.8</c:v>
                </c:pt>
                <c:pt idx="7">
                  <c:v>2.75</c:v>
                </c:pt>
                <c:pt idx="8">
                  <c:v>2.7</c:v>
                </c:pt>
                <c:pt idx="9">
                  <c:v>2.7</c:v>
                </c:pt>
                <c:pt idx="10">
                  <c:v>2.65</c:v>
                </c:pt>
                <c:pt idx="11">
                  <c:v>2.6</c:v>
                </c:pt>
              </c:numCache>
            </c:numRef>
          </c:val>
          <c:smooth val="0"/>
        </c:ser>
        <c:marker val="1"/>
        <c:smooth val="0"/>
        <c:axId val="2118791784"/>
        <c:axId val="2140495176"/>
      </c:lineChart>
      <c:catAx>
        <c:axId val="2118791784"/>
        <c:scaling>
          <c:orientation val="minMax"/>
        </c:scaling>
        <c:delete val="0"/>
        <c:axPos val="b"/>
        <c:majorTickMark val="none"/>
        <c:minorTickMark val="none"/>
        <c:tickLblPos val="nextTo"/>
        <c:spPr>
          <a:ln>
            <a:solidFill>
              <a:srgbClr val="E0E0E0"/>
            </a:solidFill>
          </a:ln>
        </c:spPr>
        <c:crossAx val="2140495176"/>
        <c:crosses val="autoZero"/>
        <c:auto val="1"/>
        <c:lblAlgn val="ctr"/>
        <c:lblOffset val="100"/>
        <c:noMultiLvlLbl val="0"/>
      </c:catAx>
      <c:valAx>
        <c:axId val="2140495176"/>
        <c:scaling>
          <c:max val="4.5"/>
          <c:min val="2.5"/>
        </c:scaling>
        <c:delete val="0"/>
        <c:axPos val="l"/>
        <c:majorGridlines>
          <c:spPr>
            <a:ln w="9525">
              <a:solidFill>
                <a:srgbClr val="EEEEEE"/>
              </a:solidFill>
            </a:ln>
          </c:spPr>
        </c:majorGridlines>
        <c:numFmt formatCode="0.0" sourceLinked="0"/>
        <c:majorTickMark val="none"/>
        <c:minorTickMark val="none"/>
        <c:tickLblPos val="nextTo"/>
        <c:spPr>
          <a:ln>
            <a:noFill/>
          </a:ln>
        </c:spPr>
        <c:crossAx val="2118791784"/>
        <c:crosses val="autoZero"/>
        <c:majorUnit val="0.5"/>
      </c:valAx>
      <c:spPr>
        <a:noFill/>
        <a:ln>
          <a:noFill/>
        </a:ln>
      </c:spPr>
    </c:plotArea>
    <c:plotVisOnly val="1"/>
    <c:dispBlanksAs val="gap"/>
    <c:showDLblsOverMax val="0"/>
  </c:chart>
  <c:spPr>
    <a:noFill/>
    <a:ln>
      <a:noFill/>
    </a:ln>
  </c:spPr>
  <c:txPr>
    <a:bodyPr/>
    <a:lstStyle/>
    <a:p>
      <a:pPr>
        <a:defRPr sz="1100">
          <a:solidFill>
            <a:srgbClr val="6B6B6B"/>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 a 45-minute discovery conversation, not a pitch.</a:t>
            </a:r>
          </a:p>
          <a:p>
            <a:r>
              <a:t>OPEN: "I'll share a pattern we keep seeing, but mostly I want to understand your transformation. By the end, let's decide together whether a diagnostic is worth it."</a:t>
            </a:r>
          </a:p>
          <a:p>
            <a:r>
              <a:t>AGREE: time available, who else should hear this, which transformation we will talk about.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then stop talking. Do not advance until they answer.</a:t>
            </a:r>
          </a:p>
          <a:p>
            <a:r>
              <a:t>PROBE: "What makes you say that?" "Where have you seen it show up?"</a:t>
            </a:r>
          </a:p>
          <a:p>
            <a:r>
              <a:t>Most leaders pick the third option. If they pick strategy or technology, explore it honestly, then ask how adoption fits into it.</a:t>
            </a:r>
          </a:p>
          <a:p>
            <a:r>
              <a:t>LISTEN FOR: named programs, timelines, sponsor, what is at stake if it slips.</a:t>
            </a:r>
          </a:p>
          <a:p>
            <a:r>
              <a:t>DO NOT reveal the pattern yet. The next slide does that.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"Whatever you answered, here is what the research says. The plan usually survives approval. It stalls where people meet it."</a:t>
            </a:r>
          </a:p>
          <a:p>
            <a:r>
              <a:t>SOURCES (verify exact wording before external use):</a:t>
            </a:r>
          </a:p>
          <a:p>
            <a:r>
              <a:t>1. Bain &amp; Company press release, 15 Apr 2024: "88% of business transformations fail to achieve their original ambitions". Survey of 400+ executives. Caveat if asked: Bain's main explanation is talent allocation (overloading top talent), not employee resistance.</a:t>
            </a:r>
          </a:p>
          <a:p>
            <a:r>
              <a:t>2. Kearney Transformation Study 2026, "The adoption gap: why most transformations fail after the strategy is approved". 102 transformation leaders at companies with $500M to $10B revenue. Resistance to change is the top-cited implementation barrier. Only 29% of transformations consistently deliver intended value.</a:t>
            </a:r>
          </a:p>
          <a:p>
            <a:r>
              <a:t>3. Bain &amp; Company, 29 Jan 2026. Survey of ~1,000 executives and employees who went through a reorganization. Only 22% of employees received sufficient training, coaching or tools.</a:t>
            </a:r>
          </a:p>
          <a:p>
            <a:r>
              <a:t>FRAMING: "resistance" is usually a signal of an unmet cost, not a character flaw. That is where the four costs come 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"This is adoption theater. The dashboard says adoption is healthy while people quietly work around the new process. The real danger is not slow adoption. It is that leadership loses its feel for what is actually happening."</a:t>
            </a:r>
          </a:p>
          <a:p>
            <a:r>
              <a:t>EVIDENCE: Bain 2026. 88% of leaders believe their reorganization will deliver. 36% of employees agree.</a:t>
            </a:r>
          </a:p>
          <a:p>
            <a:r>
              <a:t>The dashboard numbers on the left are illustrative, not client data.</a:t>
            </a:r>
          </a:p>
          <a:p>
            <a:r>
              <a:t>OPTIONAL PROBE: "Why might a clearer picture of employee friction be useful to you right now?"</a:t>
            </a:r>
          </a:p>
          <a:p>
            <a:r>
              <a:t>LENS (if the buyer likes theory): institutional theory calls this "decoupling" (Meyer and Rowan, 1977). Argyris called it espoused theory versus theory-in-use.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1 to 10 question. Let them pick a number.</a:t>
            </a:r>
          </a:p>
          <a:p>
            <a:r>
              <a:t>FOLLOW-UP: "Why isn't that number lower?" (Not "why isn't it higher".) This is the readiness ruler from motivational interviewing. Asking why it is not lower makes them list what already works.</a:t>
            </a:r>
          </a:p>
          <a:p>
            <a:r>
              <a:t>EXPECT: leadership support, a transformation office, change champions, good communications. Acknowledge it: "The pieces are there."</a:t>
            </a:r>
          </a:p>
          <a:p>
            <a:r>
              <a:t>THEN: "The gap usually isn't commitment. It's resolution. You can see that friction exists, but not what kind, where it concentrates, or what intervention it needs."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"Most friction gets filed as a skills problem, so the default fix is training. Training only fixes the first one."</a:t>
            </a:r>
          </a:p>
          <a:p>
            <a:r>
              <a:t>Knowledge: something new, unknown or undecided.</a:t>
            </a:r>
          </a:p>
          <a:p>
            <a:r>
              <a:t>Bandwidth: no room. Time, tools, access. The environment does not permit the behavior yet.</a:t>
            </a:r>
          </a:p>
          <a:p>
            <a:r>
              <a:t>Identity: work is changing shape and the change reads as a threat to standing.</a:t>
            </a:r>
          </a:p>
          <a:p>
            <a:r>
              <a:t>Loss: something valued is ending. Explaining why the new model is better only confirms the loss.</a:t>
            </a:r>
          </a:p>
          <a:p>
            <a:r>
              <a:t>ASK the card question. Probe for examples. Note which cost they name: it shapes the diagnostic.</a:t>
            </a:r>
          </a:p>
          <a:p>
            <a:r>
              <a:t>SUPPORTING DATA: WEF Future of Jobs Report 2025. Employers name skills gaps as the #1 barrier (63%), culture and resistance to change as #2 (46%). That is the "filed as a skills problem" pattern.</a:t>
            </a:r>
          </a:p>
          <a:p>
            <a:r>
              <a:t>LINEAGE (for HR and OD buyers): Heifetz and Linsky, technical versus adaptive challenges ("people resist loss, not change"). William Bridges, Managing Transitions. Kegan and Lahey, Immunity to Change.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card question. Let them pick one decision and go deep.</a:t>
            </a:r>
          </a:p>
          <a:p>
            <a:r>
              <a:t>FOLLOW-UP: "And why would that matter to the business?" Listen for the cost of delay: revenue, productivity, attrition, regulatory dates.</a:t>
            </a:r>
          </a:p>
          <a:p>
            <a:r>
              <a:t>QUANTIFY if possible: "What does a month of delay cost?" Write the number down. It anchors the pilot later.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"Diagnosis is one layer of three. The same conversations that map friction then activate change at the individual level, and give leaders a weekly read on whether execution is happening."</a:t>
            </a:r>
          </a:p>
          <a:p>
            <a:r>
              <a:t>Diagnose: maps readiness and friction by cohort.</a:t>
            </a:r>
          </a:p>
          <a:p>
            <a:r>
              <a:t>Activate: weekly 10 to 15 minute 1:1 AI conversations.</a:t>
            </a:r>
          </a:p>
          <a:p>
            <a:r>
              <a:t>Measure: the same conversations become the execution signal.</a:t>
            </a:r>
          </a:p>
          <a:p>
            <a:r>
              <a:t>KEY POINT: one engine, not three tools. The loop closes because Measure feeds the next Diagnose.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"Not whether employees like the change. Not another generic readiness score. Conversations that reveal where friction sits, what kind it is, and how it differs across populations."</a:t>
            </a:r>
          </a:p>
          <a:p>
            <a:r>
              <a:t>Readiness Map: WHERE. Readiness by cohort and component.</a:t>
            </a:r>
          </a:p>
          <a:p>
            <a:r>
              <a:t>Change Readiness Profile: HOW MANY. Share of each cohort at each readiness level, plus the binding constraint.</a:t>
            </a:r>
          </a:p>
          <a:p>
            <a:r>
              <a:t>Thumbnails are illustrative. The next slide shows a real Profile.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READ: each bar is one cohort, 100% of its respondents. Dark green = Champion (CCI score 4+), light green = Ready, light gray = Hesitant, dark gray = Resistant. Sorted by Champion share.</a:t>
            </a:r>
          </a:p>
          <a:p>
            <a:r>
              <a:t>INSIGHT: Claims, Underwriting and Legal look unready, but 48 to 57% of them already score Ready or Champion. The binding constraint is Incentive. Fix the incentive before adding training hours.</a:t>
            </a:r>
          </a:p>
          <a:p>
            <a:r>
              <a:t>CAUTION: do not claim these cohorts will "activate without training". 43 to 52% of them are still Hesitant or Resistant.</a:t>
            </a:r>
          </a:p>
          <a:p>
            <a:r>
              <a:t>PRIVACY: shares, never names. Groups under 50 people are never reported. Senior Leaders (n below 50) is suppressed for that reason.</a:t>
            </a:r>
          </a:p>
          <a:p>
            <a:r>
              <a:t>DATA: real client readout, anonymized. n = 685 across 7 cohorts shown. The original slide footnote said n = 792. Confirm the reconciliation before quoting a total.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"We measure with the Change Confidence Index, plus two. Five confidence components say how ready people feel. Value and Incentive say whether they will move."</a:t>
            </a:r>
          </a:p>
          <a:p>
            <a:r>
              <a:t>Support: the organization and team provide resources and psychological safety.</a:t>
            </a:r>
          </a:p>
          <a:p>
            <a:r>
              <a:t>Openness: willingness to prepare for future shifts.</a:t>
            </a:r>
          </a:p>
          <a:p>
            <a:r>
              <a:t>Proactive: tendency to initiate improvements and experiments.</a:t>
            </a:r>
          </a:p>
          <a:p>
            <a:r>
              <a:t>Adaptability: confidence to handle current changes.</a:t>
            </a:r>
          </a:p>
          <a:p>
            <a:r>
              <a:t>Learning: motivation to acquire new skills.</a:t>
            </a:r>
          </a:p>
          <a:p>
            <a:r>
              <a:t>Value: whether the change is worth it, for the organization and on the person's own ledger.</a:t>
            </a:r>
          </a:p>
          <a:p>
            <a:r>
              <a:t>Incentive: what the organization actually rewards, and whether moving feels safe.</a:t>
            </a:r>
          </a:p>
          <a:p>
            <a:r>
              <a:t>GATING RULE: read the scarcest component, not the average (Liebig's law of the minimum).</a:t>
            </a:r>
          </a:p>
          <a:p>
            <a:r>
              <a:t>BE READY FOR: reliability and validity questions from I/O psychologists. Offer the technical note rather than improvising.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"Not a training room. Not a scheduled workshop. A short, private conversation, personalized to each person's role, inside real work."</a:t>
            </a:r>
          </a:p>
          <a:p>
            <a:r>
              <a:t>THE SESSION LOOP: clarify priorities, surface blockers, reframe resistance, connect back to work.</a:t>
            </a:r>
          </a:p>
          <a:p>
            <a:r>
              <a:t>WHAT MAKES IT STICK: conversational memory across sessions, a tone each person chooses (analytical, supportive or challenging), and behavioral-science sequencing.</a:t>
            </a:r>
          </a:p>
          <a:p>
            <a:r>
              <a:t>DO NOT say "rated the #1 differentiator by users" until we have the source and sample size.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"The same conversations that activate change become a live signal. Leaders see adoption patterns, friction hotspots and emerging risks by unit, function and role, weekly, while there is still time to act."</a:t>
            </a:r>
          </a:p>
          <a:p>
            <a:r>
              <a:t>THE METRIC: CCI+2, the same seven components scored in Diagnose, tracked per cohort with level, spread and direction.</a:t>
            </a:r>
          </a:p>
          <a:p>
            <a:r>
              <a:t>This dashboard is illustrative. Trend values are simulated, using cohorts from the Profile slide.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"Given what we've discussed, what feels like a sensible next step?" Let them answer first.</a:t>
            </a:r>
          </a:p>
          <a:p>
            <a:r>
              <a:t>THEN SUGGEST: pick one live transformation where slow adoption clearly costs the business. We diagnose a meaningful population, show the friction patterns, readiness by cohort and the decisions the data supports. Then they decide.</a:t>
            </a:r>
          </a:p>
          <a:p>
            <a:r>
              <a:t>CASES (honest attribution):</a:t>
            </a:r>
          </a:p>
          <a:p>
            <a:r>
              <a:t>Asahi Kasei Pharma, Clinical Development Center: multi-continent merger. Perceived support scored 2.7 out of 5, a risk leadership had not seen.</a:t>
            </a:r>
          </a:p>
          <a:p>
            <a:r>
              <a:t>Skanska: a 6-month leadership journey delivered in 2 months, scaled to thousands. Confirm the internal source before quoting.</a:t>
            </a:r>
          </a:p>
          <a:p>
            <a:r>
              <a:t>Coach A (TSE: 9339): embedded AI across its offer and launched 3 AI products. Coach A is also our reseller in Japan. Say so. Never attribute its share price to us.</a:t>
            </a:r>
          </a:p>
          <a:p>
            <a:r>
              <a:t>QR CODE: opens an email to Robert with the subject "Diagnose pilot". Swap for a booking link when one exists.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chart" Target="../charts/char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3.png"/><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7.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2.xml"/><Relationship Id="rId4" Type="http://schemas.openxmlformats.org/officeDocument/2006/relationships/image" Target="../media/image18.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9.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4.png"/><Relationship Id="rId4" Type="http://schemas.openxmlformats.org/officeDocument/2006/relationships/chart" Target="../charts/chart3.xml"/><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hyperlink" Target="mailto:robert.newland@pandatron.ai" TargetMode="External"/><Relationship Id="rId5" Type="http://schemas.openxmlformats.org/officeDocument/2006/relationships/hyperlink" Target="https://www.pandatron.ai" TargetMode="External"/><Relationship Id="rId6" Type="http://schemas.openxmlformats.org/officeDocument/2006/relationships/image" Target="../media/image27.png"/><Relationship Id="rId7" Type="http://schemas.openxmlformats.org/officeDocument/2006/relationships/hyperlink" Target="mailto:robert.newland@pandatron.ai?subject=Diagnose%20pilot" TargetMode="External"/><Relationship Id="rId8"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wordmark.png"/>
          <p:cNvPicPr>
            <a:picLocks noChangeAspect="1"/>
          </p:cNvPicPr>
          <p:nvPr/>
        </p:nvPicPr>
        <p:blipFill>
          <a:blip r:embed="rId2"/>
          <a:stretch>
            <a:fillRect/>
          </a:stretch>
        </p:blipFill>
        <p:spPr>
          <a:xfrm>
            <a:off x="609904" y="566928"/>
            <a:ext cx="2011680" cy="369735"/>
          </a:xfrm>
          <a:prstGeom prst="rect">
            <a:avLst/>
          </a:prstGeom>
        </p:spPr>
      </p:pic>
      <p:sp>
        <p:nvSpPr>
          <p:cNvPr id="3" name="Label"/>
          <p:cNvSpPr txBox="1"/>
          <p:nvPr/>
        </p:nvSpPr>
        <p:spPr>
          <a:xfrm>
            <a:off x="609904" y="2395728"/>
            <a:ext cx="5371642"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1E7A13"/>
                </a:solidFill>
                <a:latin typeface="Arial"/>
              </a:rPr>
              <a:t>A DISCOVERY CONVERSATION</a:t>
            </a:r>
          </a:p>
        </p:txBody>
      </p:sp>
      <p:sp>
        <p:nvSpPr>
          <p:cNvPr id="4" name="Title"/>
          <p:cNvSpPr txBox="1"/>
          <p:nvPr/>
        </p:nvSpPr>
        <p:spPr>
          <a:xfrm>
            <a:off x="609904" y="2697480"/>
            <a:ext cx="5371642" cy="1554480"/>
          </a:xfrm>
          <a:prstGeom prst="rect">
            <a:avLst/>
          </a:prstGeom>
          <a:noFill/>
        </p:spPr>
        <p:txBody>
          <a:bodyPr wrap="square" lIns="0" rIns="0" tIns="0" bIns="0" anchor="t">
            <a:noAutofit/>
          </a:bodyPr>
          <a:lstStyle/>
          <a:p>
            <a:pPr algn="l">
              <a:lnSpc>
                <a:spcPct val="92000"/>
              </a:lnSpc>
              <a:spcAft>
                <a:spcPts val="0"/>
              </a:spcAft>
            </a:pPr>
            <a:r>
              <a:rPr sz="5400" b="1" i="0">
                <a:solidFill>
                  <a:srgbClr val="1A1A1A"/>
                </a:solidFill>
                <a:latin typeface="Arial"/>
              </a:rPr>
              <a:t>The Diagnose Conversation</a:t>
            </a:r>
          </a:p>
        </p:txBody>
      </p:sp>
      <p:sp>
        <p:nvSpPr>
          <p:cNvPr id="5" name="Subtitle"/>
          <p:cNvSpPr txBox="1"/>
          <p:nvPr/>
        </p:nvSpPr>
        <p:spPr>
          <a:xfrm>
            <a:off x="609904" y="4343400"/>
            <a:ext cx="6126480" cy="914400"/>
          </a:xfrm>
          <a:prstGeom prst="rect">
            <a:avLst/>
          </a:prstGeom>
          <a:noFill/>
        </p:spPr>
        <p:txBody>
          <a:bodyPr wrap="square" lIns="0" rIns="0" tIns="0" bIns="0" anchor="t">
            <a:noAutofit/>
          </a:bodyPr>
          <a:lstStyle/>
          <a:p>
            <a:pPr algn="l">
              <a:lnSpc>
                <a:spcPct val="115000"/>
              </a:lnSpc>
              <a:spcAft>
                <a:spcPts val="0"/>
              </a:spcAft>
            </a:pPr>
            <a:r>
              <a:rPr sz="2000" b="0" i="0">
                <a:solidFill>
                  <a:srgbClr val="434343"/>
                </a:solidFill>
                <a:latin typeface="Arial"/>
              </a:rPr>
              <a:t>Where transformations stall, and how to see it early.</a:t>
            </a:r>
          </a:p>
        </p:txBody>
      </p:sp>
      <p:sp>
        <p:nvSpPr>
          <p:cNvPr id="6" name="Web"/>
          <p:cNvSpPr txBox="1"/>
          <p:nvPr/>
        </p:nvSpPr>
        <p:spPr>
          <a:xfrm>
            <a:off x="609904" y="6355080"/>
            <a:ext cx="2743200" cy="228600"/>
          </a:xfrm>
          <a:prstGeom prst="rect">
            <a:avLst/>
          </a:prstGeom>
          <a:noFill/>
        </p:spPr>
        <p:txBody>
          <a:bodyPr wrap="square" lIns="0" rIns="0" tIns="0" bIns="0" anchor="t">
            <a:noAutofit/>
          </a:bodyPr>
          <a:lstStyle/>
          <a:p>
            <a:pPr algn="l">
              <a:lnSpc>
                <a:spcPct val="110000"/>
              </a:lnSpc>
              <a:spcAft>
                <a:spcPts val="0"/>
              </a:spcAft>
            </a:pPr>
            <a:r>
              <a:rPr sz="1100" b="0" i="0">
                <a:solidFill>
                  <a:srgbClr val="6B6B6B"/>
                </a:solidFill>
                <a:latin typeface="Arial"/>
              </a:rPr>
              <a:t>pandatron.ai</a:t>
            </a:r>
          </a:p>
        </p:txBody>
      </p:sp>
      <p:sp>
        <p:nvSpPr>
          <p:cNvPr id="7" name="Person dot"/>
          <p:cNvSpPr/>
          <p:nvPr/>
        </p:nvSpPr>
        <p:spPr>
          <a:xfrm>
            <a:off x="7375550" y="457200"/>
            <a:ext cx="91440" cy="91440"/>
          </a:xfrm>
          <a:prstGeom prst="ellipse">
            <a:avLst/>
          </a:prstGeom>
          <a:solidFill>
            <a:srgbClr val="D4D4D4"/>
          </a:solidFill>
          <a:ln>
            <a:noFill/>
          </a:ln>
          <a:effectLst/>
        </p:spPr>
        <p:txBody>
          <a:bodyPr rtlCol="0" anchor="ctr"/>
          <a:lstStyle/>
          <a:p>
            <a:pPr algn="ctr"/>
          </a:p>
        </p:txBody>
      </p:sp>
      <p:sp>
        <p:nvSpPr>
          <p:cNvPr id="8" name="Person dot"/>
          <p:cNvSpPr/>
          <p:nvPr/>
        </p:nvSpPr>
        <p:spPr>
          <a:xfrm>
            <a:off x="7777886" y="457200"/>
            <a:ext cx="91440" cy="91440"/>
          </a:xfrm>
          <a:prstGeom prst="ellipse">
            <a:avLst/>
          </a:prstGeom>
          <a:solidFill>
            <a:srgbClr val="D4D4D4"/>
          </a:solidFill>
          <a:ln>
            <a:noFill/>
          </a:ln>
          <a:effectLst/>
        </p:spPr>
        <p:txBody>
          <a:bodyPr rtlCol="0" anchor="ctr"/>
          <a:lstStyle/>
          <a:p>
            <a:pPr algn="ctr"/>
          </a:p>
        </p:txBody>
      </p:sp>
      <p:sp>
        <p:nvSpPr>
          <p:cNvPr id="9" name="Person dot"/>
          <p:cNvSpPr/>
          <p:nvPr/>
        </p:nvSpPr>
        <p:spPr>
          <a:xfrm>
            <a:off x="8180222" y="457200"/>
            <a:ext cx="91440" cy="91440"/>
          </a:xfrm>
          <a:prstGeom prst="ellipse">
            <a:avLst/>
          </a:prstGeom>
          <a:solidFill>
            <a:srgbClr val="D4D4D4"/>
          </a:solidFill>
          <a:ln>
            <a:noFill/>
          </a:ln>
          <a:effectLst/>
        </p:spPr>
        <p:txBody>
          <a:bodyPr rtlCol="0" anchor="ctr"/>
          <a:lstStyle/>
          <a:p>
            <a:pPr algn="ctr"/>
          </a:p>
        </p:txBody>
      </p:sp>
      <p:sp>
        <p:nvSpPr>
          <p:cNvPr id="10" name="Person dot"/>
          <p:cNvSpPr/>
          <p:nvPr/>
        </p:nvSpPr>
        <p:spPr>
          <a:xfrm>
            <a:off x="8582558" y="457200"/>
            <a:ext cx="91440" cy="91440"/>
          </a:xfrm>
          <a:prstGeom prst="ellipse">
            <a:avLst/>
          </a:prstGeom>
          <a:solidFill>
            <a:srgbClr val="D4D4D4"/>
          </a:solidFill>
          <a:ln>
            <a:noFill/>
          </a:ln>
          <a:effectLst/>
        </p:spPr>
        <p:txBody>
          <a:bodyPr rtlCol="0" anchor="ctr"/>
          <a:lstStyle/>
          <a:p>
            <a:pPr algn="ctr"/>
          </a:p>
        </p:txBody>
      </p:sp>
      <p:sp>
        <p:nvSpPr>
          <p:cNvPr id="11" name="Person dot"/>
          <p:cNvSpPr/>
          <p:nvPr/>
        </p:nvSpPr>
        <p:spPr>
          <a:xfrm>
            <a:off x="8984894" y="457200"/>
            <a:ext cx="91440" cy="91440"/>
          </a:xfrm>
          <a:prstGeom prst="ellipse">
            <a:avLst/>
          </a:prstGeom>
          <a:solidFill>
            <a:srgbClr val="D4D4D4"/>
          </a:solidFill>
          <a:ln>
            <a:noFill/>
          </a:ln>
          <a:effectLst/>
        </p:spPr>
        <p:txBody>
          <a:bodyPr rtlCol="0" anchor="ctr"/>
          <a:lstStyle/>
          <a:p>
            <a:pPr algn="ctr"/>
          </a:p>
        </p:txBody>
      </p:sp>
      <p:sp>
        <p:nvSpPr>
          <p:cNvPr id="12" name="Person dot"/>
          <p:cNvSpPr/>
          <p:nvPr/>
        </p:nvSpPr>
        <p:spPr>
          <a:xfrm>
            <a:off x="9387230" y="457200"/>
            <a:ext cx="91440" cy="91440"/>
          </a:xfrm>
          <a:prstGeom prst="ellipse">
            <a:avLst/>
          </a:prstGeom>
          <a:solidFill>
            <a:srgbClr val="D4D4D4"/>
          </a:solidFill>
          <a:ln>
            <a:noFill/>
          </a:ln>
          <a:effectLst/>
        </p:spPr>
        <p:txBody>
          <a:bodyPr rtlCol="0" anchor="ctr"/>
          <a:lstStyle/>
          <a:p>
            <a:pPr algn="ctr"/>
          </a:p>
        </p:txBody>
      </p:sp>
      <p:sp>
        <p:nvSpPr>
          <p:cNvPr id="13" name="Person dot"/>
          <p:cNvSpPr/>
          <p:nvPr/>
        </p:nvSpPr>
        <p:spPr>
          <a:xfrm>
            <a:off x="9789566" y="457200"/>
            <a:ext cx="91440" cy="91440"/>
          </a:xfrm>
          <a:prstGeom prst="ellipse">
            <a:avLst/>
          </a:prstGeom>
          <a:solidFill>
            <a:srgbClr val="D4D4D4"/>
          </a:solidFill>
          <a:ln>
            <a:noFill/>
          </a:ln>
          <a:effectLst/>
        </p:spPr>
        <p:txBody>
          <a:bodyPr rtlCol="0" anchor="ctr"/>
          <a:lstStyle/>
          <a:p>
            <a:pPr algn="ctr"/>
          </a:p>
        </p:txBody>
      </p:sp>
      <p:sp>
        <p:nvSpPr>
          <p:cNvPr id="14" name="Person dot"/>
          <p:cNvSpPr/>
          <p:nvPr/>
        </p:nvSpPr>
        <p:spPr>
          <a:xfrm>
            <a:off x="10191902" y="457200"/>
            <a:ext cx="91440" cy="91440"/>
          </a:xfrm>
          <a:prstGeom prst="ellipse">
            <a:avLst/>
          </a:prstGeom>
          <a:solidFill>
            <a:srgbClr val="D4D4D4"/>
          </a:solidFill>
          <a:ln>
            <a:noFill/>
          </a:ln>
          <a:effectLst/>
        </p:spPr>
        <p:txBody>
          <a:bodyPr rtlCol="0" anchor="ctr"/>
          <a:lstStyle/>
          <a:p>
            <a:pPr algn="ctr"/>
          </a:p>
        </p:txBody>
      </p:sp>
      <p:sp>
        <p:nvSpPr>
          <p:cNvPr id="15" name="Person dot"/>
          <p:cNvSpPr/>
          <p:nvPr/>
        </p:nvSpPr>
        <p:spPr>
          <a:xfrm>
            <a:off x="10594238" y="457200"/>
            <a:ext cx="91440" cy="91440"/>
          </a:xfrm>
          <a:prstGeom prst="ellipse">
            <a:avLst/>
          </a:prstGeom>
          <a:solidFill>
            <a:srgbClr val="D4D4D4"/>
          </a:solidFill>
          <a:ln>
            <a:noFill/>
          </a:ln>
          <a:effectLst/>
        </p:spPr>
        <p:txBody>
          <a:bodyPr rtlCol="0" anchor="ctr"/>
          <a:lstStyle/>
          <a:p>
            <a:pPr algn="ctr"/>
          </a:p>
        </p:txBody>
      </p:sp>
      <p:sp>
        <p:nvSpPr>
          <p:cNvPr id="16" name="Person dot"/>
          <p:cNvSpPr/>
          <p:nvPr/>
        </p:nvSpPr>
        <p:spPr>
          <a:xfrm>
            <a:off x="10996574" y="457200"/>
            <a:ext cx="91440" cy="91440"/>
          </a:xfrm>
          <a:prstGeom prst="ellipse">
            <a:avLst/>
          </a:prstGeom>
          <a:solidFill>
            <a:srgbClr val="D4D4D4"/>
          </a:solidFill>
          <a:ln>
            <a:noFill/>
          </a:ln>
          <a:effectLst/>
        </p:spPr>
        <p:txBody>
          <a:bodyPr rtlCol="0" anchor="ctr"/>
          <a:lstStyle/>
          <a:p>
            <a:pPr algn="ctr"/>
          </a:p>
        </p:txBody>
      </p:sp>
      <p:sp>
        <p:nvSpPr>
          <p:cNvPr id="17" name="Person dot"/>
          <p:cNvSpPr/>
          <p:nvPr/>
        </p:nvSpPr>
        <p:spPr>
          <a:xfrm>
            <a:off x="11398910" y="457200"/>
            <a:ext cx="91440" cy="91440"/>
          </a:xfrm>
          <a:prstGeom prst="ellipse">
            <a:avLst/>
          </a:prstGeom>
          <a:solidFill>
            <a:srgbClr val="D4D4D4"/>
          </a:solidFill>
          <a:ln>
            <a:noFill/>
          </a:ln>
          <a:effectLst/>
        </p:spPr>
        <p:txBody>
          <a:bodyPr rtlCol="0" anchor="ctr"/>
          <a:lstStyle/>
          <a:p>
            <a:pPr algn="ctr"/>
          </a:p>
        </p:txBody>
      </p:sp>
      <p:sp>
        <p:nvSpPr>
          <p:cNvPr id="18" name="Person dot"/>
          <p:cNvSpPr/>
          <p:nvPr/>
        </p:nvSpPr>
        <p:spPr>
          <a:xfrm>
            <a:off x="7375550" y="859536"/>
            <a:ext cx="91440" cy="91440"/>
          </a:xfrm>
          <a:prstGeom prst="ellipse">
            <a:avLst/>
          </a:prstGeom>
          <a:solidFill>
            <a:srgbClr val="D4D4D4"/>
          </a:solidFill>
          <a:ln>
            <a:noFill/>
          </a:ln>
          <a:effectLst/>
        </p:spPr>
        <p:txBody>
          <a:bodyPr rtlCol="0" anchor="ctr"/>
          <a:lstStyle/>
          <a:p>
            <a:pPr algn="ctr"/>
          </a:p>
        </p:txBody>
      </p:sp>
      <p:sp>
        <p:nvSpPr>
          <p:cNvPr id="19" name="Person dot"/>
          <p:cNvSpPr/>
          <p:nvPr/>
        </p:nvSpPr>
        <p:spPr>
          <a:xfrm>
            <a:off x="7777886" y="859536"/>
            <a:ext cx="91440" cy="91440"/>
          </a:xfrm>
          <a:prstGeom prst="ellipse">
            <a:avLst/>
          </a:prstGeom>
          <a:solidFill>
            <a:srgbClr val="D4D4D4"/>
          </a:solidFill>
          <a:ln>
            <a:noFill/>
          </a:ln>
          <a:effectLst/>
        </p:spPr>
        <p:txBody>
          <a:bodyPr rtlCol="0" anchor="ctr"/>
          <a:lstStyle/>
          <a:p>
            <a:pPr algn="ctr"/>
          </a:p>
        </p:txBody>
      </p:sp>
      <p:sp>
        <p:nvSpPr>
          <p:cNvPr id="20" name="Person dot"/>
          <p:cNvSpPr/>
          <p:nvPr/>
        </p:nvSpPr>
        <p:spPr>
          <a:xfrm>
            <a:off x="8180222" y="859536"/>
            <a:ext cx="91440" cy="91440"/>
          </a:xfrm>
          <a:prstGeom prst="ellipse">
            <a:avLst/>
          </a:prstGeom>
          <a:solidFill>
            <a:srgbClr val="D4D4D4"/>
          </a:solidFill>
          <a:ln>
            <a:noFill/>
          </a:ln>
          <a:effectLst/>
        </p:spPr>
        <p:txBody>
          <a:bodyPr rtlCol="0" anchor="ctr"/>
          <a:lstStyle/>
          <a:p>
            <a:pPr algn="ctr"/>
          </a:p>
        </p:txBody>
      </p:sp>
      <p:sp>
        <p:nvSpPr>
          <p:cNvPr id="21" name="Person dot"/>
          <p:cNvSpPr/>
          <p:nvPr/>
        </p:nvSpPr>
        <p:spPr>
          <a:xfrm>
            <a:off x="8582558" y="859536"/>
            <a:ext cx="91440" cy="91440"/>
          </a:xfrm>
          <a:prstGeom prst="ellipse">
            <a:avLst/>
          </a:prstGeom>
          <a:solidFill>
            <a:srgbClr val="D4D4D4"/>
          </a:solidFill>
          <a:ln>
            <a:noFill/>
          </a:ln>
          <a:effectLst/>
        </p:spPr>
        <p:txBody>
          <a:bodyPr rtlCol="0" anchor="ctr"/>
          <a:lstStyle/>
          <a:p>
            <a:pPr algn="ctr"/>
          </a:p>
        </p:txBody>
      </p:sp>
      <p:sp>
        <p:nvSpPr>
          <p:cNvPr id="22" name="Person dot"/>
          <p:cNvSpPr/>
          <p:nvPr/>
        </p:nvSpPr>
        <p:spPr>
          <a:xfrm>
            <a:off x="8984894" y="859536"/>
            <a:ext cx="91440" cy="91440"/>
          </a:xfrm>
          <a:prstGeom prst="ellipse">
            <a:avLst/>
          </a:prstGeom>
          <a:solidFill>
            <a:srgbClr val="D4D4D4"/>
          </a:solidFill>
          <a:ln>
            <a:noFill/>
          </a:ln>
          <a:effectLst/>
        </p:spPr>
        <p:txBody>
          <a:bodyPr rtlCol="0" anchor="ctr"/>
          <a:lstStyle/>
          <a:p>
            <a:pPr algn="ctr"/>
          </a:p>
        </p:txBody>
      </p:sp>
      <p:sp>
        <p:nvSpPr>
          <p:cNvPr id="23" name="Person dot"/>
          <p:cNvSpPr/>
          <p:nvPr/>
        </p:nvSpPr>
        <p:spPr>
          <a:xfrm>
            <a:off x="9387230" y="859536"/>
            <a:ext cx="91440" cy="91440"/>
          </a:xfrm>
          <a:prstGeom prst="ellipse">
            <a:avLst/>
          </a:prstGeom>
          <a:solidFill>
            <a:srgbClr val="D4D4D4"/>
          </a:solidFill>
          <a:ln>
            <a:noFill/>
          </a:ln>
          <a:effectLst/>
        </p:spPr>
        <p:txBody>
          <a:bodyPr rtlCol="0" anchor="ctr"/>
          <a:lstStyle/>
          <a:p>
            <a:pPr algn="ctr"/>
          </a:p>
        </p:txBody>
      </p:sp>
      <p:sp>
        <p:nvSpPr>
          <p:cNvPr id="24" name="Person dot"/>
          <p:cNvSpPr/>
          <p:nvPr/>
        </p:nvSpPr>
        <p:spPr>
          <a:xfrm>
            <a:off x="9789566" y="859536"/>
            <a:ext cx="91440" cy="91440"/>
          </a:xfrm>
          <a:prstGeom prst="ellipse">
            <a:avLst/>
          </a:prstGeom>
          <a:solidFill>
            <a:srgbClr val="D4D4D4"/>
          </a:solidFill>
          <a:ln>
            <a:noFill/>
          </a:ln>
          <a:effectLst/>
        </p:spPr>
        <p:txBody>
          <a:bodyPr rtlCol="0" anchor="ctr"/>
          <a:lstStyle/>
          <a:p>
            <a:pPr algn="ctr"/>
          </a:p>
        </p:txBody>
      </p:sp>
      <p:sp>
        <p:nvSpPr>
          <p:cNvPr id="25" name="Person dot"/>
          <p:cNvSpPr/>
          <p:nvPr/>
        </p:nvSpPr>
        <p:spPr>
          <a:xfrm>
            <a:off x="10191902" y="859536"/>
            <a:ext cx="91440" cy="91440"/>
          </a:xfrm>
          <a:prstGeom prst="ellipse">
            <a:avLst/>
          </a:prstGeom>
          <a:solidFill>
            <a:srgbClr val="D4D4D4"/>
          </a:solidFill>
          <a:ln>
            <a:noFill/>
          </a:ln>
          <a:effectLst/>
        </p:spPr>
        <p:txBody>
          <a:bodyPr rtlCol="0" anchor="ctr"/>
          <a:lstStyle/>
          <a:p>
            <a:pPr algn="ctr"/>
          </a:p>
        </p:txBody>
      </p:sp>
      <p:sp>
        <p:nvSpPr>
          <p:cNvPr id="26" name="Person dot"/>
          <p:cNvSpPr/>
          <p:nvPr/>
        </p:nvSpPr>
        <p:spPr>
          <a:xfrm>
            <a:off x="10594238" y="859536"/>
            <a:ext cx="91440" cy="91440"/>
          </a:xfrm>
          <a:prstGeom prst="ellipse">
            <a:avLst/>
          </a:prstGeom>
          <a:solidFill>
            <a:srgbClr val="D4D4D4"/>
          </a:solidFill>
          <a:ln>
            <a:noFill/>
          </a:ln>
          <a:effectLst/>
        </p:spPr>
        <p:txBody>
          <a:bodyPr rtlCol="0" anchor="ctr"/>
          <a:lstStyle/>
          <a:p>
            <a:pPr algn="ctr"/>
          </a:p>
        </p:txBody>
      </p:sp>
      <p:sp>
        <p:nvSpPr>
          <p:cNvPr id="27" name="Person dot"/>
          <p:cNvSpPr/>
          <p:nvPr/>
        </p:nvSpPr>
        <p:spPr>
          <a:xfrm>
            <a:off x="10996574" y="859536"/>
            <a:ext cx="91440" cy="91440"/>
          </a:xfrm>
          <a:prstGeom prst="ellipse">
            <a:avLst/>
          </a:prstGeom>
          <a:solidFill>
            <a:srgbClr val="D4D4D4"/>
          </a:solidFill>
          <a:ln>
            <a:noFill/>
          </a:ln>
          <a:effectLst/>
        </p:spPr>
        <p:txBody>
          <a:bodyPr rtlCol="0" anchor="ctr"/>
          <a:lstStyle/>
          <a:p>
            <a:pPr algn="ctr"/>
          </a:p>
        </p:txBody>
      </p:sp>
      <p:sp>
        <p:nvSpPr>
          <p:cNvPr id="28" name="Person dot"/>
          <p:cNvSpPr/>
          <p:nvPr/>
        </p:nvSpPr>
        <p:spPr>
          <a:xfrm>
            <a:off x="11398910" y="859536"/>
            <a:ext cx="91440" cy="91440"/>
          </a:xfrm>
          <a:prstGeom prst="ellipse">
            <a:avLst/>
          </a:prstGeom>
          <a:solidFill>
            <a:srgbClr val="D4D4D4"/>
          </a:solidFill>
          <a:ln>
            <a:noFill/>
          </a:ln>
          <a:effectLst/>
        </p:spPr>
        <p:txBody>
          <a:bodyPr rtlCol="0" anchor="ctr"/>
          <a:lstStyle/>
          <a:p>
            <a:pPr algn="ctr"/>
          </a:p>
        </p:txBody>
      </p:sp>
      <p:sp>
        <p:nvSpPr>
          <p:cNvPr id="29" name="Person dot"/>
          <p:cNvSpPr/>
          <p:nvPr/>
        </p:nvSpPr>
        <p:spPr>
          <a:xfrm>
            <a:off x="7375550" y="1261872"/>
            <a:ext cx="91440" cy="91440"/>
          </a:xfrm>
          <a:prstGeom prst="ellipse">
            <a:avLst/>
          </a:prstGeom>
          <a:solidFill>
            <a:srgbClr val="D4D4D4"/>
          </a:solidFill>
          <a:ln>
            <a:noFill/>
          </a:ln>
          <a:effectLst/>
        </p:spPr>
        <p:txBody>
          <a:bodyPr rtlCol="0" anchor="ctr"/>
          <a:lstStyle/>
          <a:p>
            <a:pPr algn="ctr"/>
          </a:p>
        </p:txBody>
      </p:sp>
      <p:sp>
        <p:nvSpPr>
          <p:cNvPr id="30" name="Person dot"/>
          <p:cNvSpPr/>
          <p:nvPr/>
        </p:nvSpPr>
        <p:spPr>
          <a:xfrm>
            <a:off x="7777886" y="1261872"/>
            <a:ext cx="91440" cy="91440"/>
          </a:xfrm>
          <a:prstGeom prst="ellipse">
            <a:avLst/>
          </a:prstGeom>
          <a:solidFill>
            <a:srgbClr val="D4D4D4"/>
          </a:solidFill>
          <a:ln>
            <a:noFill/>
          </a:ln>
          <a:effectLst/>
        </p:spPr>
        <p:txBody>
          <a:bodyPr rtlCol="0" anchor="ctr"/>
          <a:lstStyle/>
          <a:p>
            <a:pPr algn="ctr"/>
          </a:p>
        </p:txBody>
      </p:sp>
      <p:sp>
        <p:nvSpPr>
          <p:cNvPr id="31" name="Signal dot"/>
          <p:cNvSpPr/>
          <p:nvPr/>
        </p:nvSpPr>
        <p:spPr>
          <a:xfrm>
            <a:off x="8161934" y="1243584"/>
            <a:ext cx="128016" cy="128016"/>
          </a:xfrm>
          <a:prstGeom prst="ellipse">
            <a:avLst/>
          </a:prstGeom>
          <a:solidFill>
            <a:srgbClr val="28A019"/>
          </a:solidFill>
          <a:ln>
            <a:noFill/>
          </a:ln>
          <a:effectLst/>
        </p:spPr>
        <p:txBody>
          <a:bodyPr rtlCol="0" anchor="ctr"/>
          <a:lstStyle/>
          <a:p>
            <a:pPr algn="ctr"/>
          </a:p>
        </p:txBody>
      </p:sp>
      <p:sp>
        <p:nvSpPr>
          <p:cNvPr id="32" name="Signal ring"/>
          <p:cNvSpPr/>
          <p:nvPr/>
        </p:nvSpPr>
        <p:spPr>
          <a:xfrm>
            <a:off x="8509406" y="1188720"/>
            <a:ext cx="237744" cy="237744"/>
          </a:xfrm>
          <a:prstGeom prst="ellipse">
            <a:avLst/>
          </a:prstGeom>
          <a:noFill/>
          <a:ln w="28575">
            <a:solidFill>
              <a:srgbClr val="28A019"/>
            </a:solidFill>
          </a:ln>
          <a:effectLst/>
        </p:spPr>
        <p:txBody>
          <a:bodyPr rtlCol="0" anchor="ctr"/>
          <a:lstStyle/>
          <a:p>
            <a:pPr algn="ctr"/>
          </a:p>
        </p:txBody>
      </p:sp>
      <p:sp>
        <p:nvSpPr>
          <p:cNvPr id="33" name="Person dot"/>
          <p:cNvSpPr/>
          <p:nvPr/>
        </p:nvSpPr>
        <p:spPr>
          <a:xfrm>
            <a:off x="8984894" y="1261872"/>
            <a:ext cx="91440" cy="91440"/>
          </a:xfrm>
          <a:prstGeom prst="ellipse">
            <a:avLst/>
          </a:prstGeom>
          <a:solidFill>
            <a:srgbClr val="D4D4D4"/>
          </a:solidFill>
          <a:ln>
            <a:noFill/>
          </a:ln>
          <a:effectLst/>
        </p:spPr>
        <p:txBody>
          <a:bodyPr rtlCol="0" anchor="ctr"/>
          <a:lstStyle/>
          <a:p>
            <a:pPr algn="ctr"/>
          </a:p>
        </p:txBody>
      </p:sp>
      <p:sp>
        <p:nvSpPr>
          <p:cNvPr id="34" name="Person dot"/>
          <p:cNvSpPr/>
          <p:nvPr/>
        </p:nvSpPr>
        <p:spPr>
          <a:xfrm>
            <a:off x="9387230" y="1261872"/>
            <a:ext cx="91440" cy="91440"/>
          </a:xfrm>
          <a:prstGeom prst="ellipse">
            <a:avLst/>
          </a:prstGeom>
          <a:solidFill>
            <a:srgbClr val="D4D4D4"/>
          </a:solidFill>
          <a:ln>
            <a:noFill/>
          </a:ln>
          <a:effectLst/>
        </p:spPr>
        <p:txBody>
          <a:bodyPr rtlCol="0" anchor="ctr"/>
          <a:lstStyle/>
          <a:p>
            <a:pPr algn="ctr"/>
          </a:p>
        </p:txBody>
      </p:sp>
      <p:sp>
        <p:nvSpPr>
          <p:cNvPr id="35" name="Person dot"/>
          <p:cNvSpPr/>
          <p:nvPr/>
        </p:nvSpPr>
        <p:spPr>
          <a:xfrm>
            <a:off x="9789566" y="1261872"/>
            <a:ext cx="91440" cy="91440"/>
          </a:xfrm>
          <a:prstGeom prst="ellipse">
            <a:avLst/>
          </a:prstGeom>
          <a:solidFill>
            <a:srgbClr val="D4D4D4"/>
          </a:solidFill>
          <a:ln>
            <a:noFill/>
          </a:ln>
          <a:effectLst/>
        </p:spPr>
        <p:txBody>
          <a:bodyPr rtlCol="0" anchor="ctr"/>
          <a:lstStyle/>
          <a:p>
            <a:pPr algn="ctr"/>
          </a:p>
        </p:txBody>
      </p:sp>
      <p:sp>
        <p:nvSpPr>
          <p:cNvPr id="36" name="Person dot"/>
          <p:cNvSpPr/>
          <p:nvPr/>
        </p:nvSpPr>
        <p:spPr>
          <a:xfrm>
            <a:off x="10191902" y="1261872"/>
            <a:ext cx="91440" cy="91440"/>
          </a:xfrm>
          <a:prstGeom prst="ellipse">
            <a:avLst/>
          </a:prstGeom>
          <a:solidFill>
            <a:srgbClr val="D4D4D4"/>
          </a:solidFill>
          <a:ln>
            <a:noFill/>
          </a:ln>
          <a:effectLst/>
        </p:spPr>
        <p:txBody>
          <a:bodyPr rtlCol="0" anchor="ctr"/>
          <a:lstStyle/>
          <a:p>
            <a:pPr algn="ctr"/>
          </a:p>
        </p:txBody>
      </p:sp>
      <p:sp>
        <p:nvSpPr>
          <p:cNvPr id="37" name="Person dot"/>
          <p:cNvSpPr/>
          <p:nvPr/>
        </p:nvSpPr>
        <p:spPr>
          <a:xfrm>
            <a:off x="10594238" y="1261872"/>
            <a:ext cx="91440" cy="91440"/>
          </a:xfrm>
          <a:prstGeom prst="ellipse">
            <a:avLst/>
          </a:prstGeom>
          <a:solidFill>
            <a:srgbClr val="D4D4D4"/>
          </a:solidFill>
          <a:ln>
            <a:noFill/>
          </a:ln>
          <a:effectLst/>
        </p:spPr>
        <p:txBody>
          <a:bodyPr rtlCol="0" anchor="ctr"/>
          <a:lstStyle/>
          <a:p>
            <a:pPr algn="ctr"/>
          </a:p>
        </p:txBody>
      </p:sp>
      <p:sp>
        <p:nvSpPr>
          <p:cNvPr id="38" name="Person dot"/>
          <p:cNvSpPr/>
          <p:nvPr/>
        </p:nvSpPr>
        <p:spPr>
          <a:xfrm>
            <a:off x="10996574" y="1261872"/>
            <a:ext cx="91440" cy="91440"/>
          </a:xfrm>
          <a:prstGeom prst="ellipse">
            <a:avLst/>
          </a:prstGeom>
          <a:solidFill>
            <a:srgbClr val="D4D4D4"/>
          </a:solidFill>
          <a:ln>
            <a:noFill/>
          </a:ln>
          <a:effectLst/>
        </p:spPr>
        <p:txBody>
          <a:bodyPr rtlCol="0" anchor="ctr"/>
          <a:lstStyle/>
          <a:p>
            <a:pPr algn="ctr"/>
          </a:p>
        </p:txBody>
      </p:sp>
      <p:sp>
        <p:nvSpPr>
          <p:cNvPr id="39" name="Person dot"/>
          <p:cNvSpPr/>
          <p:nvPr/>
        </p:nvSpPr>
        <p:spPr>
          <a:xfrm>
            <a:off x="11398910" y="1261872"/>
            <a:ext cx="91440" cy="91440"/>
          </a:xfrm>
          <a:prstGeom prst="ellipse">
            <a:avLst/>
          </a:prstGeom>
          <a:solidFill>
            <a:srgbClr val="D4D4D4"/>
          </a:solidFill>
          <a:ln>
            <a:noFill/>
          </a:ln>
          <a:effectLst/>
        </p:spPr>
        <p:txBody>
          <a:bodyPr rtlCol="0" anchor="ctr"/>
          <a:lstStyle/>
          <a:p>
            <a:pPr algn="ctr"/>
          </a:p>
        </p:txBody>
      </p:sp>
      <p:sp>
        <p:nvSpPr>
          <p:cNvPr id="40" name="Person dot"/>
          <p:cNvSpPr/>
          <p:nvPr/>
        </p:nvSpPr>
        <p:spPr>
          <a:xfrm>
            <a:off x="7375550" y="1664208"/>
            <a:ext cx="91440" cy="91440"/>
          </a:xfrm>
          <a:prstGeom prst="ellipse">
            <a:avLst/>
          </a:prstGeom>
          <a:solidFill>
            <a:srgbClr val="D4D4D4"/>
          </a:solidFill>
          <a:ln>
            <a:noFill/>
          </a:ln>
          <a:effectLst/>
        </p:spPr>
        <p:txBody>
          <a:bodyPr rtlCol="0" anchor="ctr"/>
          <a:lstStyle/>
          <a:p>
            <a:pPr algn="ctr"/>
          </a:p>
        </p:txBody>
      </p:sp>
      <p:sp>
        <p:nvSpPr>
          <p:cNvPr id="41" name="Signal ring"/>
          <p:cNvSpPr/>
          <p:nvPr/>
        </p:nvSpPr>
        <p:spPr>
          <a:xfrm>
            <a:off x="7704734" y="1591056"/>
            <a:ext cx="237744" cy="237744"/>
          </a:xfrm>
          <a:prstGeom prst="ellipse">
            <a:avLst/>
          </a:prstGeom>
          <a:noFill/>
          <a:ln w="28575">
            <a:solidFill>
              <a:srgbClr val="28A019"/>
            </a:solidFill>
          </a:ln>
          <a:effectLst/>
        </p:spPr>
        <p:txBody>
          <a:bodyPr rtlCol="0" anchor="ctr"/>
          <a:lstStyle/>
          <a:p>
            <a:pPr algn="ctr"/>
          </a:p>
        </p:txBody>
      </p:sp>
      <p:sp>
        <p:nvSpPr>
          <p:cNvPr id="42" name="Signal dot"/>
          <p:cNvSpPr/>
          <p:nvPr/>
        </p:nvSpPr>
        <p:spPr>
          <a:xfrm>
            <a:off x="8161934" y="1645920"/>
            <a:ext cx="128016" cy="128016"/>
          </a:xfrm>
          <a:prstGeom prst="ellipse">
            <a:avLst/>
          </a:prstGeom>
          <a:solidFill>
            <a:srgbClr val="28A019"/>
          </a:solidFill>
          <a:ln>
            <a:noFill/>
          </a:ln>
          <a:effectLst/>
        </p:spPr>
        <p:txBody>
          <a:bodyPr rtlCol="0" anchor="ctr"/>
          <a:lstStyle/>
          <a:p>
            <a:pPr algn="ctr"/>
          </a:p>
        </p:txBody>
      </p:sp>
      <p:sp>
        <p:nvSpPr>
          <p:cNvPr id="43" name="Person dot"/>
          <p:cNvSpPr/>
          <p:nvPr/>
        </p:nvSpPr>
        <p:spPr>
          <a:xfrm>
            <a:off x="8582558" y="1664208"/>
            <a:ext cx="91440" cy="91440"/>
          </a:xfrm>
          <a:prstGeom prst="ellipse">
            <a:avLst/>
          </a:prstGeom>
          <a:solidFill>
            <a:srgbClr val="D4D4D4"/>
          </a:solidFill>
          <a:ln>
            <a:noFill/>
          </a:ln>
          <a:effectLst/>
        </p:spPr>
        <p:txBody>
          <a:bodyPr rtlCol="0" anchor="ctr"/>
          <a:lstStyle/>
          <a:p>
            <a:pPr algn="ctr"/>
          </a:p>
        </p:txBody>
      </p:sp>
      <p:sp>
        <p:nvSpPr>
          <p:cNvPr id="44" name="Person dot"/>
          <p:cNvSpPr/>
          <p:nvPr/>
        </p:nvSpPr>
        <p:spPr>
          <a:xfrm>
            <a:off x="8984894" y="1664208"/>
            <a:ext cx="91440" cy="91440"/>
          </a:xfrm>
          <a:prstGeom prst="ellipse">
            <a:avLst/>
          </a:prstGeom>
          <a:solidFill>
            <a:srgbClr val="D4D4D4"/>
          </a:solidFill>
          <a:ln>
            <a:noFill/>
          </a:ln>
          <a:effectLst/>
        </p:spPr>
        <p:txBody>
          <a:bodyPr rtlCol="0" anchor="ctr"/>
          <a:lstStyle/>
          <a:p>
            <a:pPr algn="ctr"/>
          </a:p>
        </p:txBody>
      </p:sp>
      <p:sp>
        <p:nvSpPr>
          <p:cNvPr id="45" name="Person dot"/>
          <p:cNvSpPr/>
          <p:nvPr/>
        </p:nvSpPr>
        <p:spPr>
          <a:xfrm>
            <a:off x="9387230" y="1664208"/>
            <a:ext cx="91440" cy="91440"/>
          </a:xfrm>
          <a:prstGeom prst="ellipse">
            <a:avLst/>
          </a:prstGeom>
          <a:solidFill>
            <a:srgbClr val="D4D4D4"/>
          </a:solidFill>
          <a:ln>
            <a:noFill/>
          </a:ln>
          <a:effectLst/>
        </p:spPr>
        <p:txBody>
          <a:bodyPr rtlCol="0" anchor="ctr"/>
          <a:lstStyle/>
          <a:p>
            <a:pPr algn="ctr"/>
          </a:p>
        </p:txBody>
      </p:sp>
      <p:sp>
        <p:nvSpPr>
          <p:cNvPr id="46" name="Person dot"/>
          <p:cNvSpPr/>
          <p:nvPr/>
        </p:nvSpPr>
        <p:spPr>
          <a:xfrm>
            <a:off x="9789566" y="1664208"/>
            <a:ext cx="91440" cy="91440"/>
          </a:xfrm>
          <a:prstGeom prst="ellipse">
            <a:avLst/>
          </a:prstGeom>
          <a:solidFill>
            <a:srgbClr val="D4D4D4"/>
          </a:solidFill>
          <a:ln>
            <a:noFill/>
          </a:ln>
          <a:effectLst/>
        </p:spPr>
        <p:txBody>
          <a:bodyPr rtlCol="0" anchor="ctr"/>
          <a:lstStyle/>
          <a:p>
            <a:pPr algn="ctr"/>
          </a:p>
        </p:txBody>
      </p:sp>
      <p:sp>
        <p:nvSpPr>
          <p:cNvPr id="47" name="Person dot"/>
          <p:cNvSpPr/>
          <p:nvPr/>
        </p:nvSpPr>
        <p:spPr>
          <a:xfrm>
            <a:off x="10191902" y="1664208"/>
            <a:ext cx="91440" cy="91440"/>
          </a:xfrm>
          <a:prstGeom prst="ellipse">
            <a:avLst/>
          </a:prstGeom>
          <a:solidFill>
            <a:srgbClr val="D4D4D4"/>
          </a:solidFill>
          <a:ln>
            <a:noFill/>
          </a:ln>
          <a:effectLst/>
        </p:spPr>
        <p:txBody>
          <a:bodyPr rtlCol="0" anchor="ctr"/>
          <a:lstStyle/>
          <a:p>
            <a:pPr algn="ctr"/>
          </a:p>
        </p:txBody>
      </p:sp>
      <p:sp>
        <p:nvSpPr>
          <p:cNvPr id="48" name="Person dot"/>
          <p:cNvSpPr/>
          <p:nvPr/>
        </p:nvSpPr>
        <p:spPr>
          <a:xfrm>
            <a:off x="10594238" y="1664208"/>
            <a:ext cx="91440" cy="91440"/>
          </a:xfrm>
          <a:prstGeom prst="ellipse">
            <a:avLst/>
          </a:prstGeom>
          <a:solidFill>
            <a:srgbClr val="D4D4D4"/>
          </a:solidFill>
          <a:ln>
            <a:noFill/>
          </a:ln>
          <a:effectLst/>
        </p:spPr>
        <p:txBody>
          <a:bodyPr rtlCol="0" anchor="ctr"/>
          <a:lstStyle/>
          <a:p>
            <a:pPr algn="ctr"/>
          </a:p>
        </p:txBody>
      </p:sp>
      <p:sp>
        <p:nvSpPr>
          <p:cNvPr id="49" name="Person dot"/>
          <p:cNvSpPr/>
          <p:nvPr/>
        </p:nvSpPr>
        <p:spPr>
          <a:xfrm>
            <a:off x="10996574" y="1664208"/>
            <a:ext cx="91440" cy="91440"/>
          </a:xfrm>
          <a:prstGeom prst="ellipse">
            <a:avLst/>
          </a:prstGeom>
          <a:solidFill>
            <a:srgbClr val="D4D4D4"/>
          </a:solidFill>
          <a:ln>
            <a:noFill/>
          </a:ln>
          <a:effectLst/>
        </p:spPr>
        <p:txBody>
          <a:bodyPr rtlCol="0" anchor="ctr"/>
          <a:lstStyle/>
          <a:p>
            <a:pPr algn="ctr"/>
          </a:p>
        </p:txBody>
      </p:sp>
      <p:sp>
        <p:nvSpPr>
          <p:cNvPr id="50" name="Person dot"/>
          <p:cNvSpPr/>
          <p:nvPr/>
        </p:nvSpPr>
        <p:spPr>
          <a:xfrm>
            <a:off x="11398910" y="1664208"/>
            <a:ext cx="91440" cy="91440"/>
          </a:xfrm>
          <a:prstGeom prst="ellipse">
            <a:avLst/>
          </a:prstGeom>
          <a:solidFill>
            <a:srgbClr val="D4D4D4"/>
          </a:solidFill>
          <a:ln>
            <a:noFill/>
          </a:ln>
          <a:effectLst/>
        </p:spPr>
        <p:txBody>
          <a:bodyPr rtlCol="0" anchor="ctr"/>
          <a:lstStyle/>
          <a:p>
            <a:pPr algn="ctr"/>
          </a:p>
        </p:txBody>
      </p:sp>
      <p:sp>
        <p:nvSpPr>
          <p:cNvPr id="51" name="Person dot"/>
          <p:cNvSpPr/>
          <p:nvPr/>
        </p:nvSpPr>
        <p:spPr>
          <a:xfrm>
            <a:off x="7375550" y="2066544"/>
            <a:ext cx="91440" cy="91440"/>
          </a:xfrm>
          <a:prstGeom prst="ellipse">
            <a:avLst/>
          </a:prstGeom>
          <a:solidFill>
            <a:srgbClr val="D4D4D4"/>
          </a:solidFill>
          <a:ln>
            <a:noFill/>
          </a:ln>
          <a:effectLst/>
        </p:spPr>
        <p:txBody>
          <a:bodyPr rtlCol="0" anchor="ctr"/>
          <a:lstStyle/>
          <a:p>
            <a:pPr algn="ctr"/>
          </a:p>
        </p:txBody>
      </p:sp>
      <p:sp>
        <p:nvSpPr>
          <p:cNvPr id="52" name="Person dot"/>
          <p:cNvSpPr/>
          <p:nvPr/>
        </p:nvSpPr>
        <p:spPr>
          <a:xfrm>
            <a:off x="7777886" y="2066544"/>
            <a:ext cx="91440" cy="91440"/>
          </a:xfrm>
          <a:prstGeom prst="ellipse">
            <a:avLst/>
          </a:prstGeom>
          <a:solidFill>
            <a:srgbClr val="D4D4D4"/>
          </a:solidFill>
          <a:ln>
            <a:noFill/>
          </a:ln>
          <a:effectLst/>
        </p:spPr>
        <p:txBody>
          <a:bodyPr rtlCol="0" anchor="ctr"/>
          <a:lstStyle/>
          <a:p>
            <a:pPr algn="ctr"/>
          </a:p>
        </p:txBody>
      </p:sp>
      <p:sp>
        <p:nvSpPr>
          <p:cNvPr id="53" name="Person dot"/>
          <p:cNvSpPr/>
          <p:nvPr/>
        </p:nvSpPr>
        <p:spPr>
          <a:xfrm>
            <a:off x="8180222" y="2066544"/>
            <a:ext cx="91440" cy="91440"/>
          </a:xfrm>
          <a:prstGeom prst="ellipse">
            <a:avLst/>
          </a:prstGeom>
          <a:solidFill>
            <a:srgbClr val="D4D4D4"/>
          </a:solidFill>
          <a:ln>
            <a:noFill/>
          </a:ln>
          <a:effectLst/>
        </p:spPr>
        <p:txBody>
          <a:bodyPr rtlCol="0" anchor="ctr"/>
          <a:lstStyle/>
          <a:p>
            <a:pPr algn="ctr"/>
          </a:p>
        </p:txBody>
      </p:sp>
      <p:sp>
        <p:nvSpPr>
          <p:cNvPr id="54" name="Person dot"/>
          <p:cNvSpPr/>
          <p:nvPr/>
        </p:nvSpPr>
        <p:spPr>
          <a:xfrm>
            <a:off x="8582558" y="2066544"/>
            <a:ext cx="91440" cy="91440"/>
          </a:xfrm>
          <a:prstGeom prst="ellipse">
            <a:avLst/>
          </a:prstGeom>
          <a:solidFill>
            <a:srgbClr val="D4D4D4"/>
          </a:solidFill>
          <a:ln>
            <a:noFill/>
          </a:ln>
          <a:effectLst/>
        </p:spPr>
        <p:txBody>
          <a:bodyPr rtlCol="0" anchor="ctr"/>
          <a:lstStyle/>
          <a:p>
            <a:pPr algn="ctr"/>
          </a:p>
        </p:txBody>
      </p:sp>
      <p:sp>
        <p:nvSpPr>
          <p:cNvPr id="55" name="Person dot"/>
          <p:cNvSpPr/>
          <p:nvPr/>
        </p:nvSpPr>
        <p:spPr>
          <a:xfrm>
            <a:off x="8984894" y="2066544"/>
            <a:ext cx="91440" cy="91440"/>
          </a:xfrm>
          <a:prstGeom prst="ellipse">
            <a:avLst/>
          </a:prstGeom>
          <a:solidFill>
            <a:srgbClr val="D4D4D4"/>
          </a:solidFill>
          <a:ln>
            <a:noFill/>
          </a:ln>
          <a:effectLst/>
        </p:spPr>
        <p:txBody>
          <a:bodyPr rtlCol="0" anchor="ctr"/>
          <a:lstStyle/>
          <a:p>
            <a:pPr algn="ctr"/>
          </a:p>
        </p:txBody>
      </p:sp>
      <p:sp>
        <p:nvSpPr>
          <p:cNvPr id="56" name="Person dot"/>
          <p:cNvSpPr/>
          <p:nvPr/>
        </p:nvSpPr>
        <p:spPr>
          <a:xfrm>
            <a:off x="9387230" y="2066544"/>
            <a:ext cx="91440" cy="91440"/>
          </a:xfrm>
          <a:prstGeom prst="ellipse">
            <a:avLst/>
          </a:prstGeom>
          <a:solidFill>
            <a:srgbClr val="D4D4D4"/>
          </a:solidFill>
          <a:ln>
            <a:noFill/>
          </a:ln>
          <a:effectLst/>
        </p:spPr>
        <p:txBody>
          <a:bodyPr rtlCol="0" anchor="ctr"/>
          <a:lstStyle/>
          <a:p>
            <a:pPr algn="ctr"/>
          </a:p>
        </p:txBody>
      </p:sp>
      <p:sp>
        <p:nvSpPr>
          <p:cNvPr id="57" name="Person dot"/>
          <p:cNvSpPr/>
          <p:nvPr/>
        </p:nvSpPr>
        <p:spPr>
          <a:xfrm>
            <a:off x="9789566" y="2066544"/>
            <a:ext cx="91440" cy="91440"/>
          </a:xfrm>
          <a:prstGeom prst="ellipse">
            <a:avLst/>
          </a:prstGeom>
          <a:solidFill>
            <a:srgbClr val="D4D4D4"/>
          </a:solidFill>
          <a:ln>
            <a:noFill/>
          </a:ln>
          <a:effectLst/>
        </p:spPr>
        <p:txBody>
          <a:bodyPr rtlCol="0" anchor="ctr"/>
          <a:lstStyle/>
          <a:p>
            <a:pPr algn="ctr"/>
          </a:p>
        </p:txBody>
      </p:sp>
      <p:sp>
        <p:nvSpPr>
          <p:cNvPr id="58" name="Person dot"/>
          <p:cNvSpPr/>
          <p:nvPr/>
        </p:nvSpPr>
        <p:spPr>
          <a:xfrm>
            <a:off x="10191902" y="2066544"/>
            <a:ext cx="91440" cy="91440"/>
          </a:xfrm>
          <a:prstGeom prst="ellipse">
            <a:avLst/>
          </a:prstGeom>
          <a:solidFill>
            <a:srgbClr val="D4D4D4"/>
          </a:solidFill>
          <a:ln>
            <a:noFill/>
          </a:ln>
          <a:effectLst/>
        </p:spPr>
        <p:txBody>
          <a:bodyPr rtlCol="0" anchor="ctr"/>
          <a:lstStyle/>
          <a:p>
            <a:pPr algn="ctr"/>
          </a:p>
        </p:txBody>
      </p:sp>
      <p:sp>
        <p:nvSpPr>
          <p:cNvPr id="59" name="Person dot"/>
          <p:cNvSpPr/>
          <p:nvPr/>
        </p:nvSpPr>
        <p:spPr>
          <a:xfrm>
            <a:off x="10594238" y="2066544"/>
            <a:ext cx="91440" cy="91440"/>
          </a:xfrm>
          <a:prstGeom prst="ellipse">
            <a:avLst/>
          </a:prstGeom>
          <a:solidFill>
            <a:srgbClr val="D4D4D4"/>
          </a:solidFill>
          <a:ln>
            <a:noFill/>
          </a:ln>
          <a:effectLst/>
        </p:spPr>
        <p:txBody>
          <a:bodyPr rtlCol="0" anchor="ctr"/>
          <a:lstStyle/>
          <a:p>
            <a:pPr algn="ctr"/>
          </a:p>
        </p:txBody>
      </p:sp>
      <p:sp>
        <p:nvSpPr>
          <p:cNvPr id="60" name="Person dot"/>
          <p:cNvSpPr/>
          <p:nvPr/>
        </p:nvSpPr>
        <p:spPr>
          <a:xfrm>
            <a:off x="10996574" y="2066544"/>
            <a:ext cx="91440" cy="91440"/>
          </a:xfrm>
          <a:prstGeom prst="ellipse">
            <a:avLst/>
          </a:prstGeom>
          <a:solidFill>
            <a:srgbClr val="D4D4D4"/>
          </a:solidFill>
          <a:ln>
            <a:noFill/>
          </a:ln>
          <a:effectLst/>
        </p:spPr>
        <p:txBody>
          <a:bodyPr rtlCol="0" anchor="ctr"/>
          <a:lstStyle/>
          <a:p>
            <a:pPr algn="ctr"/>
          </a:p>
        </p:txBody>
      </p:sp>
      <p:sp>
        <p:nvSpPr>
          <p:cNvPr id="61" name="Person dot"/>
          <p:cNvSpPr/>
          <p:nvPr/>
        </p:nvSpPr>
        <p:spPr>
          <a:xfrm>
            <a:off x="11398910" y="2066544"/>
            <a:ext cx="91440" cy="91440"/>
          </a:xfrm>
          <a:prstGeom prst="ellipse">
            <a:avLst/>
          </a:prstGeom>
          <a:solidFill>
            <a:srgbClr val="D4D4D4"/>
          </a:solidFill>
          <a:ln>
            <a:noFill/>
          </a:ln>
          <a:effectLst/>
        </p:spPr>
        <p:txBody>
          <a:bodyPr rtlCol="0" anchor="ctr"/>
          <a:lstStyle/>
          <a:p>
            <a:pPr algn="ctr"/>
          </a:p>
        </p:txBody>
      </p:sp>
      <p:sp>
        <p:nvSpPr>
          <p:cNvPr id="62" name="Person dot"/>
          <p:cNvSpPr/>
          <p:nvPr/>
        </p:nvSpPr>
        <p:spPr>
          <a:xfrm>
            <a:off x="7375550" y="2468880"/>
            <a:ext cx="91440" cy="91440"/>
          </a:xfrm>
          <a:prstGeom prst="ellipse">
            <a:avLst/>
          </a:prstGeom>
          <a:solidFill>
            <a:srgbClr val="D4D4D4"/>
          </a:solidFill>
          <a:ln>
            <a:noFill/>
          </a:ln>
          <a:effectLst/>
        </p:spPr>
        <p:txBody>
          <a:bodyPr rtlCol="0" anchor="ctr"/>
          <a:lstStyle/>
          <a:p>
            <a:pPr algn="ctr"/>
          </a:p>
        </p:txBody>
      </p:sp>
      <p:sp>
        <p:nvSpPr>
          <p:cNvPr id="63" name="Signal ring"/>
          <p:cNvSpPr/>
          <p:nvPr/>
        </p:nvSpPr>
        <p:spPr>
          <a:xfrm>
            <a:off x="7704734" y="2395728"/>
            <a:ext cx="237744" cy="237744"/>
          </a:xfrm>
          <a:prstGeom prst="ellipse">
            <a:avLst/>
          </a:prstGeom>
          <a:noFill/>
          <a:ln w="28575">
            <a:solidFill>
              <a:srgbClr val="28A019"/>
            </a:solidFill>
          </a:ln>
          <a:effectLst/>
        </p:spPr>
        <p:txBody>
          <a:bodyPr rtlCol="0" anchor="ctr"/>
          <a:lstStyle/>
          <a:p>
            <a:pPr algn="ctr"/>
          </a:p>
        </p:txBody>
      </p:sp>
      <p:sp>
        <p:nvSpPr>
          <p:cNvPr id="64" name="Person dot"/>
          <p:cNvSpPr/>
          <p:nvPr/>
        </p:nvSpPr>
        <p:spPr>
          <a:xfrm>
            <a:off x="8180222" y="2468880"/>
            <a:ext cx="91440" cy="91440"/>
          </a:xfrm>
          <a:prstGeom prst="ellipse">
            <a:avLst/>
          </a:prstGeom>
          <a:solidFill>
            <a:srgbClr val="D4D4D4"/>
          </a:solidFill>
          <a:ln>
            <a:noFill/>
          </a:ln>
          <a:effectLst/>
        </p:spPr>
        <p:txBody>
          <a:bodyPr rtlCol="0" anchor="ctr"/>
          <a:lstStyle/>
          <a:p>
            <a:pPr algn="ctr"/>
          </a:p>
        </p:txBody>
      </p:sp>
      <p:sp>
        <p:nvSpPr>
          <p:cNvPr id="65" name="Person dot"/>
          <p:cNvSpPr/>
          <p:nvPr/>
        </p:nvSpPr>
        <p:spPr>
          <a:xfrm>
            <a:off x="8582558" y="2468880"/>
            <a:ext cx="91440" cy="91440"/>
          </a:xfrm>
          <a:prstGeom prst="ellipse">
            <a:avLst/>
          </a:prstGeom>
          <a:solidFill>
            <a:srgbClr val="D4D4D4"/>
          </a:solidFill>
          <a:ln>
            <a:noFill/>
          </a:ln>
          <a:effectLst/>
        </p:spPr>
        <p:txBody>
          <a:bodyPr rtlCol="0" anchor="ctr"/>
          <a:lstStyle/>
          <a:p>
            <a:pPr algn="ctr"/>
          </a:p>
        </p:txBody>
      </p:sp>
      <p:sp>
        <p:nvSpPr>
          <p:cNvPr id="66" name="Person dot"/>
          <p:cNvSpPr/>
          <p:nvPr/>
        </p:nvSpPr>
        <p:spPr>
          <a:xfrm>
            <a:off x="8984894" y="2468880"/>
            <a:ext cx="91440" cy="91440"/>
          </a:xfrm>
          <a:prstGeom prst="ellipse">
            <a:avLst/>
          </a:prstGeom>
          <a:solidFill>
            <a:srgbClr val="D4D4D4"/>
          </a:solidFill>
          <a:ln>
            <a:noFill/>
          </a:ln>
          <a:effectLst/>
        </p:spPr>
        <p:txBody>
          <a:bodyPr rtlCol="0" anchor="ctr"/>
          <a:lstStyle/>
          <a:p>
            <a:pPr algn="ctr"/>
          </a:p>
        </p:txBody>
      </p:sp>
      <p:sp>
        <p:nvSpPr>
          <p:cNvPr id="67" name="Person dot"/>
          <p:cNvSpPr/>
          <p:nvPr/>
        </p:nvSpPr>
        <p:spPr>
          <a:xfrm>
            <a:off x="9387230" y="2468880"/>
            <a:ext cx="91440" cy="91440"/>
          </a:xfrm>
          <a:prstGeom prst="ellipse">
            <a:avLst/>
          </a:prstGeom>
          <a:solidFill>
            <a:srgbClr val="D4D4D4"/>
          </a:solidFill>
          <a:ln>
            <a:noFill/>
          </a:ln>
          <a:effectLst/>
        </p:spPr>
        <p:txBody>
          <a:bodyPr rtlCol="0" anchor="ctr"/>
          <a:lstStyle/>
          <a:p>
            <a:pPr algn="ctr"/>
          </a:p>
        </p:txBody>
      </p:sp>
      <p:sp>
        <p:nvSpPr>
          <p:cNvPr id="68" name="Signal dot"/>
          <p:cNvSpPr/>
          <p:nvPr/>
        </p:nvSpPr>
        <p:spPr>
          <a:xfrm>
            <a:off x="9771278" y="2450592"/>
            <a:ext cx="128016" cy="128016"/>
          </a:xfrm>
          <a:prstGeom prst="ellipse">
            <a:avLst/>
          </a:prstGeom>
          <a:solidFill>
            <a:srgbClr val="28A019"/>
          </a:solidFill>
          <a:ln>
            <a:noFill/>
          </a:ln>
          <a:effectLst/>
        </p:spPr>
        <p:txBody>
          <a:bodyPr rtlCol="0" anchor="ctr"/>
          <a:lstStyle/>
          <a:p>
            <a:pPr algn="ctr"/>
          </a:p>
        </p:txBody>
      </p:sp>
      <p:sp>
        <p:nvSpPr>
          <p:cNvPr id="69" name="Person dot"/>
          <p:cNvSpPr/>
          <p:nvPr/>
        </p:nvSpPr>
        <p:spPr>
          <a:xfrm>
            <a:off x="10191902" y="2468880"/>
            <a:ext cx="91440" cy="91440"/>
          </a:xfrm>
          <a:prstGeom prst="ellipse">
            <a:avLst/>
          </a:prstGeom>
          <a:solidFill>
            <a:srgbClr val="D4D4D4"/>
          </a:solidFill>
          <a:ln>
            <a:noFill/>
          </a:ln>
          <a:effectLst/>
        </p:spPr>
        <p:txBody>
          <a:bodyPr rtlCol="0" anchor="ctr"/>
          <a:lstStyle/>
          <a:p>
            <a:pPr algn="ctr"/>
          </a:p>
        </p:txBody>
      </p:sp>
      <p:sp>
        <p:nvSpPr>
          <p:cNvPr id="70" name="Person dot"/>
          <p:cNvSpPr/>
          <p:nvPr/>
        </p:nvSpPr>
        <p:spPr>
          <a:xfrm>
            <a:off x="10594238" y="2468880"/>
            <a:ext cx="91440" cy="91440"/>
          </a:xfrm>
          <a:prstGeom prst="ellipse">
            <a:avLst/>
          </a:prstGeom>
          <a:solidFill>
            <a:srgbClr val="D4D4D4"/>
          </a:solidFill>
          <a:ln>
            <a:noFill/>
          </a:ln>
          <a:effectLst/>
        </p:spPr>
        <p:txBody>
          <a:bodyPr rtlCol="0" anchor="ctr"/>
          <a:lstStyle/>
          <a:p>
            <a:pPr algn="ctr"/>
          </a:p>
        </p:txBody>
      </p:sp>
      <p:sp>
        <p:nvSpPr>
          <p:cNvPr id="71" name="Person dot"/>
          <p:cNvSpPr/>
          <p:nvPr/>
        </p:nvSpPr>
        <p:spPr>
          <a:xfrm>
            <a:off x="10996574" y="2468880"/>
            <a:ext cx="91440" cy="91440"/>
          </a:xfrm>
          <a:prstGeom prst="ellipse">
            <a:avLst/>
          </a:prstGeom>
          <a:solidFill>
            <a:srgbClr val="D4D4D4"/>
          </a:solidFill>
          <a:ln>
            <a:noFill/>
          </a:ln>
          <a:effectLst/>
        </p:spPr>
        <p:txBody>
          <a:bodyPr rtlCol="0" anchor="ctr"/>
          <a:lstStyle/>
          <a:p>
            <a:pPr algn="ctr"/>
          </a:p>
        </p:txBody>
      </p:sp>
      <p:sp>
        <p:nvSpPr>
          <p:cNvPr id="72" name="Person dot"/>
          <p:cNvSpPr/>
          <p:nvPr/>
        </p:nvSpPr>
        <p:spPr>
          <a:xfrm>
            <a:off x="11398910" y="2468880"/>
            <a:ext cx="91440" cy="91440"/>
          </a:xfrm>
          <a:prstGeom prst="ellipse">
            <a:avLst/>
          </a:prstGeom>
          <a:solidFill>
            <a:srgbClr val="D4D4D4"/>
          </a:solidFill>
          <a:ln>
            <a:noFill/>
          </a:ln>
          <a:effectLst/>
        </p:spPr>
        <p:txBody>
          <a:bodyPr rtlCol="0" anchor="ctr"/>
          <a:lstStyle/>
          <a:p>
            <a:pPr algn="ctr"/>
          </a:p>
        </p:txBody>
      </p:sp>
      <p:sp>
        <p:nvSpPr>
          <p:cNvPr id="73" name="Person dot"/>
          <p:cNvSpPr/>
          <p:nvPr/>
        </p:nvSpPr>
        <p:spPr>
          <a:xfrm>
            <a:off x="7375550" y="2871216"/>
            <a:ext cx="91440" cy="91440"/>
          </a:xfrm>
          <a:prstGeom prst="ellipse">
            <a:avLst/>
          </a:prstGeom>
          <a:solidFill>
            <a:srgbClr val="D4D4D4"/>
          </a:solidFill>
          <a:ln>
            <a:noFill/>
          </a:ln>
          <a:effectLst/>
        </p:spPr>
        <p:txBody>
          <a:bodyPr rtlCol="0" anchor="ctr"/>
          <a:lstStyle/>
          <a:p>
            <a:pPr algn="ctr"/>
          </a:p>
        </p:txBody>
      </p:sp>
      <p:sp>
        <p:nvSpPr>
          <p:cNvPr id="74" name="Person dot"/>
          <p:cNvSpPr/>
          <p:nvPr/>
        </p:nvSpPr>
        <p:spPr>
          <a:xfrm>
            <a:off x="7777886" y="2871216"/>
            <a:ext cx="91440" cy="91440"/>
          </a:xfrm>
          <a:prstGeom prst="ellipse">
            <a:avLst/>
          </a:prstGeom>
          <a:solidFill>
            <a:srgbClr val="D4D4D4"/>
          </a:solidFill>
          <a:ln>
            <a:noFill/>
          </a:ln>
          <a:effectLst/>
        </p:spPr>
        <p:txBody>
          <a:bodyPr rtlCol="0" anchor="ctr"/>
          <a:lstStyle/>
          <a:p>
            <a:pPr algn="ctr"/>
          </a:p>
        </p:txBody>
      </p:sp>
      <p:sp>
        <p:nvSpPr>
          <p:cNvPr id="75" name="Person dot"/>
          <p:cNvSpPr/>
          <p:nvPr/>
        </p:nvSpPr>
        <p:spPr>
          <a:xfrm>
            <a:off x="8180222" y="2871216"/>
            <a:ext cx="91440" cy="91440"/>
          </a:xfrm>
          <a:prstGeom prst="ellipse">
            <a:avLst/>
          </a:prstGeom>
          <a:solidFill>
            <a:srgbClr val="D4D4D4"/>
          </a:solidFill>
          <a:ln>
            <a:noFill/>
          </a:ln>
          <a:effectLst/>
        </p:spPr>
        <p:txBody>
          <a:bodyPr rtlCol="0" anchor="ctr"/>
          <a:lstStyle/>
          <a:p>
            <a:pPr algn="ctr"/>
          </a:p>
        </p:txBody>
      </p:sp>
      <p:sp>
        <p:nvSpPr>
          <p:cNvPr id="76" name="Person dot"/>
          <p:cNvSpPr/>
          <p:nvPr/>
        </p:nvSpPr>
        <p:spPr>
          <a:xfrm>
            <a:off x="8582558" y="2871216"/>
            <a:ext cx="91440" cy="91440"/>
          </a:xfrm>
          <a:prstGeom prst="ellipse">
            <a:avLst/>
          </a:prstGeom>
          <a:solidFill>
            <a:srgbClr val="D4D4D4"/>
          </a:solidFill>
          <a:ln>
            <a:noFill/>
          </a:ln>
          <a:effectLst/>
        </p:spPr>
        <p:txBody>
          <a:bodyPr rtlCol="0" anchor="ctr"/>
          <a:lstStyle/>
          <a:p>
            <a:pPr algn="ctr"/>
          </a:p>
        </p:txBody>
      </p:sp>
      <p:sp>
        <p:nvSpPr>
          <p:cNvPr id="77" name="Signal ring"/>
          <p:cNvSpPr/>
          <p:nvPr/>
        </p:nvSpPr>
        <p:spPr>
          <a:xfrm>
            <a:off x="8911742" y="2798064"/>
            <a:ext cx="237744" cy="237744"/>
          </a:xfrm>
          <a:prstGeom prst="ellipse">
            <a:avLst/>
          </a:prstGeom>
          <a:noFill/>
          <a:ln w="28575">
            <a:solidFill>
              <a:srgbClr val="28A019"/>
            </a:solidFill>
          </a:ln>
          <a:effectLst/>
        </p:spPr>
        <p:txBody>
          <a:bodyPr rtlCol="0" anchor="ctr"/>
          <a:lstStyle/>
          <a:p>
            <a:pPr algn="ctr"/>
          </a:p>
        </p:txBody>
      </p:sp>
      <p:sp>
        <p:nvSpPr>
          <p:cNvPr id="78" name="Person dot"/>
          <p:cNvSpPr/>
          <p:nvPr/>
        </p:nvSpPr>
        <p:spPr>
          <a:xfrm>
            <a:off x="9387230" y="2871216"/>
            <a:ext cx="91440" cy="91440"/>
          </a:xfrm>
          <a:prstGeom prst="ellipse">
            <a:avLst/>
          </a:prstGeom>
          <a:solidFill>
            <a:srgbClr val="D4D4D4"/>
          </a:solidFill>
          <a:ln>
            <a:noFill/>
          </a:ln>
          <a:effectLst/>
        </p:spPr>
        <p:txBody>
          <a:bodyPr rtlCol="0" anchor="ctr"/>
          <a:lstStyle/>
          <a:p>
            <a:pPr algn="ctr"/>
          </a:p>
        </p:txBody>
      </p:sp>
      <p:sp>
        <p:nvSpPr>
          <p:cNvPr id="79" name="Person dot"/>
          <p:cNvSpPr/>
          <p:nvPr/>
        </p:nvSpPr>
        <p:spPr>
          <a:xfrm>
            <a:off x="9789566" y="2871216"/>
            <a:ext cx="91440" cy="91440"/>
          </a:xfrm>
          <a:prstGeom prst="ellipse">
            <a:avLst/>
          </a:prstGeom>
          <a:solidFill>
            <a:srgbClr val="D4D4D4"/>
          </a:solidFill>
          <a:ln>
            <a:noFill/>
          </a:ln>
          <a:effectLst/>
        </p:spPr>
        <p:txBody>
          <a:bodyPr rtlCol="0" anchor="ctr"/>
          <a:lstStyle/>
          <a:p>
            <a:pPr algn="ctr"/>
          </a:p>
        </p:txBody>
      </p:sp>
      <p:sp>
        <p:nvSpPr>
          <p:cNvPr id="80" name="Person dot"/>
          <p:cNvSpPr/>
          <p:nvPr/>
        </p:nvSpPr>
        <p:spPr>
          <a:xfrm>
            <a:off x="10191902" y="2871216"/>
            <a:ext cx="91440" cy="91440"/>
          </a:xfrm>
          <a:prstGeom prst="ellipse">
            <a:avLst/>
          </a:prstGeom>
          <a:solidFill>
            <a:srgbClr val="D4D4D4"/>
          </a:solidFill>
          <a:ln>
            <a:noFill/>
          </a:ln>
          <a:effectLst/>
        </p:spPr>
        <p:txBody>
          <a:bodyPr rtlCol="0" anchor="ctr"/>
          <a:lstStyle/>
          <a:p>
            <a:pPr algn="ctr"/>
          </a:p>
        </p:txBody>
      </p:sp>
      <p:sp>
        <p:nvSpPr>
          <p:cNvPr id="81" name="Person dot"/>
          <p:cNvSpPr/>
          <p:nvPr/>
        </p:nvSpPr>
        <p:spPr>
          <a:xfrm>
            <a:off x="10594238" y="2871216"/>
            <a:ext cx="91440" cy="91440"/>
          </a:xfrm>
          <a:prstGeom prst="ellipse">
            <a:avLst/>
          </a:prstGeom>
          <a:solidFill>
            <a:srgbClr val="D4D4D4"/>
          </a:solidFill>
          <a:ln>
            <a:noFill/>
          </a:ln>
          <a:effectLst/>
        </p:spPr>
        <p:txBody>
          <a:bodyPr rtlCol="0" anchor="ctr"/>
          <a:lstStyle/>
          <a:p>
            <a:pPr algn="ctr"/>
          </a:p>
        </p:txBody>
      </p:sp>
      <p:sp>
        <p:nvSpPr>
          <p:cNvPr id="82" name="Person dot"/>
          <p:cNvSpPr/>
          <p:nvPr/>
        </p:nvSpPr>
        <p:spPr>
          <a:xfrm>
            <a:off x="10996574" y="2871216"/>
            <a:ext cx="91440" cy="91440"/>
          </a:xfrm>
          <a:prstGeom prst="ellipse">
            <a:avLst/>
          </a:prstGeom>
          <a:solidFill>
            <a:srgbClr val="D4D4D4"/>
          </a:solidFill>
          <a:ln>
            <a:noFill/>
          </a:ln>
          <a:effectLst/>
        </p:spPr>
        <p:txBody>
          <a:bodyPr rtlCol="0" anchor="ctr"/>
          <a:lstStyle/>
          <a:p>
            <a:pPr algn="ctr"/>
          </a:p>
        </p:txBody>
      </p:sp>
      <p:sp>
        <p:nvSpPr>
          <p:cNvPr id="83" name="Person dot"/>
          <p:cNvSpPr/>
          <p:nvPr/>
        </p:nvSpPr>
        <p:spPr>
          <a:xfrm>
            <a:off x="11398910" y="2871216"/>
            <a:ext cx="91440" cy="91440"/>
          </a:xfrm>
          <a:prstGeom prst="ellipse">
            <a:avLst/>
          </a:prstGeom>
          <a:solidFill>
            <a:srgbClr val="D4D4D4"/>
          </a:solidFill>
          <a:ln>
            <a:noFill/>
          </a:ln>
          <a:effectLst/>
        </p:spPr>
        <p:txBody>
          <a:bodyPr rtlCol="0" anchor="ctr"/>
          <a:lstStyle/>
          <a:p>
            <a:pPr algn="ctr"/>
          </a:p>
        </p:txBody>
      </p:sp>
      <p:sp>
        <p:nvSpPr>
          <p:cNvPr id="84" name="Person dot"/>
          <p:cNvSpPr/>
          <p:nvPr/>
        </p:nvSpPr>
        <p:spPr>
          <a:xfrm>
            <a:off x="7375550" y="3273552"/>
            <a:ext cx="91440" cy="91440"/>
          </a:xfrm>
          <a:prstGeom prst="ellipse">
            <a:avLst/>
          </a:prstGeom>
          <a:solidFill>
            <a:srgbClr val="D4D4D4"/>
          </a:solidFill>
          <a:ln>
            <a:noFill/>
          </a:ln>
          <a:effectLst/>
        </p:spPr>
        <p:txBody>
          <a:bodyPr rtlCol="0" anchor="ctr"/>
          <a:lstStyle/>
          <a:p>
            <a:pPr algn="ctr"/>
          </a:p>
        </p:txBody>
      </p:sp>
      <p:sp>
        <p:nvSpPr>
          <p:cNvPr id="85" name="Person dot"/>
          <p:cNvSpPr/>
          <p:nvPr/>
        </p:nvSpPr>
        <p:spPr>
          <a:xfrm>
            <a:off x="7777886" y="3273552"/>
            <a:ext cx="91440" cy="91440"/>
          </a:xfrm>
          <a:prstGeom prst="ellipse">
            <a:avLst/>
          </a:prstGeom>
          <a:solidFill>
            <a:srgbClr val="D4D4D4"/>
          </a:solidFill>
          <a:ln>
            <a:noFill/>
          </a:ln>
          <a:effectLst/>
        </p:spPr>
        <p:txBody>
          <a:bodyPr rtlCol="0" anchor="ctr"/>
          <a:lstStyle/>
          <a:p>
            <a:pPr algn="ctr"/>
          </a:p>
        </p:txBody>
      </p:sp>
      <p:sp>
        <p:nvSpPr>
          <p:cNvPr id="86" name="Person dot"/>
          <p:cNvSpPr/>
          <p:nvPr/>
        </p:nvSpPr>
        <p:spPr>
          <a:xfrm>
            <a:off x="8180222" y="3273552"/>
            <a:ext cx="91440" cy="91440"/>
          </a:xfrm>
          <a:prstGeom prst="ellipse">
            <a:avLst/>
          </a:prstGeom>
          <a:solidFill>
            <a:srgbClr val="D4D4D4"/>
          </a:solidFill>
          <a:ln>
            <a:noFill/>
          </a:ln>
          <a:effectLst/>
        </p:spPr>
        <p:txBody>
          <a:bodyPr rtlCol="0" anchor="ctr"/>
          <a:lstStyle/>
          <a:p>
            <a:pPr algn="ctr"/>
          </a:p>
        </p:txBody>
      </p:sp>
      <p:sp>
        <p:nvSpPr>
          <p:cNvPr id="87" name="Signal dot"/>
          <p:cNvSpPr/>
          <p:nvPr/>
        </p:nvSpPr>
        <p:spPr>
          <a:xfrm>
            <a:off x="8564270" y="3255264"/>
            <a:ext cx="128016" cy="128016"/>
          </a:xfrm>
          <a:prstGeom prst="ellipse">
            <a:avLst/>
          </a:prstGeom>
          <a:solidFill>
            <a:srgbClr val="28A019"/>
          </a:solidFill>
          <a:ln>
            <a:noFill/>
          </a:ln>
          <a:effectLst/>
        </p:spPr>
        <p:txBody>
          <a:bodyPr rtlCol="0" anchor="ctr"/>
          <a:lstStyle/>
          <a:p>
            <a:pPr algn="ctr"/>
          </a:p>
        </p:txBody>
      </p:sp>
      <p:sp>
        <p:nvSpPr>
          <p:cNvPr id="88" name="Signal ring"/>
          <p:cNvSpPr/>
          <p:nvPr/>
        </p:nvSpPr>
        <p:spPr>
          <a:xfrm>
            <a:off x="8911742" y="3200400"/>
            <a:ext cx="237744" cy="237744"/>
          </a:xfrm>
          <a:prstGeom prst="ellipse">
            <a:avLst/>
          </a:prstGeom>
          <a:noFill/>
          <a:ln w="28575">
            <a:solidFill>
              <a:srgbClr val="28A019"/>
            </a:solidFill>
          </a:ln>
          <a:effectLst/>
        </p:spPr>
        <p:txBody>
          <a:bodyPr rtlCol="0" anchor="ctr"/>
          <a:lstStyle/>
          <a:p>
            <a:pPr algn="ctr"/>
          </a:p>
        </p:txBody>
      </p:sp>
      <p:sp>
        <p:nvSpPr>
          <p:cNvPr id="89" name="Signal ring"/>
          <p:cNvSpPr/>
          <p:nvPr/>
        </p:nvSpPr>
        <p:spPr>
          <a:xfrm>
            <a:off x="9314078" y="3200400"/>
            <a:ext cx="237744" cy="237744"/>
          </a:xfrm>
          <a:prstGeom prst="ellipse">
            <a:avLst/>
          </a:prstGeom>
          <a:noFill/>
          <a:ln w="28575">
            <a:solidFill>
              <a:srgbClr val="28A019"/>
            </a:solidFill>
          </a:ln>
          <a:effectLst/>
        </p:spPr>
        <p:txBody>
          <a:bodyPr rtlCol="0" anchor="ctr"/>
          <a:lstStyle/>
          <a:p>
            <a:pPr algn="ctr"/>
          </a:p>
        </p:txBody>
      </p:sp>
      <p:sp>
        <p:nvSpPr>
          <p:cNvPr id="90" name="Person dot"/>
          <p:cNvSpPr/>
          <p:nvPr/>
        </p:nvSpPr>
        <p:spPr>
          <a:xfrm>
            <a:off x="9789566" y="3273552"/>
            <a:ext cx="91440" cy="91440"/>
          </a:xfrm>
          <a:prstGeom prst="ellipse">
            <a:avLst/>
          </a:prstGeom>
          <a:solidFill>
            <a:srgbClr val="D4D4D4"/>
          </a:solidFill>
          <a:ln>
            <a:noFill/>
          </a:ln>
          <a:effectLst/>
        </p:spPr>
        <p:txBody>
          <a:bodyPr rtlCol="0" anchor="ctr"/>
          <a:lstStyle/>
          <a:p>
            <a:pPr algn="ctr"/>
          </a:p>
        </p:txBody>
      </p:sp>
      <p:sp>
        <p:nvSpPr>
          <p:cNvPr id="91" name="Signal dot"/>
          <p:cNvSpPr/>
          <p:nvPr/>
        </p:nvSpPr>
        <p:spPr>
          <a:xfrm>
            <a:off x="10173614" y="3255264"/>
            <a:ext cx="128016" cy="128016"/>
          </a:xfrm>
          <a:prstGeom prst="ellipse">
            <a:avLst/>
          </a:prstGeom>
          <a:solidFill>
            <a:srgbClr val="28A019"/>
          </a:solidFill>
          <a:ln>
            <a:noFill/>
          </a:ln>
          <a:effectLst/>
        </p:spPr>
        <p:txBody>
          <a:bodyPr rtlCol="0" anchor="ctr"/>
          <a:lstStyle/>
          <a:p>
            <a:pPr algn="ctr"/>
          </a:p>
        </p:txBody>
      </p:sp>
      <p:sp>
        <p:nvSpPr>
          <p:cNvPr id="92" name="Person dot"/>
          <p:cNvSpPr/>
          <p:nvPr/>
        </p:nvSpPr>
        <p:spPr>
          <a:xfrm>
            <a:off x="10594238" y="3273552"/>
            <a:ext cx="91440" cy="91440"/>
          </a:xfrm>
          <a:prstGeom prst="ellipse">
            <a:avLst/>
          </a:prstGeom>
          <a:solidFill>
            <a:srgbClr val="D4D4D4"/>
          </a:solidFill>
          <a:ln>
            <a:noFill/>
          </a:ln>
          <a:effectLst/>
        </p:spPr>
        <p:txBody>
          <a:bodyPr rtlCol="0" anchor="ctr"/>
          <a:lstStyle/>
          <a:p>
            <a:pPr algn="ctr"/>
          </a:p>
        </p:txBody>
      </p:sp>
      <p:sp>
        <p:nvSpPr>
          <p:cNvPr id="93" name="Person dot"/>
          <p:cNvSpPr/>
          <p:nvPr/>
        </p:nvSpPr>
        <p:spPr>
          <a:xfrm>
            <a:off x="10996574" y="3273552"/>
            <a:ext cx="91440" cy="91440"/>
          </a:xfrm>
          <a:prstGeom prst="ellipse">
            <a:avLst/>
          </a:prstGeom>
          <a:solidFill>
            <a:srgbClr val="D4D4D4"/>
          </a:solidFill>
          <a:ln>
            <a:noFill/>
          </a:ln>
          <a:effectLst/>
        </p:spPr>
        <p:txBody>
          <a:bodyPr rtlCol="0" anchor="ctr"/>
          <a:lstStyle/>
          <a:p>
            <a:pPr algn="ctr"/>
          </a:p>
        </p:txBody>
      </p:sp>
      <p:sp>
        <p:nvSpPr>
          <p:cNvPr id="94" name="Person dot"/>
          <p:cNvSpPr/>
          <p:nvPr/>
        </p:nvSpPr>
        <p:spPr>
          <a:xfrm>
            <a:off x="11398910" y="3273552"/>
            <a:ext cx="91440" cy="91440"/>
          </a:xfrm>
          <a:prstGeom prst="ellipse">
            <a:avLst/>
          </a:prstGeom>
          <a:solidFill>
            <a:srgbClr val="D4D4D4"/>
          </a:solidFill>
          <a:ln>
            <a:noFill/>
          </a:ln>
          <a:effectLst/>
        </p:spPr>
        <p:txBody>
          <a:bodyPr rtlCol="0" anchor="ctr"/>
          <a:lstStyle/>
          <a:p>
            <a:pPr algn="ctr"/>
          </a:p>
        </p:txBody>
      </p:sp>
      <p:sp>
        <p:nvSpPr>
          <p:cNvPr id="95" name="Person dot"/>
          <p:cNvSpPr/>
          <p:nvPr/>
        </p:nvSpPr>
        <p:spPr>
          <a:xfrm>
            <a:off x="7375550" y="3675888"/>
            <a:ext cx="91440" cy="91440"/>
          </a:xfrm>
          <a:prstGeom prst="ellipse">
            <a:avLst/>
          </a:prstGeom>
          <a:solidFill>
            <a:srgbClr val="D4D4D4"/>
          </a:solidFill>
          <a:ln>
            <a:noFill/>
          </a:ln>
          <a:effectLst/>
        </p:spPr>
        <p:txBody>
          <a:bodyPr rtlCol="0" anchor="ctr"/>
          <a:lstStyle/>
          <a:p>
            <a:pPr algn="ctr"/>
          </a:p>
        </p:txBody>
      </p:sp>
      <p:sp>
        <p:nvSpPr>
          <p:cNvPr id="96" name="Person dot"/>
          <p:cNvSpPr/>
          <p:nvPr/>
        </p:nvSpPr>
        <p:spPr>
          <a:xfrm>
            <a:off x="7777886" y="3675888"/>
            <a:ext cx="91440" cy="91440"/>
          </a:xfrm>
          <a:prstGeom prst="ellipse">
            <a:avLst/>
          </a:prstGeom>
          <a:solidFill>
            <a:srgbClr val="D4D4D4"/>
          </a:solidFill>
          <a:ln>
            <a:noFill/>
          </a:ln>
          <a:effectLst/>
        </p:spPr>
        <p:txBody>
          <a:bodyPr rtlCol="0" anchor="ctr"/>
          <a:lstStyle/>
          <a:p>
            <a:pPr algn="ctr"/>
          </a:p>
        </p:txBody>
      </p:sp>
      <p:sp>
        <p:nvSpPr>
          <p:cNvPr id="97" name="Person dot"/>
          <p:cNvSpPr/>
          <p:nvPr/>
        </p:nvSpPr>
        <p:spPr>
          <a:xfrm>
            <a:off x="8180222" y="3675888"/>
            <a:ext cx="91440" cy="91440"/>
          </a:xfrm>
          <a:prstGeom prst="ellipse">
            <a:avLst/>
          </a:prstGeom>
          <a:solidFill>
            <a:srgbClr val="D4D4D4"/>
          </a:solidFill>
          <a:ln>
            <a:noFill/>
          </a:ln>
          <a:effectLst/>
        </p:spPr>
        <p:txBody>
          <a:bodyPr rtlCol="0" anchor="ctr"/>
          <a:lstStyle/>
          <a:p>
            <a:pPr algn="ctr"/>
          </a:p>
        </p:txBody>
      </p:sp>
      <p:sp>
        <p:nvSpPr>
          <p:cNvPr id="98" name="Person dot"/>
          <p:cNvSpPr/>
          <p:nvPr/>
        </p:nvSpPr>
        <p:spPr>
          <a:xfrm>
            <a:off x="8582558" y="3675888"/>
            <a:ext cx="91440" cy="91440"/>
          </a:xfrm>
          <a:prstGeom prst="ellipse">
            <a:avLst/>
          </a:prstGeom>
          <a:solidFill>
            <a:srgbClr val="D4D4D4"/>
          </a:solidFill>
          <a:ln>
            <a:noFill/>
          </a:ln>
          <a:effectLst/>
        </p:spPr>
        <p:txBody>
          <a:bodyPr rtlCol="0" anchor="ctr"/>
          <a:lstStyle/>
          <a:p>
            <a:pPr algn="ctr"/>
          </a:p>
        </p:txBody>
      </p:sp>
      <p:sp>
        <p:nvSpPr>
          <p:cNvPr id="99" name="Person dot"/>
          <p:cNvSpPr/>
          <p:nvPr/>
        </p:nvSpPr>
        <p:spPr>
          <a:xfrm>
            <a:off x="8984894" y="3675888"/>
            <a:ext cx="91440" cy="91440"/>
          </a:xfrm>
          <a:prstGeom prst="ellipse">
            <a:avLst/>
          </a:prstGeom>
          <a:solidFill>
            <a:srgbClr val="D4D4D4"/>
          </a:solidFill>
          <a:ln>
            <a:noFill/>
          </a:ln>
          <a:effectLst/>
        </p:spPr>
        <p:txBody>
          <a:bodyPr rtlCol="0" anchor="ctr"/>
          <a:lstStyle/>
          <a:p>
            <a:pPr algn="ctr"/>
          </a:p>
        </p:txBody>
      </p:sp>
      <p:sp>
        <p:nvSpPr>
          <p:cNvPr id="100" name="Person dot"/>
          <p:cNvSpPr/>
          <p:nvPr/>
        </p:nvSpPr>
        <p:spPr>
          <a:xfrm>
            <a:off x="9387230" y="3675888"/>
            <a:ext cx="91440" cy="91440"/>
          </a:xfrm>
          <a:prstGeom prst="ellipse">
            <a:avLst/>
          </a:prstGeom>
          <a:solidFill>
            <a:srgbClr val="D4D4D4"/>
          </a:solidFill>
          <a:ln>
            <a:noFill/>
          </a:ln>
          <a:effectLst/>
        </p:spPr>
        <p:txBody>
          <a:bodyPr rtlCol="0" anchor="ctr"/>
          <a:lstStyle/>
          <a:p>
            <a:pPr algn="ctr"/>
          </a:p>
        </p:txBody>
      </p:sp>
      <p:sp>
        <p:nvSpPr>
          <p:cNvPr id="101" name="Signal dot"/>
          <p:cNvSpPr/>
          <p:nvPr/>
        </p:nvSpPr>
        <p:spPr>
          <a:xfrm>
            <a:off x="9771278" y="3657600"/>
            <a:ext cx="128016" cy="128016"/>
          </a:xfrm>
          <a:prstGeom prst="ellipse">
            <a:avLst/>
          </a:prstGeom>
          <a:solidFill>
            <a:srgbClr val="28A019"/>
          </a:solidFill>
          <a:ln>
            <a:noFill/>
          </a:ln>
          <a:effectLst/>
        </p:spPr>
        <p:txBody>
          <a:bodyPr rtlCol="0" anchor="ctr"/>
          <a:lstStyle/>
          <a:p>
            <a:pPr algn="ctr"/>
          </a:p>
        </p:txBody>
      </p:sp>
      <p:sp>
        <p:nvSpPr>
          <p:cNvPr id="102" name="Signal dot"/>
          <p:cNvSpPr/>
          <p:nvPr/>
        </p:nvSpPr>
        <p:spPr>
          <a:xfrm>
            <a:off x="10173614" y="3657600"/>
            <a:ext cx="128016" cy="128016"/>
          </a:xfrm>
          <a:prstGeom prst="ellipse">
            <a:avLst/>
          </a:prstGeom>
          <a:solidFill>
            <a:srgbClr val="28A019"/>
          </a:solidFill>
          <a:ln>
            <a:noFill/>
          </a:ln>
          <a:effectLst/>
        </p:spPr>
        <p:txBody>
          <a:bodyPr rtlCol="0" anchor="ctr"/>
          <a:lstStyle/>
          <a:p>
            <a:pPr algn="ctr"/>
          </a:p>
        </p:txBody>
      </p:sp>
      <p:sp>
        <p:nvSpPr>
          <p:cNvPr id="103" name="Person dot"/>
          <p:cNvSpPr/>
          <p:nvPr/>
        </p:nvSpPr>
        <p:spPr>
          <a:xfrm>
            <a:off x="10594238" y="3675888"/>
            <a:ext cx="91440" cy="91440"/>
          </a:xfrm>
          <a:prstGeom prst="ellipse">
            <a:avLst/>
          </a:prstGeom>
          <a:solidFill>
            <a:srgbClr val="D4D4D4"/>
          </a:solidFill>
          <a:ln>
            <a:noFill/>
          </a:ln>
          <a:effectLst/>
        </p:spPr>
        <p:txBody>
          <a:bodyPr rtlCol="0" anchor="ctr"/>
          <a:lstStyle/>
          <a:p>
            <a:pPr algn="ctr"/>
          </a:p>
        </p:txBody>
      </p:sp>
      <p:sp>
        <p:nvSpPr>
          <p:cNvPr id="104" name="Person dot"/>
          <p:cNvSpPr/>
          <p:nvPr/>
        </p:nvSpPr>
        <p:spPr>
          <a:xfrm>
            <a:off x="10996574" y="3675888"/>
            <a:ext cx="91440" cy="91440"/>
          </a:xfrm>
          <a:prstGeom prst="ellipse">
            <a:avLst/>
          </a:prstGeom>
          <a:solidFill>
            <a:srgbClr val="D4D4D4"/>
          </a:solidFill>
          <a:ln>
            <a:noFill/>
          </a:ln>
          <a:effectLst/>
        </p:spPr>
        <p:txBody>
          <a:bodyPr rtlCol="0" anchor="ctr"/>
          <a:lstStyle/>
          <a:p>
            <a:pPr algn="ctr"/>
          </a:p>
        </p:txBody>
      </p:sp>
      <p:sp>
        <p:nvSpPr>
          <p:cNvPr id="105" name="Person dot"/>
          <p:cNvSpPr/>
          <p:nvPr/>
        </p:nvSpPr>
        <p:spPr>
          <a:xfrm>
            <a:off x="11398910" y="3675888"/>
            <a:ext cx="91440" cy="91440"/>
          </a:xfrm>
          <a:prstGeom prst="ellipse">
            <a:avLst/>
          </a:prstGeom>
          <a:solidFill>
            <a:srgbClr val="D4D4D4"/>
          </a:solidFill>
          <a:ln>
            <a:noFill/>
          </a:ln>
          <a:effectLst/>
        </p:spPr>
        <p:txBody>
          <a:bodyPr rtlCol="0" anchor="ctr"/>
          <a:lstStyle/>
          <a:p>
            <a:pPr algn="ctr"/>
          </a:p>
        </p:txBody>
      </p:sp>
      <p:sp>
        <p:nvSpPr>
          <p:cNvPr id="106" name="Person dot"/>
          <p:cNvSpPr/>
          <p:nvPr/>
        </p:nvSpPr>
        <p:spPr>
          <a:xfrm>
            <a:off x="7375550" y="4078224"/>
            <a:ext cx="91440" cy="91440"/>
          </a:xfrm>
          <a:prstGeom prst="ellipse">
            <a:avLst/>
          </a:prstGeom>
          <a:solidFill>
            <a:srgbClr val="D4D4D4"/>
          </a:solidFill>
          <a:ln>
            <a:noFill/>
          </a:ln>
          <a:effectLst/>
        </p:spPr>
        <p:txBody>
          <a:bodyPr rtlCol="0" anchor="ctr"/>
          <a:lstStyle/>
          <a:p>
            <a:pPr algn="ctr"/>
          </a:p>
        </p:txBody>
      </p:sp>
      <p:sp>
        <p:nvSpPr>
          <p:cNvPr id="107" name="Person dot"/>
          <p:cNvSpPr/>
          <p:nvPr/>
        </p:nvSpPr>
        <p:spPr>
          <a:xfrm>
            <a:off x="7777886" y="4078224"/>
            <a:ext cx="91440" cy="91440"/>
          </a:xfrm>
          <a:prstGeom prst="ellipse">
            <a:avLst/>
          </a:prstGeom>
          <a:solidFill>
            <a:srgbClr val="D4D4D4"/>
          </a:solidFill>
          <a:ln>
            <a:noFill/>
          </a:ln>
          <a:effectLst/>
        </p:spPr>
        <p:txBody>
          <a:bodyPr rtlCol="0" anchor="ctr"/>
          <a:lstStyle/>
          <a:p>
            <a:pPr algn="ctr"/>
          </a:p>
        </p:txBody>
      </p:sp>
      <p:sp>
        <p:nvSpPr>
          <p:cNvPr id="108" name="Person dot"/>
          <p:cNvSpPr/>
          <p:nvPr/>
        </p:nvSpPr>
        <p:spPr>
          <a:xfrm>
            <a:off x="8180222" y="4078224"/>
            <a:ext cx="91440" cy="91440"/>
          </a:xfrm>
          <a:prstGeom prst="ellipse">
            <a:avLst/>
          </a:prstGeom>
          <a:solidFill>
            <a:srgbClr val="D4D4D4"/>
          </a:solidFill>
          <a:ln>
            <a:noFill/>
          </a:ln>
          <a:effectLst/>
        </p:spPr>
        <p:txBody>
          <a:bodyPr rtlCol="0" anchor="ctr"/>
          <a:lstStyle/>
          <a:p>
            <a:pPr algn="ctr"/>
          </a:p>
        </p:txBody>
      </p:sp>
      <p:sp>
        <p:nvSpPr>
          <p:cNvPr id="109" name="Person dot"/>
          <p:cNvSpPr/>
          <p:nvPr/>
        </p:nvSpPr>
        <p:spPr>
          <a:xfrm>
            <a:off x="8582558" y="4078224"/>
            <a:ext cx="91440" cy="91440"/>
          </a:xfrm>
          <a:prstGeom prst="ellipse">
            <a:avLst/>
          </a:prstGeom>
          <a:solidFill>
            <a:srgbClr val="D4D4D4"/>
          </a:solidFill>
          <a:ln>
            <a:noFill/>
          </a:ln>
          <a:effectLst/>
        </p:spPr>
        <p:txBody>
          <a:bodyPr rtlCol="0" anchor="ctr"/>
          <a:lstStyle/>
          <a:p>
            <a:pPr algn="ctr"/>
          </a:p>
        </p:txBody>
      </p:sp>
      <p:sp>
        <p:nvSpPr>
          <p:cNvPr id="110" name="Person dot"/>
          <p:cNvSpPr/>
          <p:nvPr/>
        </p:nvSpPr>
        <p:spPr>
          <a:xfrm>
            <a:off x="8984894" y="4078224"/>
            <a:ext cx="91440" cy="91440"/>
          </a:xfrm>
          <a:prstGeom prst="ellipse">
            <a:avLst/>
          </a:prstGeom>
          <a:solidFill>
            <a:srgbClr val="D4D4D4"/>
          </a:solidFill>
          <a:ln>
            <a:noFill/>
          </a:ln>
          <a:effectLst/>
        </p:spPr>
        <p:txBody>
          <a:bodyPr rtlCol="0" anchor="ctr"/>
          <a:lstStyle/>
          <a:p>
            <a:pPr algn="ctr"/>
          </a:p>
        </p:txBody>
      </p:sp>
      <p:sp>
        <p:nvSpPr>
          <p:cNvPr id="111" name="Person dot"/>
          <p:cNvSpPr/>
          <p:nvPr/>
        </p:nvSpPr>
        <p:spPr>
          <a:xfrm>
            <a:off x="9387230" y="4078224"/>
            <a:ext cx="91440" cy="91440"/>
          </a:xfrm>
          <a:prstGeom prst="ellipse">
            <a:avLst/>
          </a:prstGeom>
          <a:solidFill>
            <a:srgbClr val="D4D4D4"/>
          </a:solidFill>
          <a:ln>
            <a:noFill/>
          </a:ln>
          <a:effectLst/>
        </p:spPr>
        <p:txBody>
          <a:bodyPr rtlCol="0" anchor="ctr"/>
          <a:lstStyle/>
          <a:p>
            <a:pPr algn="ctr"/>
          </a:p>
        </p:txBody>
      </p:sp>
      <p:sp>
        <p:nvSpPr>
          <p:cNvPr id="112" name="Signal dot"/>
          <p:cNvSpPr/>
          <p:nvPr/>
        </p:nvSpPr>
        <p:spPr>
          <a:xfrm>
            <a:off x="9771278" y="4059935"/>
            <a:ext cx="128016" cy="128016"/>
          </a:xfrm>
          <a:prstGeom prst="ellipse">
            <a:avLst/>
          </a:prstGeom>
          <a:solidFill>
            <a:srgbClr val="28A019"/>
          </a:solidFill>
          <a:ln>
            <a:noFill/>
          </a:ln>
          <a:effectLst/>
        </p:spPr>
        <p:txBody>
          <a:bodyPr rtlCol="0" anchor="ctr"/>
          <a:lstStyle/>
          <a:p>
            <a:pPr algn="ctr"/>
          </a:p>
        </p:txBody>
      </p:sp>
      <p:sp>
        <p:nvSpPr>
          <p:cNvPr id="113" name="Signal ring"/>
          <p:cNvSpPr/>
          <p:nvPr/>
        </p:nvSpPr>
        <p:spPr>
          <a:xfrm>
            <a:off x="10118750" y="4005072"/>
            <a:ext cx="237744" cy="237744"/>
          </a:xfrm>
          <a:prstGeom prst="ellipse">
            <a:avLst/>
          </a:prstGeom>
          <a:noFill/>
          <a:ln w="28575">
            <a:solidFill>
              <a:srgbClr val="28A019"/>
            </a:solidFill>
          </a:ln>
          <a:effectLst/>
        </p:spPr>
        <p:txBody>
          <a:bodyPr rtlCol="0" anchor="ctr"/>
          <a:lstStyle/>
          <a:p>
            <a:pPr algn="ctr"/>
          </a:p>
        </p:txBody>
      </p:sp>
      <p:sp>
        <p:nvSpPr>
          <p:cNvPr id="114" name="Signal dot"/>
          <p:cNvSpPr/>
          <p:nvPr/>
        </p:nvSpPr>
        <p:spPr>
          <a:xfrm>
            <a:off x="10575950" y="4059935"/>
            <a:ext cx="128016" cy="128016"/>
          </a:xfrm>
          <a:prstGeom prst="ellipse">
            <a:avLst/>
          </a:prstGeom>
          <a:solidFill>
            <a:srgbClr val="28A019"/>
          </a:solidFill>
          <a:ln>
            <a:noFill/>
          </a:ln>
          <a:effectLst/>
        </p:spPr>
        <p:txBody>
          <a:bodyPr rtlCol="0" anchor="ctr"/>
          <a:lstStyle/>
          <a:p>
            <a:pPr algn="ctr"/>
          </a:p>
        </p:txBody>
      </p:sp>
      <p:sp>
        <p:nvSpPr>
          <p:cNvPr id="115" name="Person dot"/>
          <p:cNvSpPr/>
          <p:nvPr/>
        </p:nvSpPr>
        <p:spPr>
          <a:xfrm>
            <a:off x="10996574" y="4078224"/>
            <a:ext cx="91440" cy="91440"/>
          </a:xfrm>
          <a:prstGeom prst="ellipse">
            <a:avLst/>
          </a:prstGeom>
          <a:solidFill>
            <a:srgbClr val="D4D4D4"/>
          </a:solidFill>
          <a:ln>
            <a:noFill/>
          </a:ln>
          <a:effectLst/>
        </p:spPr>
        <p:txBody>
          <a:bodyPr rtlCol="0" anchor="ctr"/>
          <a:lstStyle/>
          <a:p>
            <a:pPr algn="ctr"/>
          </a:p>
        </p:txBody>
      </p:sp>
      <p:sp>
        <p:nvSpPr>
          <p:cNvPr id="116" name="Person dot"/>
          <p:cNvSpPr/>
          <p:nvPr/>
        </p:nvSpPr>
        <p:spPr>
          <a:xfrm>
            <a:off x="11398910" y="4078224"/>
            <a:ext cx="91440" cy="91440"/>
          </a:xfrm>
          <a:prstGeom prst="ellipse">
            <a:avLst/>
          </a:prstGeom>
          <a:solidFill>
            <a:srgbClr val="D4D4D4"/>
          </a:solidFill>
          <a:ln>
            <a:noFill/>
          </a:ln>
          <a:effectLst/>
        </p:spPr>
        <p:txBody>
          <a:bodyPr rtlCol="0" anchor="ctr"/>
          <a:lstStyle/>
          <a:p>
            <a:pPr algn="ctr"/>
          </a:p>
        </p:txBody>
      </p:sp>
      <p:sp>
        <p:nvSpPr>
          <p:cNvPr id="117" name="Person dot"/>
          <p:cNvSpPr/>
          <p:nvPr/>
        </p:nvSpPr>
        <p:spPr>
          <a:xfrm>
            <a:off x="7375550" y="4480560"/>
            <a:ext cx="91440" cy="91440"/>
          </a:xfrm>
          <a:prstGeom prst="ellipse">
            <a:avLst/>
          </a:prstGeom>
          <a:solidFill>
            <a:srgbClr val="D4D4D4"/>
          </a:solidFill>
          <a:ln>
            <a:noFill/>
          </a:ln>
          <a:effectLst/>
        </p:spPr>
        <p:txBody>
          <a:bodyPr rtlCol="0" anchor="ctr"/>
          <a:lstStyle/>
          <a:p>
            <a:pPr algn="ctr"/>
          </a:p>
        </p:txBody>
      </p:sp>
      <p:sp>
        <p:nvSpPr>
          <p:cNvPr id="118" name="Person dot"/>
          <p:cNvSpPr/>
          <p:nvPr/>
        </p:nvSpPr>
        <p:spPr>
          <a:xfrm>
            <a:off x="7777886" y="4480560"/>
            <a:ext cx="91440" cy="91440"/>
          </a:xfrm>
          <a:prstGeom prst="ellipse">
            <a:avLst/>
          </a:prstGeom>
          <a:solidFill>
            <a:srgbClr val="D4D4D4"/>
          </a:solidFill>
          <a:ln>
            <a:noFill/>
          </a:ln>
          <a:effectLst/>
        </p:spPr>
        <p:txBody>
          <a:bodyPr rtlCol="0" anchor="ctr"/>
          <a:lstStyle/>
          <a:p>
            <a:pPr algn="ctr"/>
          </a:p>
        </p:txBody>
      </p:sp>
      <p:sp>
        <p:nvSpPr>
          <p:cNvPr id="119" name="Person dot"/>
          <p:cNvSpPr/>
          <p:nvPr/>
        </p:nvSpPr>
        <p:spPr>
          <a:xfrm>
            <a:off x="8180222" y="4480560"/>
            <a:ext cx="91440" cy="91440"/>
          </a:xfrm>
          <a:prstGeom prst="ellipse">
            <a:avLst/>
          </a:prstGeom>
          <a:solidFill>
            <a:srgbClr val="D4D4D4"/>
          </a:solidFill>
          <a:ln>
            <a:noFill/>
          </a:ln>
          <a:effectLst/>
        </p:spPr>
        <p:txBody>
          <a:bodyPr rtlCol="0" anchor="ctr"/>
          <a:lstStyle/>
          <a:p>
            <a:pPr algn="ctr"/>
          </a:p>
        </p:txBody>
      </p:sp>
      <p:sp>
        <p:nvSpPr>
          <p:cNvPr id="120" name="Person dot"/>
          <p:cNvSpPr/>
          <p:nvPr/>
        </p:nvSpPr>
        <p:spPr>
          <a:xfrm>
            <a:off x="8582558" y="4480560"/>
            <a:ext cx="91440" cy="91440"/>
          </a:xfrm>
          <a:prstGeom prst="ellipse">
            <a:avLst/>
          </a:prstGeom>
          <a:solidFill>
            <a:srgbClr val="D4D4D4"/>
          </a:solidFill>
          <a:ln>
            <a:noFill/>
          </a:ln>
          <a:effectLst/>
        </p:spPr>
        <p:txBody>
          <a:bodyPr rtlCol="0" anchor="ctr"/>
          <a:lstStyle/>
          <a:p>
            <a:pPr algn="ctr"/>
          </a:p>
        </p:txBody>
      </p:sp>
      <p:sp>
        <p:nvSpPr>
          <p:cNvPr id="121" name="Person dot"/>
          <p:cNvSpPr/>
          <p:nvPr/>
        </p:nvSpPr>
        <p:spPr>
          <a:xfrm>
            <a:off x="8984894" y="4480560"/>
            <a:ext cx="91440" cy="91440"/>
          </a:xfrm>
          <a:prstGeom prst="ellipse">
            <a:avLst/>
          </a:prstGeom>
          <a:solidFill>
            <a:srgbClr val="D4D4D4"/>
          </a:solidFill>
          <a:ln>
            <a:noFill/>
          </a:ln>
          <a:effectLst/>
        </p:spPr>
        <p:txBody>
          <a:bodyPr rtlCol="0" anchor="ctr"/>
          <a:lstStyle/>
          <a:p>
            <a:pPr algn="ctr"/>
          </a:p>
        </p:txBody>
      </p:sp>
      <p:sp>
        <p:nvSpPr>
          <p:cNvPr id="122" name="Signal ring"/>
          <p:cNvSpPr/>
          <p:nvPr/>
        </p:nvSpPr>
        <p:spPr>
          <a:xfrm>
            <a:off x="9314078" y="4407408"/>
            <a:ext cx="237744" cy="237744"/>
          </a:xfrm>
          <a:prstGeom prst="ellipse">
            <a:avLst/>
          </a:prstGeom>
          <a:noFill/>
          <a:ln w="28575">
            <a:solidFill>
              <a:srgbClr val="28A019"/>
            </a:solidFill>
          </a:ln>
          <a:effectLst/>
        </p:spPr>
        <p:txBody>
          <a:bodyPr rtlCol="0" anchor="ctr"/>
          <a:lstStyle/>
          <a:p>
            <a:pPr algn="ctr"/>
          </a:p>
        </p:txBody>
      </p:sp>
      <p:sp>
        <p:nvSpPr>
          <p:cNvPr id="123" name="Person dot"/>
          <p:cNvSpPr/>
          <p:nvPr/>
        </p:nvSpPr>
        <p:spPr>
          <a:xfrm>
            <a:off x="9789566" y="4480560"/>
            <a:ext cx="91440" cy="91440"/>
          </a:xfrm>
          <a:prstGeom prst="ellipse">
            <a:avLst/>
          </a:prstGeom>
          <a:solidFill>
            <a:srgbClr val="D4D4D4"/>
          </a:solidFill>
          <a:ln>
            <a:noFill/>
          </a:ln>
          <a:effectLst/>
        </p:spPr>
        <p:txBody>
          <a:bodyPr rtlCol="0" anchor="ctr"/>
          <a:lstStyle/>
          <a:p>
            <a:pPr algn="ctr"/>
          </a:p>
        </p:txBody>
      </p:sp>
      <p:sp>
        <p:nvSpPr>
          <p:cNvPr id="124" name="Person dot"/>
          <p:cNvSpPr/>
          <p:nvPr/>
        </p:nvSpPr>
        <p:spPr>
          <a:xfrm>
            <a:off x="10191902" y="4480560"/>
            <a:ext cx="91440" cy="91440"/>
          </a:xfrm>
          <a:prstGeom prst="ellipse">
            <a:avLst/>
          </a:prstGeom>
          <a:solidFill>
            <a:srgbClr val="D4D4D4"/>
          </a:solidFill>
          <a:ln>
            <a:noFill/>
          </a:ln>
          <a:effectLst/>
        </p:spPr>
        <p:txBody>
          <a:bodyPr rtlCol="0" anchor="ctr"/>
          <a:lstStyle/>
          <a:p>
            <a:pPr algn="ctr"/>
          </a:p>
        </p:txBody>
      </p:sp>
      <p:sp>
        <p:nvSpPr>
          <p:cNvPr id="125" name="Person dot"/>
          <p:cNvSpPr/>
          <p:nvPr/>
        </p:nvSpPr>
        <p:spPr>
          <a:xfrm>
            <a:off x="10594238" y="4480560"/>
            <a:ext cx="91440" cy="91440"/>
          </a:xfrm>
          <a:prstGeom prst="ellipse">
            <a:avLst/>
          </a:prstGeom>
          <a:solidFill>
            <a:srgbClr val="D4D4D4"/>
          </a:solidFill>
          <a:ln>
            <a:noFill/>
          </a:ln>
          <a:effectLst/>
        </p:spPr>
        <p:txBody>
          <a:bodyPr rtlCol="0" anchor="ctr"/>
          <a:lstStyle/>
          <a:p>
            <a:pPr algn="ctr"/>
          </a:p>
        </p:txBody>
      </p:sp>
      <p:sp>
        <p:nvSpPr>
          <p:cNvPr id="126" name="Person dot"/>
          <p:cNvSpPr/>
          <p:nvPr/>
        </p:nvSpPr>
        <p:spPr>
          <a:xfrm>
            <a:off x="10996574" y="4480560"/>
            <a:ext cx="91440" cy="91440"/>
          </a:xfrm>
          <a:prstGeom prst="ellipse">
            <a:avLst/>
          </a:prstGeom>
          <a:solidFill>
            <a:srgbClr val="D4D4D4"/>
          </a:solidFill>
          <a:ln>
            <a:noFill/>
          </a:ln>
          <a:effectLst/>
        </p:spPr>
        <p:txBody>
          <a:bodyPr rtlCol="0" anchor="ctr"/>
          <a:lstStyle/>
          <a:p>
            <a:pPr algn="ctr"/>
          </a:p>
        </p:txBody>
      </p:sp>
      <p:sp>
        <p:nvSpPr>
          <p:cNvPr id="127" name="Person dot"/>
          <p:cNvSpPr/>
          <p:nvPr/>
        </p:nvSpPr>
        <p:spPr>
          <a:xfrm>
            <a:off x="11398910" y="4480560"/>
            <a:ext cx="91440" cy="91440"/>
          </a:xfrm>
          <a:prstGeom prst="ellipse">
            <a:avLst/>
          </a:prstGeom>
          <a:solidFill>
            <a:srgbClr val="D4D4D4"/>
          </a:solidFill>
          <a:ln>
            <a:noFill/>
          </a:ln>
          <a:effectLst/>
        </p:spPr>
        <p:txBody>
          <a:bodyPr rtlCol="0" anchor="ctr"/>
          <a:lstStyle/>
          <a:p>
            <a:pPr algn="ctr"/>
          </a:p>
        </p:txBody>
      </p:sp>
      <p:sp>
        <p:nvSpPr>
          <p:cNvPr id="128" name="Person dot"/>
          <p:cNvSpPr/>
          <p:nvPr/>
        </p:nvSpPr>
        <p:spPr>
          <a:xfrm>
            <a:off x="7375550" y="4882896"/>
            <a:ext cx="91440" cy="91440"/>
          </a:xfrm>
          <a:prstGeom prst="ellipse">
            <a:avLst/>
          </a:prstGeom>
          <a:solidFill>
            <a:srgbClr val="D4D4D4"/>
          </a:solidFill>
          <a:ln>
            <a:noFill/>
          </a:ln>
          <a:effectLst/>
        </p:spPr>
        <p:txBody>
          <a:bodyPr rtlCol="0" anchor="ctr"/>
          <a:lstStyle/>
          <a:p>
            <a:pPr algn="ctr"/>
          </a:p>
        </p:txBody>
      </p:sp>
      <p:sp>
        <p:nvSpPr>
          <p:cNvPr id="129" name="Person dot"/>
          <p:cNvSpPr/>
          <p:nvPr/>
        </p:nvSpPr>
        <p:spPr>
          <a:xfrm>
            <a:off x="7777886" y="4882896"/>
            <a:ext cx="91440" cy="91440"/>
          </a:xfrm>
          <a:prstGeom prst="ellipse">
            <a:avLst/>
          </a:prstGeom>
          <a:solidFill>
            <a:srgbClr val="D4D4D4"/>
          </a:solidFill>
          <a:ln>
            <a:noFill/>
          </a:ln>
          <a:effectLst/>
        </p:spPr>
        <p:txBody>
          <a:bodyPr rtlCol="0" anchor="ctr"/>
          <a:lstStyle/>
          <a:p>
            <a:pPr algn="ctr"/>
          </a:p>
        </p:txBody>
      </p:sp>
      <p:sp>
        <p:nvSpPr>
          <p:cNvPr id="130" name="Person dot"/>
          <p:cNvSpPr/>
          <p:nvPr/>
        </p:nvSpPr>
        <p:spPr>
          <a:xfrm>
            <a:off x="8180222" y="4882896"/>
            <a:ext cx="91440" cy="91440"/>
          </a:xfrm>
          <a:prstGeom prst="ellipse">
            <a:avLst/>
          </a:prstGeom>
          <a:solidFill>
            <a:srgbClr val="D4D4D4"/>
          </a:solidFill>
          <a:ln>
            <a:noFill/>
          </a:ln>
          <a:effectLst/>
        </p:spPr>
        <p:txBody>
          <a:bodyPr rtlCol="0" anchor="ctr"/>
          <a:lstStyle/>
          <a:p>
            <a:pPr algn="ctr"/>
          </a:p>
        </p:txBody>
      </p:sp>
      <p:sp>
        <p:nvSpPr>
          <p:cNvPr id="131" name="Person dot"/>
          <p:cNvSpPr/>
          <p:nvPr/>
        </p:nvSpPr>
        <p:spPr>
          <a:xfrm>
            <a:off x="8582558" y="4882896"/>
            <a:ext cx="91440" cy="91440"/>
          </a:xfrm>
          <a:prstGeom prst="ellipse">
            <a:avLst/>
          </a:prstGeom>
          <a:solidFill>
            <a:srgbClr val="D4D4D4"/>
          </a:solidFill>
          <a:ln>
            <a:noFill/>
          </a:ln>
          <a:effectLst/>
        </p:spPr>
        <p:txBody>
          <a:bodyPr rtlCol="0" anchor="ctr"/>
          <a:lstStyle/>
          <a:p>
            <a:pPr algn="ctr"/>
          </a:p>
        </p:txBody>
      </p:sp>
      <p:sp>
        <p:nvSpPr>
          <p:cNvPr id="132" name="Person dot"/>
          <p:cNvSpPr/>
          <p:nvPr/>
        </p:nvSpPr>
        <p:spPr>
          <a:xfrm>
            <a:off x="8984894" y="4882896"/>
            <a:ext cx="91440" cy="91440"/>
          </a:xfrm>
          <a:prstGeom prst="ellipse">
            <a:avLst/>
          </a:prstGeom>
          <a:solidFill>
            <a:srgbClr val="D4D4D4"/>
          </a:solidFill>
          <a:ln>
            <a:noFill/>
          </a:ln>
          <a:effectLst/>
        </p:spPr>
        <p:txBody>
          <a:bodyPr rtlCol="0" anchor="ctr"/>
          <a:lstStyle/>
          <a:p>
            <a:pPr algn="ctr"/>
          </a:p>
        </p:txBody>
      </p:sp>
      <p:sp>
        <p:nvSpPr>
          <p:cNvPr id="133" name="Person dot"/>
          <p:cNvSpPr/>
          <p:nvPr/>
        </p:nvSpPr>
        <p:spPr>
          <a:xfrm>
            <a:off x="9387230" y="4882896"/>
            <a:ext cx="91440" cy="91440"/>
          </a:xfrm>
          <a:prstGeom prst="ellipse">
            <a:avLst/>
          </a:prstGeom>
          <a:solidFill>
            <a:srgbClr val="D4D4D4"/>
          </a:solidFill>
          <a:ln>
            <a:noFill/>
          </a:ln>
          <a:effectLst/>
        </p:spPr>
        <p:txBody>
          <a:bodyPr rtlCol="0" anchor="ctr"/>
          <a:lstStyle/>
          <a:p>
            <a:pPr algn="ctr"/>
          </a:p>
        </p:txBody>
      </p:sp>
      <p:sp>
        <p:nvSpPr>
          <p:cNvPr id="134" name="Signal dot"/>
          <p:cNvSpPr/>
          <p:nvPr/>
        </p:nvSpPr>
        <p:spPr>
          <a:xfrm>
            <a:off x="9771278" y="4864607"/>
            <a:ext cx="128016" cy="128016"/>
          </a:xfrm>
          <a:prstGeom prst="ellipse">
            <a:avLst/>
          </a:prstGeom>
          <a:solidFill>
            <a:srgbClr val="28A019"/>
          </a:solidFill>
          <a:ln>
            <a:noFill/>
          </a:ln>
          <a:effectLst/>
        </p:spPr>
        <p:txBody>
          <a:bodyPr rtlCol="0" anchor="ctr"/>
          <a:lstStyle/>
          <a:p>
            <a:pPr algn="ctr"/>
          </a:p>
        </p:txBody>
      </p:sp>
      <p:sp>
        <p:nvSpPr>
          <p:cNvPr id="135" name="Person dot"/>
          <p:cNvSpPr/>
          <p:nvPr/>
        </p:nvSpPr>
        <p:spPr>
          <a:xfrm>
            <a:off x="10191902" y="4882896"/>
            <a:ext cx="91440" cy="91440"/>
          </a:xfrm>
          <a:prstGeom prst="ellipse">
            <a:avLst/>
          </a:prstGeom>
          <a:solidFill>
            <a:srgbClr val="D4D4D4"/>
          </a:solidFill>
          <a:ln>
            <a:noFill/>
          </a:ln>
          <a:effectLst/>
        </p:spPr>
        <p:txBody>
          <a:bodyPr rtlCol="0" anchor="ctr"/>
          <a:lstStyle/>
          <a:p>
            <a:pPr algn="ctr"/>
          </a:p>
        </p:txBody>
      </p:sp>
      <p:sp>
        <p:nvSpPr>
          <p:cNvPr id="136" name="Signal ring"/>
          <p:cNvSpPr/>
          <p:nvPr/>
        </p:nvSpPr>
        <p:spPr>
          <a:xfrm>
            <a:off x="10521086" y="4809744"/>
            <a:ext cx="237744" cy="237744"/>
          </a:xfrm>
          <a:prstGeom prst="ellipse">
            <a:avLst/>
          </a:prstGeom>
          <a:noFill/>
          <a:ln w="28575">
            <a:solidFill>
              <a:srgbClr val="28A019"/>
            </a:solidFill>
          </a:ln>
          <a:effectLst/>
        </p:spPr>
        <p:txBody>
          <a:bodyPr rtlCol="0" anchor="ctr"/>
          <a:lstStyle/>
          <a:p>
            <a:pPr algn="ctr"/>
          </a:p>
        </p:txBody>
      </p:sp>
      <p:sp>
        <p:nvSpPr>
          <p:cNvPr id="137" name="Signal ring"/>
          <p:cNvSpPr/>
          <p:nvPr/>
        </p:nvSpPr>
        <p:spPr>
          <a:xfrm>
            <a:off x="10923422" y="4809744"/>
            <a:ext cx="237744" cy="237744"/>
          </a:xfrm>
          <a:prstGeom prst="ellipse">
            <a:avLst/>
          </a:prstGeom>
          <a:noFill/>
          <a:ln w="28575">
            <a:solidFill>
              <a:srgbClr val="28A019"/>
            </a:solidFill>
          </a:ln>
          <a:effectLst/>
        </p:spPr>
        <p:txBody>
          <a:bodyPr rtlCol="0" anchor="ctr"/>
          <a:lstStyle/>
          <a:p>
            <a:pPr algn="ctr"/>
          </a:p>
        </p:txBody>
      </p:sp>
      <p:sp>
        <p:nvSpPr>
          <p:cNvPr id="138" name="Person dot"/>
          <p:cNvSpPr/>
          <p:nvPr/>
        </p:nvSpPr>
        <p:spPr>
          <a:xfrm>
            <a:off x="11398910" y="4882896"/>
            <a:ext cx="91440" cy="91440"/>
          </a:xfrm>
          <a:prstGeom prst="ellipse">
            <a:avLst/>
          </a:prstGeom>
          <a:solidFill>
            <a:srgbClr val="D4D4D4"/>
          </a:solidFill>
          <a:ln>
            <a:noFill/>
          </a:ln>
          <a:effectLst/>
        </p:spPr>
        <p:txBody>
          <a:bodyPr rtlCol="0" anchor="ctr"/>
          <a:lstStyle/>
          <a:p>
            <a:pPr algn="ctr"/>
          </a:p>
        </p:txBody>
      </p:sp>
      <p:sp>
        <p:nvSpPr>
          <p:cNvPr id="139" name="Person dot"/>
          <p:cNvSpPr/>
          <p:nvPr/>
        </p:nvSpPr>
        <p:spPr>
          <a:xfrm>
            <a:off x="7375550" y="5285232"/>
            <a:ext cx="91440" cy="91440"/>
          </a:xfrm>
          <a:prstGeom prst="ellipse">
            <a:avLst/>
          </a:prstGeom>
          <a:solidFill>
            <a:srgbClr val="D4D4D4"/>
          </a:solidFill>
          <a:ln>
            <a:noFill/>
          </a:ln>
          <a:effectLst/>
        </p:spPr>
        <p:txBody>
          <a:bodyPr rtlCol="0" anchor="ctr"/>
          <a:lstStyle/>
          <a:p>
            <a:pPr algn="ctr"/>
          </a:p>
        </p:txBody>
      </p:sp>
      <p:sp>
        <p:nvSpPr>
          <p:cNvPr id="140" name="Person dot"/>
          <p:cNvSpPr/>
          <p:nvPr/>
        </p:nvSpPr>
        <p:spPr>
          <a:xfrm>
            <a:off x="7777886" y="5285232"/>
            <a:ext cx="91440" cy="91440"/>
          </a:xfrm>
          <a:prstGeom prst="ellipse">
            <a:avLst/>
          </a:prstGeom>
          <a:solidFill>
            <a:srgbClr val="D4D4D4"/>
          </a:solidFill>
          <a:ln>
            <a:noFill/>
          </a:ln>
          <a:effectLst/>
        </p:spPr>
        <p:txBody>
          <a:bodyPr rtlCol="0" anchor="ctr"/>
          <a:lstStyle/>
          <a:p>
            <a:pPr algn="ctr"/>
          </a:p>
        </p:txBody>
      </p:sp>
      <p:sp>
        <p:nvSpPr>
          <p:cNvPr id="141" name="Person dot"/>
          <p:cNvSpPr/>
          <p:nvPr/>
        </p:nvSpPr>
        <p:spPr>
          <a:xfrm>
            <a:off x="8180222" y="5285232"/>
            <a:ext cx="91440" cy="91440"/>
          </a:xfrm>
          <a:prstGeom prst="ellipse">
            <a:avLst/>
          </a:prstGeom>
          <a:solidFill>
            <a:srgbClr val="D4D4D4"/>
          </a:solidFill>
          <a:ln>
            <a:noFill/>
          </a:ln>
          <a:effectLst/>
        </p:spPr>
        <p:txBody>
          <a:bodyPr rtlCol="0" anchor="ctr"/>
          <a:lstStyle/>
          <a:p>
            <a:pPr algn="ctr"/>
          </a:p>
        </p:txBody>
      </p:sp>
      <p:sp>
        <p:nvSpPr>
          <p:cNvPr id="142" name="Person dot"/>
          <p:cNvSpPr/>
          <p:nvPr/>
        </p:nvSpPr>
        <p:spPr>
          <a:xfrm>
            <a:off x="8582558" y="5285232"/>
            <a:ext cx="91440" cy="91440"/>
          </a:xfrm>
          <a:prstGeom prst="ellipse">
            <a:avLst/>
          </a:prstGeom>
          <a:solidFill>
            <a:srgbClr val="D4D4D4"/>
          </a:solidFill>
          <a:ln>
            <a:noFill/>
          </a:ln>
          <a:effectLst/>
        </p:spPr>
        <p:txBody>
          <a:bodyPr rtlCol="0" anchor="ctr"/>
          <a:lstStyle/>
          <a:p>
            <a:pPr algn="ctr"/>
          </a:p>
        </p:txBody>
      </p:sp>
      <p:sp>
        <p:nvSpPr>
          <p:cNvPr id="143" name="Person dot"/>
          <p:cNvSpPr/>
          <p:nvPr/>
        </p:nvSpPr>
        <p:spPr>
          <a:xfrm>
            <a:off x="8984894" y="5285232"/>
            <a:ext cx="91440" cy="91440"/>
          </a:xfrm>
          <a:prstGeom prst="ellipse">
            <a:avLst/>
          </a:prstGeom>
          <a:solidFill>
            <a:srgbClr val="D4D4D4"/>
          </a:solidFill>
          <a:ln>
            <a:noFill/>
          </a:ln>
          <a:effectLst/>
        </p:spPr>
        <p:txBody>
          <a:bodyPr rtlCol="0" anchor="ctr"/>
          <a:lstStyle/>
          <a:p>
            <a:pPr algn="ctr"/>
          </a:p>
        </p:txBody>
      </p:sp>
      <p:sp>
        <p:nvSpPr>
          <p:cNvPr id="144" name="Person dot"/>
          <p:cNvSpPr/>
          <p:nvPr/>
        </p:nvSpPr>
        <p:spPr>
          <a:xfrm>
            <a:off x="9387230" y="5285232"/>
            <a:ext cx="91440" cy="91440"/>
          </a:xfrm>
          <a:prstGeom prst="ellipse">
            <a:avLst/>
          </a:prstGeom>
          <a:solidFill>
            <a:srgbClr val="D4D4D4"/>
          </a:solidFill>
          <a:ln>
            <a:noFill/>
          </a:ln>
          <a:effectLst/>
        </p:spPr>
        <p:txBody>
          <a:bodyPr rtlCol="0" anchor="ctr"/>
          <a:lstStyle/>
          <a:p>
            <a:pPr algn="ctr"/>
          </a:p>
        </p:txBody>
      </p:sp>
      <p:sp>
        <p:nvSpPr>
          <p:cNvPr id="145" name="Person dot"/>
          <p:cNvSpPr/>
          <p:nvPr/>
        </p:nvSpPr>
        <p:spPr>
          <a:xfrm>
            <a:off x="9789566" y="5285232"/>
            <a:ext cx="91440" cy="91440"/>
          </a:xfrm>
          <a:prstGeom prst="ellipse">
            <a:avLst/>
          </a:prstGeom>
          <a:solidFill>
            <a:srgbClr val="D4D4D4"/>
          </a:solidFill>
          <a:ln>
            <a:noFill/>
          </a:ln>
          <a:effectLst/>
        </p:spPr>
        <p:txBody>
          <a:bodyPr rtlCol="0" anchor="ctr"/>
          <a:lstStyle/>
          <a:p>
            <a:pPr algn="ctr"/>
          </a:p>
        </p:txBody>
      </p:sp>
      <p:sp>
        <p:nvSpPr>
          <p:cNvPr id="146" name="Person dot"/>
          <p:cNvSpPr/>
          <p:nvPr/>
        </p:nvSpPr>
        <p:spPr>
          <a:xfrm>
            <a:off x="10191902" y="5285232"/>
            <a:ext cx="91440" cy="91440"/>
          </a:xfrm>
          <a:prstGeom prst="ellipse">
            <a:avLst/>
          </a:prstGeom>
          <a:solidFill>
            <a:srgbClr val="D4D4D4"/>
          </a:solidFill>
          <a:ln>
            <a:noFill/>
          </a:ln>
          <a:effectLst/>
        </p:spPr>
        <p:txBody>
          <a:bodyPr rtlCol="0" anchor="ctr"/>
          <a:lstStyle/>
          <a:p>
            <a:pPr algn="ctr"/>
          </a:p>
        </p:txBody>
      </p:sp>
      <p:sp>
        <p:nvSpPr>
          <p:cNvPr id="147" name="Person dot"/>
          <p:cNvSpPr/>
          <p:nvPr/>
        </p:nvSpPr>
        <p:spPr>
          <a:xfrm>
            <a:off x="10594238" y="5285232"/>
            <a:ext cx="91440" cy="91440"/>
          </a:xfrm>
          <a:prstGeom prst="ellipse">
            <a:avLst/>
          </a:prstGeom>
          <a:solidFill>
            <a:srgbClr val="D4D4D4"/>
          </a:solidFill>
          <a:ln>
            <a:noFill/>
          </a:ln>
          <a:effectLst/>
        </p:spPr>
        <p:txBody>
          <a:bodyPr rtlCol="0" anchor="ctr"/>
          <a:lstStyle/>
          <a:p>
            <a:pPr algn="ctr"/>
          </a:p>
        </p:txBody>
      </p:sp>
      <p:sp>
        <p:nvSpPr>
          <p:cNvPr id="148" name="Person dot"/>
          <p:cNvSpPr/>
          <p:nvPr/>
        </p:nvSpPr>
        <p:spPr>
          <a:xfrm>
            <a:off x="10996574" y="5285232"/>
            <a:ext cx="91440" cy="91440"/>
          </a:xfrm>
          <a:prstGeom prst="ellipse">
            <a:avLst/>
          </a:prstGeom>
          <a:solidFill>
            <a:srgbClr val="D4D4D4"/>
          </a:solidFill>
          <a:ln>
            <a:noFill/>
          </a:ln>
          <a:effectLst/>
        </p:spPr>
        <p:txBody>
          <a:bodyPr rtlCol="0" anchor="ctr"/>
          <a:lstStyle/>
          <a:p>
            <a:pPr algn="ctr"/>
          </a:p>
        </p:txBody>
      </p:sp>
      <p:sp>
        <p:nvSpPr>
          <p:cNvPr id="149" name="Person dot"/>
          <p:cNvSpPr/>
          <p:nvPr/>
        </p:nvSpPr>
        <p:spPr>
          <a:xfrm>
            <a:off x="11398910" y="5285232"/>
            <a:ext cx="91440" cy="91440"/>
          </a:xfrm>
          <a:prstGeom prst="ellipse">
            <a:avLst/>
          </a:prstGeom>
          <a:solidFill>
            <a:srgbClr val="D4D4D4"/>
          </a:solidFill>
          <a:ln>
            <a:noFill/>
          </a:ln>
          <a:effectLst/>
        </p:spPr>
        <p:txBody>
          <a:bodyPr rtlCol="0" anchor="ctr"/>
          <a:lstStyle/>
          <a:p>
            <a:pPr algn="ctr"/>
          </a:p>
        </p:txBody>
      </p:sp>
      <p:sp>
        <p:nvSpPr>
          <p:cNvPr id="150" name="Person dot"/>
          <p:cNvSpPr/>
          <p:nvPr/>
        </p:nvSpPr>
        <p:spPr>
          <a:xfrm>
            <a:off x="7375550" y="5687568"/>
            <a:ext cx="91440" cy="91440"/>
          </a:xfrm>
          <a:prstGeom prst="ellipse">
            <a:avLst/>
          </a:prstGeom>
          <a:solidFill>
            <a:srgbClr val="D4D4D4"/>
          </a:solidFill>
          <a:ln>
            <a:noFill/>
          </a:ln>
          <a:effectLst/>
        </p:spPr>
        <p:txBody>
          <a:bodyPr rtlCol="0" anchor="ctr"/>
          <a:lstStyle/>
          <a:p>
            <a:pPr algn="ctr"/>
          </a:p>
        </p:txBody>
      </p:sp>
      <p:sp>
        <p:nvSpPr>
          <p:cNvPr id="151" name="Person dot"/>
          <p:cNvSpPr/>
          <p:nvPr/>
        </p:nvSpPr>
        <p:spPr>
          <a:xfrm>
            <a:off x="7777886" y="5687568"/>
            <a:ext cx="91440" cy="91440"/>
          </a:xfrm>
          <a:prstGeom prst="ellipse">
            <a:avLst/>
          </a:prstGeom>
          <a:solidFill>
            <a:srgbClr val="D4D4D4"/>
          </a:solidFill>
          <a:ln>
            <a:noFill/>
          </a:ln>
          <a:effectLst/>
        </p:spPr>
        <p:txBody>
          <a:bodyPr rtlCol="0" anchor="ctr"/>
          <a:lstStyle/>
          <a:p>
            <a:pPr algn="ctr"/>
          </a:p>
        </p:txBody>
      </p:sp>
      <p:sp>
        <p:nvSpPr>
          <p:cNvPr id="152" name="Person dot"/>
          <p:cNvSpPr/>
          <p:nvPr/>
        </p:nvSpPr>
        <p:spPr>
          <a:xfrm>
            <a:off x="8180222" y="5687568"/>
            <a:ext cx="91440" cy="91440"/>
          </a:xfrm>
          <a:prstGeom prst="ellipse">
            <a:avLst/>
          </a:prstGeom>
          <a:solidFill>
            <a:srgbClr val="D4D4D4"/>
          </a:solidFill>
          <a:ln>
            <a:noFill/>
          </a:ln>
          <a:effectLst/>
        </p:spPr>
        <p:txBody>
          <a:bodyPr rtlCol="0" anchor="ctr"/>
          <a:lstStyle/>
          <a:p>
            <a:pPr algn="ctr"/>
          </a:p>
        </p:txBody>
      </p:sp>
      <p:sp>
        <p:nvSpPr>
          <p:cNvPr id="153" name="Person dot"/>
          <p:cNvSpPr/>
          <p:nvPr/>
        </p:nvSpPr>
        <p:spPr>
          <a:xfrm>
            <a:off x="8582558" y="5687568"/>
            <a:ext cx="91440" cy="91440"/>
          </a:xfrm>
          <a:prstGeom prst="ellipse">
            <a:avLst/>
          </a:prstGeom>
          <a:solidFill>
            <a:srgbClr val="D4D4D4"/>
          </a:solidFill>
          <a:ln>
            <a:noFill/>
          </a:ln>
          <a:effectLst/>
        </p:spPr>
        <p:txBody>
          <a:bodyPr rtlCol="0" anchor="ctr"/>
          <a:lstStyle/>
          <a:p>
            <a:pPr algn="ctr"/>
          </a:p>
        </p:txBody>
      </p:sp>
      <p:sp>
        <p:nvSpPr>
          <p:cNvPr id="154" name="Person dot"/>
          <p:cNvSpPr/>
          <p:nvPr/>
        </p:nvSpPr>
        <p:spPr>
          <a:xfrm>
            <a:off x="8984894" y="5687568"/>
            <a:ext cx="91440" cy="91440"/>
          </a:xfrm>
          <a:prstGeom prst="ellipse">
            <a:avLst/>
          </a:prstGeom>
          <a:solidFill>
            <a:srgbClr val="D4D4D4"/>
          </a:solidFill>
          <a:ln>
            <a:noFill/>
          </a:ln>
          <a:effectLst/>
        </p:spPr>
        <p:txBody>
          <a:bodyPr rtlCol="0" anchor="ctr"/>
          <a:lstStyle/>
          <a:p>
            <a:pPr algn="ctr"/>
          </a:p>
        </p:txBody>
      </p:sp>
      <p:sp>
        <p:nvSpPr>
          <p:cNvPr id="155" name="Person dot"/>
          <p:cNvSpPr/>
          <p:nvPr/>
        </p:nvSpPr>
        <p:spPr>
          <a:xfrm>
            <a:off x="9387230" y="5687568"/>
            <a:ext cx="91440" cy="91440"/>
          </a:xfrm>
          <a:prstGeom prst="ellipse">
            <a:avLst/>
          </a:prstGeom>
          <a:solidFill>
            <a:srgbClr val="D4D4D4"/>
          </a:solidFill>
          <a:ln>
            <a:noFill/>
          </a:ln>
          <a:effectLst/>
        </p:spPr>
        <p:txBody>
          <a:bodyPr rtlCol="0" anchor="ctr"/>
          <a:lstStyle/>
          <a:p>
            <a:pPr algn="ctr"/>
          </a:p>
        </p:txBody>
      </p:sp>
      <p:sp>
        <p:nvSpPr>
          <p:cNvPr id="156" name="Person dot"/>
          <p:cNvSpPr/>
          <p:nvPr/>
        </p:nvSpPr>
        <p:spPr>
          <a:xfrm>
            <a:off x="9789566" y="5687568"/>
            <a:ext cx="91440" cy="91440"/>
          </a:xfrm>
          <a:prstGeom prst="ellipse">
            <a:avLst/>
          </a:prstGeom>
          <a:solidFill>
            <a:srgbClr val="D4D4D4"/>
          </a:solidFill>
          <a:ln>
            <a:noFill/>
          </a:ln>
          <a:effectLst/>
        </p:spPr>
        <p:txBody>
          <a:bodyPr rtlCol="0" anchor="ctr"/>
          <a:lstStyle/>
          <a:p>
            <a:pPr algn="ctr"/>
          </a:p>
        </p:txBody>
      </p:sp>
      <p:sp>
        <p:nvSpPr>
          <p:cNvPr id="157" name="Person dot"/>
          <p:cNvSpPr/>
          <p:nvPr/>
        </p:nvSpPr>
        <p:spPr>
          <a:xfrm>
            <a:off x="10191902" y="5687568"/>
            <a:ext cx="91440" cy="91440"/>
          </a:xfrm>
          <a:prstGeom prst="ellipse">
            <a:avLst/>
          </a:prstGeom>
          <a:solidFill>
            <a:srgbClr val="D4D4D4"/>
          </a:solidFill>
          <a:ln>
            <a:noFill/>
          </a:ln>
          <a:effectLst/>
        </p:spPr>
        <p:txBody>
          <a:bodyPr rtlCol="0" anchor="ctr"/>
          <a:lstStyle/>
          <a:p>
            <a:pPr algn="ctr"/>
          </a:p>
        </p:txBody>
      </p:sp>
      <p:sp>
        <p:nvSpPr>
          <p:cNvPr id="158" name="Person dot"/>
          <p:cNvSpPr/>
          <p:nvPr/>
        </p:nvSpPr>
        <p:spPr>
          <a:xfrm>
            <a:off x="10594238" y="5687568"/>
            <a:ext cx="91440" cy="91440"/>
          </a:xfrm>
          <a:prstGeom prst="ellipse">
            <a:avLst/>
          </a:prstGeom>
          <a:solidFill>
            <a:srgbClr val="D4D4D4"/>
          </a:solidFill>
          <a:ln>
            <a:noFill/>
          </a:ln>
          <a:effectLst/>
        </p:spPr>
        <p:txBody>
          <a:bodyPr rtlCol="0" anchor="ctr"/>
          <a:lstStyle/>
          <a:p>
            <a:pPr algn="ctr"/>
          </a:p>
        </p:txBody>
      </p:sp>
      <p:sp>
        <p:nvSpPr>
          <p:cNvPr id="159" name="Person dot"/>
          <p:cNvSpPr/>
          <p:nvPr/>
        </p:nvSpPr>
        <p:spPr>
          <a:xfrm>
            <a:off x="10996574" y="5687568"/>
            <a:ext cx="91440" cy="91440"/>
          </a:xfrm>
          <a:prstGeom prst="ellipse">
            <a:avLst/>
          </a:prstGeom>
          <a:solidFill>
            <a:srgbClr val="D4D4D4"/>
          </a:solidFill>
          <a:ln>
            <a:noFill/>
          </a:ln>
          <a:effectLst/>
        </p:spPr>
        <p:txBody>
          <a:bodyPr rtlCol="0" anchor="ctr"/>
          <a:lstStyle/>
          <a:p>
            <a:pPr algn="ctr"/>
          </a:p>
        </p:txBody>
      </p:sp>
      <p:sp>
        <p:nvSpPr>
          <p:cNvPr id="160" name="Person dot"/>
          <p:cNvSpPr/>
          <p:nvPr/>
        </p:nvSpPr>
        <p:spPr>
          <a:xfrm>
            <a:off x="11398910" y="5687568"/>
            <a:ext cx="91440" cy="91440"/>
          </a:xfrm>
          <a:prstGeom prst="ellipse">
            <a:avLst/>
          </a:prstGeom>
          <a:solidFill>
            <a:srgbClr val="D4D4D4"/>
          </a:solidFill>
          <a:ln>
            <a:noFill/>
          </a:ln>
          <a:effectLst/>
        </p:spPr>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609904" y="457200"/>
            <a:ext cx="8171764"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1E7A13"/>
                </a:solidFill>
                <a:latin typeface="Arial"/>
              </a:rPr>
              <a:t>OPENING</a:t>
            </a:r>
          </a:p>
        </p:txBody>
      </p:sp>
      <p:pic>
        <p:nvPicPr>
          <p:cNvPr id="3" name="Picture 2" descr="logo-icon.png"/>
          <p:cNvPicPr>
            <a:picLocks noChangeAspect="1"/>
          </p:cNvPicPr>
          <p:nvPr/>
        </p:nvPicPr>
        <p:blipFill>
          <a:blip r:embed="rId2"/>
          <a:stretch>
            <a:fillRect/>
          </a:stretch>
        </p:blipFill>
        <p:spPr>
          <a:xfrm>
            <a:off x="609904" y="6382512"/>
            <a:ext cx="201168" cy="201168"/>
          </a:xfrm>
          <a:prstGeom prst="rect">
            <a:avLst/>
          </a:prstGeom>
        </p:spPr>
      </p:pic>
      <p:sp>
        <p:nvSpPr>
          <p:cNvPr id="4" name="Footer"/>
          <p:cNvSpPr txBox="1"/>
          <p:nvPr/>
        </p:nvSpPr>
        <p:spPr>
          <a:xfrm>
            <a:off x="902512" y="6382512"/>
            <a:ext cx="3657600" cy="201168"/>
          </a:xfrm>
          <a:prstGeom prst="rect">
            <a:avLst/>
          </a:prstGeom>
          <a:noFill/>
        </p:spPr>
        <p:txBody>
          <a:bodyPr wrap="square" lIns="0" rIns="0" tIns="0" bIns="0" anchor="ctr">
            <a:noAutofit/>
          </a:bodyPr>
          <a:lstStyle/>
          <a:p>
            <a:pPr algn="l">
              <a:lnSpc>
                <a:spcPct val="110000"/>
              </a:lnSpc>
              <a:spcAft>
                <a:spcPts val="0"/>
              </a:spcAft>
            </a:pPr>
            <a:r>
              <a:rPr sz="1100" b="0" i="0">
                <a:solidFill>
                  <a:srgbClr val="6B6B6B"/>
                </a:solidFill>
                <a:latin typeface="Arial"/>
              </a:rPr>
              <a:t>The Diagnose Conversation</a:t>
            </a:r>
          </a:p>
        </p:txBody>
      </p:sp>
      <p:sp>
        <p:nvSpPr>
          <p:cNvPr id="5" name="Page number"/>
          <p:cNvSpPr txBox="1"/>
          <p:nvPr/>
        </p:nvSpPr>
        <p:spPr>
          <a:xfrm>
            <a:off x="10210190" y="6382512"/>
            <a:ext cx="1371600" cy="201168"/>
          </a:xfrm>
          <a:prstGeom prst="rect">
            <a:avLst/>
          </a:prstGeom>
          <a:noFill/>
        </p:spPr>
        <p:txBody>
          <a:bodyPr wrap="square" lIns="0" rIns="0" tIns="0" bIns="0" anchor="ctr">
            <a:noAutofit/>
          </a:bodyPr>
          <a:lstStyle/>
          <a:p>
            <a:pPr algn="r">
              <a:lnSpc>
                <a:spcPct val="110000"/>
              </a:lnSpc>
              <a:spcAft>
                <a:spcPts val="0"/>
              </a:spcAft>
            </a:pPr>
            <a:r>
              <a:rPr sz="1100" b="0" i="0">
                <a:solidFill>
                  <a:srgbClr val="6B6B6B"/>
                </a:solidFill>
                <a:latin typeface="Arial"/>
              </a:rPr>
              <a:t>02 / 14</a:t>
            </a:r>
          </a:p>
        </p:txBody>
      </p:sp>
      <p:sp>
        <p:nvSpPr>
          <p:cNvPr id="6" name="Ask card"/>
          <p:cNvSpPr/>
          <p:nvPr/>
        </p:nvSpPr>
        <p:spPr>
          <a:xfrm>
            <a:off x="609904" y="960120"/>
            <a:ext cx="10971885" cy="1783080"/>
          </a:xfrm>
          <a:prstGeom prst="roundRect">
            <a:avLst>
              <a:gd name="adj" fmla="val 7179"/>
            </a:avLst>
          </a:prstGeom>
          <a:solidFill>
            <a:srgbClr val="28A019"/>
          </a:solidFill>
          <a:ln>
            <a:noFill/>
          </a:ln>
          <a:effectLst/>
        </p:spPr>
        <p:txBody>
          <a:bodyPr rtlCol="0" anchor="ctr"/>
          <a:lstStyle/>
          <a:p>
            <a:pPr algn="ctr"/>
          </a:p>
        </p:txBody>
      </p:sp>
      <p:sp>
        <p:nvSpPr>
          <p:cNvPr id="7" name="Ask card tail"/>
          <p:cNvSpPr/>
          <p:nvPr/>
        </p:nvSpPr>
        <p:spPr>
          <a:xfrm flipV="1">
            <a:off x="1112824" y="2734056"/>
            <a:ext cx="310896" cy="155448"/>
          </a:xfrm>
          <a:prstGeom prst="rtTriangle">
            <a:avLst/>
          </a:prstGeom>
          <a:solidFill>
            <a:srgbClr val="28A019"/>
          </a:solidFill>
          <a:ln>
            <a:noFill/>
          </a:ln>
          <a:effectLst/>
        </p:spPr>
        <p:txBody>
          <a:bodyPr rtlCol="0" anchor="ctr"/>
          <a:lstStyle/>
          <a:p>
            <a:pPr algn="ctr"/>
          </a:p>
        </p:txBody>
      </p:sp>
      <p:sp>
        <p:nvSpPr>
          <p:cNvPr id="8" name="Ask label"/>
          <p:cNvSpPr/>
          <p:nvPr/>
        </p:nvSpPr>
        <p:spPr>
          <a:xfrm>
            <a:off x="929944" y="1252728"/>
            <a:ext cx="841248" cy="310896"/>
          </a:xfrm>
          <a:prstGeom prst="roundRect">
            <a:avLst>
              <a:gd name="adj" fmla="val 50000"/>
            </a:avLst>
          </a:prstGeom>
          <a:solidFill>
            <a:srgbClr val="FFFFFF"/>
          </a:solidFill>
          <a:ln>
            <a:noFill/>
          </a:ln>
          <a:effectLst/>
        </p:spPr>
        <p:txBody>
          <a:bodyPr rtlCol="0" anchor="ctr"/>
          <a:lstStyle/>
          <a:p>
            <a:pPr algn="ctr"/>
          </a:p>
        </p:txBody>
      </p:sp>
      <p:pic>
        <p:nvPicPr>
          <p:cNvPr id="9" name="Icon message-circle" descr="message-circle-green7.png"/>
          <p:cNvPicPr>
            <a:picLocks noChangeAspect="1"/>
          </p:cNvPicPr>
          <p:nvPr/>
        </p:nvPicPr>
        <p:blipFill>
          <a:blip r:embed="rId3"/>
          <a:stretch>
            <a:fillRect/>
          </a:stretch>
        </p:blipFill>
        <p:spPr>
          <a:xfrm>
            <a:off x="1048816" y="1316736"/>
            <a:ext cx="182880" cy="182880"/>
          </a:xfrm>
          <a:prstGeom prst="rect">
            <a:avLst/>
          </a:prstGeom>
        </p:spPr>
      </p:pic>
      <p:sp>
        <p:nvSpPr>
          <p:cNvPr id="10" name="Ask label text"/>
          <p:cNvSpPr txBox="1"/>
          <p:nvPr/>
        </p:nvSpPr>
        <p:spPr>
          <a:xfrm>
            <a:off x="1277416" y="1252728"/>
            <a:ext cx="457200" cy="310896"/>
          </a:xfrm>
          <a:prstGeom prst="rect">
            <a:avLst/>
          </a:prstGeom>
          <a:noFill/>
        </p:spPr>
        <p:txBody>
          <a:bodyPr wrap="square" lIns="0" rIns="0" tIns="0" bIns="0" anchor="ctr">
            <a:noAutofit/>
          </a:bodyPr>
          <a:lstStyle/>
          <a:p>
            <a:pPr algn="l">
              <a:lnSpc>
                <a:spcPct val="110000"/>
              </a:lnSpc>
              <a:spcAft>
                <a:spcPts val="0"/>
              </a:spcAft>
            </a:pPr>
            <a:r>
              <a:rPr sz="1100" b="1" i="0" spc="200">
                <a:solidFill>
                  <a:srgbClr val="1E7A13"/>
                </a:solidFill>
                <a:latin typeface="Arial"/>
              </a:rPr>
              <a:t>ASK</a:t>
            </a:r>
          </a:p>
        </p:txBody>
      </p:sp>
      <p:sp>
        <p:nvSpPr>
          <p:cNvPr id="11" name="Ask question"/>
          <p:cNvSpPr txBox="1"/>
          <p:nvPr/>
        </p:nvSpPr>
        <p:spPr>
          <a:xfrm>
            <a:off x="929944" y="1764792"/>
            <a:ext cx="10331805" cy="704087"/>
          </a:xfrm>
          <a:prstGeom prst="rect">
            <a:avLst/>
          </a:prstGeom>
          <a:noFill/>
        </p:spPr>
        <p:txBody>
          <a:bodyPr wrap="square" lIns="0" rIns="0" tIns="0" bIns="0" anchor="t">
            <a:noAutofit/>
          </a:bodyPr>
          <a:lstStyle/>
          <a:p>
            <a:pPr algn="l">
              <a:lnSpc>
                <a:spcPct val="102000"/>
              </a:lnSpc>
              <a:spcAft>
                <a:spcPts val="600"/>
              </a:spcAft>
            </a:pPr>
            <a:r>
              <a:rPr sz="3000" b="1" i="0">
                <a:solidFill>
                  <a:srgbClr val="FFFFFF"/>
                </a:solidFill>
                <a:latin typeface="Arial"/>
              </a:rPr>
              <a:t>Where is the biggest risk in your transformation?</a:t>
            </a:r>
          </a:p>
        </p:txBody>
      </p:sp>
      <p:sp>
        <p:nvSpPr>
          <p:cNvPr id="12" name="Card"/>
          <p:cNvSpPr/>
          <p:nvPr/>
        </p:nvSpPr>
        <p:spPr>
          <a:xfrm>
            <a:off x="609904" y="3291840"/>
            <a:ext cx="3504895" cy="1874519"/>
          </a:xfrm>
          <a:prstGeom prst="roundRect">
            <a:avLst>
              <a:gd name="adj" fmla="val 5853"/>
            </a:avLst>
          </a:prstGeom>
          <a:solidFill>
            <a:srgbClr val="FFFFFF"/>
          </a:solidFill>
          <a:ln w="12700">
            <a:solidFill>
              <a:srgbClr val="E0E0E0"/>
            </a:solidFill>
          </a:ln>
          <a:effectLst/>
        </p:spPr>
        <p:txBody>
          <a:bodyPr rtlCol="0" anchor="ctr"/>
          <a:lstStyle/>
          <a:p>
            <a:pPr algn="ctr"/>
          </a:p>
        </p:txBody>
      </p:sp>
      <p:sp>
        <p:nvSpPr>
          <p:cNvPr id="13" name="Option ring"/>
          <p:cNvSpPr/>
          <p:nvPr/>
        </p:nvSpPr>
        <p:spPr>
          <a:xfrm>
            <a:off x="929944" y="3566160"/>
            <a:ext cx="384048" cy="384048"/>
          </a:xfrm>
          <a:prstGeom prst="ellipse">
            <a:avLst/>
          </a:prstGeom>
          <a:solidFill>
            <a:srgbClr val="FFFFFF"/>
          </a:solidFill>
          <a:ln w="28575">
            <a:solidFill>
              <a:srgbClr val="28A019"/>
            </a:solidFill>
          </a:ln>
          <a:effectLst/>
        </p:spPr>
        <p:txBody>
          <a:bodyPr rtlCol="0" anchor="ctr"/>
          <a:lstStyle/>
          <a:p>
            <a:pPr algn="ctr"/>
          </a:p>
        </p:txBody>
      </p:sp>
      <p:sp>
        <p:nvSpPr>
          <p:cNvPr id="14" name="Text"/>
          <p:cNvSpPr txBox="1"/>
          <p:nvPr/>
        </p:nvSpPr>
        <p:spPr>
          <a:xfrm>
            <a:off x="929944" y="4114800"/>
            <a:ext cx="2864815" cy="914400"/>
          </a:xfrm>
          <a:prstGeom prst="rect">
            <a:avLst/>
          </a:prstGeom>
          <a:noFill/>
        </p:spPr>
        <p:txBody>
          <a:bodyPr wrap="square" lIns="0" rIns="0" tIns="0" bIns="0" anchor="t">
            <a:noAutofit/>
          </a:bodyPr>
          <a:lstStyle/>
          <a:p>
            <a:pPr algn="l">
              <a:lnSpc>
                <a:spcPct val="105000"/>
              </a:lnSpc>
              <a:spcAft>
                <a:spcPts val="0"/>
              </a:spcAft>
            </a:pPr>
            <a:r>
              <a:rPr sz="2000" b="1" i="0">
                <a:solidFill>
                  <a:srgbClr val="1A1A1A"/>
                </a:solidFill>
                <a:latin typeface="Arial"/>
              </a:rPr>
              <a:t>The strategy itself</a:t>
            </a:r>
          </a:p>
        </p:txBody>
      </p:sp>
      <p:sp>
        <p:nvSpPr>
          <p:cNvPr id="15" name="Card"/>
          <p:cNvSpPr/>
          <p:nvPr/>
        </p:nvSpPr>
        <p:spPr>
          <a:xfrm>
            <a:off x="4343400" y="3291840"/>
            <a:ext cx="3504895" cy="1874519"/>
          </a:xfrm>
          <a:prstGeom prst="roundRect">
            <a:avLst>
              <a:gd name="adj" fmla="val 5853"/>
            </a:avLst>
          </a:prstGeom>
          <a:solidFill>
            <a:srgbClr val="FFFFFF"/>
          </a:solidFill>
          <a:ln w="12700">
            <a:solidFill>
              <a:srgbClr val="E0E0E0"/>
            </a:solidFill>
          </a:ln>
          <a:effectLst/>
        </p:spPr>
        <p:txBody>
          <a:bodyPr rtlCol="0" anchor="ctr"/>
          <a:lstStyle/>
          <a:p>
            <a:pPr algn="ctr"/>
          </a:p>
        </p:txBody>
      </p:sp>
      <p:sp>
        <p:nvSpPr>
          <p:cNvPr id="16" name="Option ring"/>
          <p:cNvSpPr/>
          <p:nvPr/>
        </p:nvSpPr>
        <p:spPr>
          <a:xfrm>
            <a:off x="4663440" y="3566160"/>
            <a:ext cx="384048" cy="384048"/>
          </a:xfrm>
          <a:prstGeom prst="ellipse">
            <a:avLst/>
          </a:prstGeom>
          <a:solidFill>
            <a:srgbClr val="FFFFFF"/>
          </a:solidFill>
          <a:ln w="28575">
            <a:solidFill>
              <a:srgbClr val="28A019"/>
            </a:solidFill>
          </a:ln>
          <a:effectLst/>
        </p:spPr>
        <p:txBody>
          <a:bodyPr rtlCol="0" anchor="ctr"/>
          <a:lstStyle/>
          <a:p>
            <a:pPr algn="ctr"/>
          </a:p>
        </p:txBody>
      </p:sp>
      <p:sp>
        <p:nvSpPr>
          <p:cNvPr id="17" name="Text"/>
          <p:cNvSpPr txBox="1"/>
          <p:nvPr/>
        </p:nvSpPr>
        <p:spPr>
          <a:xfrm>
            <a:off x="4663440" y="4114800"/>
            <a:ext cx="2864815" cy="914400"/>
          </a:xfrm>
          <a:prstGeom prst="rect">
            <a:avLst/>
          </a:prstGeom>
          <a:noFill/>
        </p:spPr>
        <p:txBody>
          <a:bodyPr wrap="square" lIns="0" rIns="0" tIns="0" bIns="0" anchor="t">
            <a:noAutofit/>
          </a:bodyPr>
          <a:lstStyle/>
          <a:p>
            <a:pPr algn="l">
              <a:lnSpc>
                <a:spcPct val="105000"/>
              </a:lnSpc>
              <a:spcAft>
                <a:spcPts val="0"/>
              </a:spcAft>
            </a:pPr>
            <a:r>
              <a:rPr sz="2000" b="1" i="0">
                <a:solidFill>
                  <a:srgbClr val="1A1A1A"/>
                </a:solidFill>
                <a:latin typeface="Arial"/>
              </a:rPr>
              <a:t>The technology and process</a:t>
            </a:r>
          </a:p>
        </p:txBody>
      </p:sp>
      <p:sp>
        <p:nvSpPr>
          <p:cNvPr id="18" name="Card"/>
          <p:cNvSpPr/>
          <p:nvPr/>
        </p:nvSpPr>
        <p:spPr>
          <a:xfrm>
            <a:off x="8076895" y="3291840"/>
            <a:ext cx="3504895" cy="1874519"/>
          </a:xfrm>
          <a:prstGeom prst="roundRect">
            <a:avLst>
              <a:gd name="adj" fmla="val 5853"/>
            </a:avLst>
          </a:prstGeom>
          <a:solidFill>
            <a:srgbClr val="FFFFFF"/>
          </a:solidFill>
          <a:ln w="12700">
            <a:solidFill>
              <a:srgbClr val="E0E0E0"/>
            </a:solidFill>
          </a:ln>
          <a:effectLst/>
        </p:spPr>
        <p:txBody>
          <a:bodyPr rtlCol="0" anchor="ctr"/>
          <a:lstStyle/>
          <a:p>
            <a:pPr algn="ctr"/>
          </a:p>
        </p:txBody>
      </p:sp>
      <p:sp>
        <p:nvSpPr>
          <p:cNvPr id="19" name="Option ring"/>
          <p:cNvSpPr/>
          <p:nvPr/>
        </p:nvSpPr>
        <p:spPr>
          <a:xfrm>
            <a:off x="8396935" y="3566160"/>
            <a:ext cx="384048" cy="384048"/>
          </a:xfrm>
          <a:prstGeom prst="ellipse">
            <a:avLst/>
          </a:prstGeom>
          <a:solidFill>
            <a:srgbClr val="FFFFFF"/>
          </a:solidFill>
          <a:ln w="28575">
            <a:solidFill>
              <a:srgbClr val="28A019"/>
            </a:solidFill>
          </a:ln>
          <a:effectLst/>
        </p:spPr>
        <p:txBody>
          <a:bodyPr rtlCol="0" anchor="ctr"/>
          <a:lstStyle/>
          <a:p>
            <a:pPr algn="ctr"/>
          </a:p>
        </p:txBody>
      </p:sp>
      <p:sp>
        <p:nvSpPr>
          <p:cNvPr id="20" name="Text"/>
          <p:cNvSpPr txBox="1"/>
          <p:nvPr/>
        </p:nvSpPr>
        <p:spPr>
          <a:xfrm>
            <a:off x="8396935" y="4114800"/>
            <a:ext cx="2864815" cy="914400"/>
          </a:xfrm>
          <a:prstGeom prst="rect">
            <a:avLst/>
          </a:prstGeom>
          <a:noFill/>
        </p:spPr>
        <p:txBody>
          <a:bodyPr wrap="square" lIns="0" rIns="0" tIns="0" bIns="0" anchor="t">
            <a:noAutofit/>
          </a:bodyPr>
          <a:lstStyle/>
          <a:p>
            <a:pPr algn="l">
              <a:lnSpc>
                <a:spcPct val="105000"/>
              </a:lnSpc>
              <a:spcAft>
                <a:spcPts val="0"/>
              </a:spcAft>
            </a:pPr>
            <a:r>
              <a:rPr sz="2000" b="1" i="0">
                <a:solidFill>
                  <a:srgbClr val="1A1A1A"/>
                </a:solidFill>
                <a:latin typeface="Arial"/>
              </a:rPr>
              <a:t>Getting the organization to work differently</a:t>
            </a:r>
          </a:p>
        </p:txBody>
      </p:sp>
      <p:sp>
        <p:nvSpPr>
          <p:cNvPr id="21" name="Text"/>
          <p:cNvSpPr txBox="1"/>
          <p:nvPr/>
        </p:nvSpPr>
        <p:spPr>
          <a:xfrm>
            <a:off x="609904" y="5486400"/>
            <a:ext cx="10971885" cy="274320"/>
          </a:xfrm>
          <a:prstGeom prst="rect">
            <a:avLst/>
          </a:prstGeom>
          <a:noFill/>
        </p:spPr>
        <p:txBody>
          <a:bodyPr wrap="square" lIns="0" rIns="0" tIns="0" bIns="0" anchor="t">
            <a:noAutofit/>
          </a:bodyPr>
          <a:lstStyle/>
          <a:p>
            <a:pPr algn="l">
              <a:lnSpc>
                <a:spcPct val="110000"/>
              </a:lnSpc>
              <a:spcAft>
                <a:spcPts val="0"/>
              </a:spcAft>
            </a:pPr>
            <a:r>
              <a:rPr sz="2000" b="0" i="0">
                <a:solidFill>
                  <a:srgbClr val="434343"/>
                </a:solidFill>
                <a:latin typeface="Arial"/>
              </a:rPr>
              <a:t>Pick one. There is no wrong answer.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609904" y="457200"/>
            <a:ext cx="8171764"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1E7A13"/>
                </a:solidFill>
                <a:latin typeface="Arial"/>
              </a:rPr>
              <a:t>THE PATTERN</a:t>
            </a:r>
          </a:p>
        </p:txBody>
      </p:sp>
      <p:sp>
        <p:nvSpPr>
          <p:cNvPr id="3" name="Headline"/>
          <p:cNvSpPr txBox="1"/>
          <p:nvPr/>
        </p:nvSpPr>
        <p:spPr>
          <a:xfrm>
            <a:off x="609904" y="731520"/>
            <a:ext cx="10038511" cy="960120"/>
          </a:xfrm>
          <a:prstGeom prst="rect">
            <a:avLst/>
          </a:prstGeom>
          <a:noFill/>
        </p:spPr>
        <p:txBody>
          <a:bodyPr wrap="square" lIns="0" rIns="0" tIns="0" bIns="0" anchor="t">
            <a:noAutofit/>
          </a:bodyPr>
          <a:lstStyle/>
          <a:p>
            <a:pPr algn="l">
              <a:lnSpc>
                <a:spcPct val="100000"/>
              </a:lnSpc>
              <a:spcAft>
                <a:spcPts val="0"/>
              </a:spcAft>
            </a:pPr>
            <a:r>
              <a:rPr sz="3000" b="1" i="0">
                <a:solidFill>
                  <a:srgbClr val="1A1A1A"/>
                </a:solidFill>
                <a:latin typeface="Arial"/>
              </a:rPr>
              <a:t>Strategy gets approved. Adoption is where transformations stall.</a:t>
            </a:r>
          </a:p>
        </p:txBody>
      </p:sp>
      <p:pic>
        <p:nvPicPr>
          <p:cNvPr id="4" name="Picture 3" descr="logo-icon.png"/>
          <p:cNvPicPr>
            <a:picLocks noChangeAspect="1"/>
          </p:cNvPicPr>
          <p:nvPr/>
        </p:nvPicPr>
        <p:blipFill>
          <a:blip r:embed="rId2"/>
          <a:stretch>
            <a:fillRect/>
          </a:stretch>
        </p:blipFill>
        <p:spPr>
          <a:xfrm>
            <a:off x="609904" y="6382512"/>
            <a:ext cx="201168" cy="201168"/>
          </a:xfrm>
          <a:prstGeom prst="rect">
            <a:avLst/>
          </a:prstGeom>
        </p:spPr>
      </p:pic>
      <p:sp>
        <p:nvSpPr>
          <p:cNvPr id="5" name="Footer"/>
          <p:cNvSpPr txBox="1"/>
          <p:nvPr/>
        </p:nvSpPr>
        <p:spPr>
          <a:xfrm>
            <a:off x="902512" y="6382512"/>
            <a:ext cx="3657600" cy="201168"/>
          </a:xfrm>
          <a:prstGeom prst="rect">
            <a:avLst/>
          </a:prstGeom>
          <a:noFill/>
        </p:spPr>
        <p:txBody>
          <a:bodyPr wrap="square" lIns="0" rIns="0" tIns="0" bIns="0" anchor="ctr">
            <a:noAutofit/>
          </a:bodyPr>
          <a:lstStyle/>
          <a:p>
            <a:pPr algn="l">
              <a:lnSpc>
                <a:spcPct val="110000"/>
              </a:lnSpc>
              <a:spcAft>
                <a:spcPts val="0"/>
              </a:spcAft>
            </a:pPr>
            <a:r>
              <a:rPr sz="1100" b="0" i="0">
                <a:solidFill>
                  <a:srgbClr val="6B6B6B"/>
                </a:solidFill>
                <a:latin typeface="Arial"/>
              </a:rPr>
              <a:t>The Diagnose Conversation</a:t>
            </a:r>
          </a:p>
        </p:txBody>
      </p:sp>
      <p:sp>
        <p:nvSpPr>
          <p:cNvPr id="6" name="Page number"/>
          <p:cNvSpPr txBox="1"/>
          <p:nvPr/>
        </p:nvSpPr>
        <p:spPr>
          <a:xfrm>
            <a:off x="10210190" y="6382512"/>
            <a:ext cx="1371600" cy="201168"/>
          </a:xfrm>
          <a:prstGeom prst="rect">
            <a:avLst/>
          </a:prstGeom>
          <a:noFill/>
        </p:spPr>
        <p:txBody>
          <a:bodyPr wrap="square" lIns="0" rIns="0" tIns="0" bIns="0" anchor="ctr">
            <a:noAutofit/>
          </a:bodyPr>
          <a:lstStyle/>
          <a:p>
            <a:pPr algn="r">
              <a:lnSpc>
                <a:spcPct val="110000"/>
              </a:lnSpc>
              <a:spcAft>
                <a:spcPts val="0"/>
              </a:spcAft>
            </a:pPr>
            <a:r>
              <a:rPr sz="1100" b="0" i="0">
                <a:solidFill>
                  <a:srgbClr val="6B6B6B"/>
                </a:solidFill>
                <a:latin typeface="Arial"/>
              </a:rPr>
              <a:t>03 / 14</a:t>
            </a:r>
          </a:p>
        </p:txBody>
      </p:sp>
      <p:sp>
        <p:nvSpPr>
          <p:cNvPr id="7" name="Card"/>
          <p:cNvSpPr/>
          <p:nvPr/>
        </p:nvSpPr>
        <p:spPr>
          <a:xfrm>
            <a:off x="609904" y="2011680"/>
            <a:ext cx="3504895" cy="3611880"/>
          </a:xfrm>
          <a:prstGeom prst="roundRect">
            <a:avLst>
              <a:gd name="adj" fmla="val 3130"/>
            </a:avLst>
          </a:prstGeom>
          <a:solidFill>
            <a:srgbClr val="F4F4F4"/>
          </a:solidFill>
          <a:ln>
            <a:noFill/>
          </a:ln>
          <a:effectLst/>
        </p:spPr>
        <p:txBody>
          <a:bodyPr rtlCol="0" anchor="ctr"/>
          <a:lstStyle/>
          <a:p>
            <a:pPr algn="ctr"/>
          </a:p>
        </p:txBody>
      </p:sp>
      <p:sp>
        <p:nvSpPr>
          <p:cNvPr id="8" name="Text"/>
          <p:cNvSpPr txBox="1"/>
          <p:nvPr/>
        </p:nvSpPr>
        <p:spPr>
          <a:xfrm>
            <a:off x="929944" y="2286000"/>
            <a:ext cx="2864815" cy="868680"/>
          </a:xfrm>
          <a:prstGeom prst="rect">
            <a:avLst/>
          </a:prstGeom>
          <a:noFill/>
        </p:spPr>
        <p:txBody>
          <a:bodyPr wrap="square" lIns="0" rIns="0" tIns="0" bIns="0" anchor="t">
            <a:noAutofit/>
          </a:bodyPr>
          <a:lstStyle/>
          <a:p>
            <a:pPr algn="l">
              <a:lnSpc>
                <a:spcPct val="100000"/>
              </a:lnSpc>
              <a:spcAft>
                <a:spcPts val="0"/>
              </a:spcAft>
            </a:pPr>
            <a:r>
              <a:rPr sz="5400" b="1" i="0">
                <a:solidFill>
                  <a:srgbClr val="28A019"/>
                </a:solidFill>
                <a:latin typeface="Arial"/>
              </a:rPr>
              <a:t>12%</a:t>
            </a:r>
          </a:p>
        </p:txBody>
      </p:sp>
      <p:sp>
        <p:nvSpPr>
          <p:cNvPr id="9" name="Text"/>
          <p:cNvSpPr txBox="1"/>
          <p:nvPr/>
        </p:nvSpPr>
        <p:spPr>
          <a:xfrm>
            <a:off x="929944" y="3337560"/>
            <a:ext cx="2864815" cy="1463040"/>
          </a:xfrm>
          <a:prstGeom prst="rect">
            <a:avLst/>
          </a:prstGeom>
          <a:noFill/>
        </p:spPr>
        <p:txBody>
          <a:bodyPr wrap="square" lIns="0" rIns="0" tIns="0" bIns="0" anchor="t">
            <a:noAutofit/>
          </a:bodyPr>
          <a:lstStyle/>
          <a:p>
            <a:pPr algn="l">
              <a:lnSpc>
                <a:spcPct val="120000"/>
              </a:lnSpc>
              <a:spcAft>
                <a:spcPts val="0"/>
              </a:spcAft>
            </a:pPr>
            <a:r>
              <a:rPr sz="1600" b="0" i="0">
                <a:solidFill>
                  <a:srgbClr val="1A1A1A"/>
                </a:solidFill>
                <a:latin typeface="Arial"/>
              </a:rPr>
              <a:t>of business transformations achieve their original ambitions. 88% fall short.</a:t>
            </a:r>
          </a:p>
        </p:txBody>
      </p:sp>
      <p:sp>
        <p:nvSpPr>
          <p:cNvPr id="10" name="Text"/>
          <p:cNvSpPr txBox="1"/>
          <p:nvPr/>
        </p:nvSpPr>
        <p:spPr>
          <a:xfrm>
            <a:off x="929944" y="4965192"/>
            <a:ext cx="2864815" cy="411480"/>
          </a:xfrm>
          <a:prstGeom prst="rect">
            <a:avLst/>
          </a:prstGeom>
          <a:noFill/>
        </p:spPr>
        <p:txBody>
          <a:bodyPr wrap="square" lIns="0" rIns="0" tIns="0" bIns="0" anchor="b">
            <a:noAutofit/>
          </a:bodyPr>
          <a:lstStyle/>
          <a:p>
            <a:pPr algn="l">
              <a:lnSpc>
                <a:spcPct val="110000"/>
              </a:lnSpc>
              <a:spcAft>
                <a:spcPts val="0"/>
              </a:spcAft>
            </a:pPr>
            <a:r>
              <a:rPr sz="1100" b="0" i="0" spc="100">
                <a:solidFill>
                  <a:srgbClr val="6B6B6B"/>
                </a:solidFill>
                <a:latin typeface="Arial"/>
              </a:rPr>
              <a:t>BAIN &amp; COMPANY · 2024 · 400+ EXECUTIVES</a:t>
            </a:r>
          </a:p>
        </p:txBody>
      </p:sp>
      <p:sp>
        <p:nvSpPr>
          <p:cNvPr id="11" name="Card"/>
          <p:cNvSpPr/>
          <p:nvPr/>
        </p:nvSpPr>
        <p:spPr>
          <a:xfrm>
            <a:off x="4343400" y="2011680"/>
            <a:ext cx="3504895" cy="3611880"/>
          </a:xfrm>
          <a:prstGeom prst="roundRect">
            <a:avLst>
              <a:gd name="adj" fmla="val 3130"/>
            </a:avLst>
          </a:prstGeom>
          <a:solidFill>
            <a:srgbClr val="F4F4F4"/>
          </a:solidFill>
          <a:ln>
            <a:noFill/>
          </a:ln>
          <a:effectLst/>
        </p:spPr>
        <p:txBody>
          <a:bodyPr rtlCol="0" anchor="ctr"/>
          <a:lstStyle/>
          <a:p>
            <a:pPr algn="ctr"/>
          </a:p>
        </p:txBody>
      </p:sp>
      <p:sp>
        <p:nvSpPr>
          <p:cNvPr id="12" name="Text"/>
          <p:cNvSpPr txBox="1"/>
          <p:nvPr/>
        </p:nvSpPr>
        <p:spPr>
          <a:xfrm>
            <a:off x="4663440" y="2286000"/>
            <a:ext cx="2864815" cy="868680"/>
          </a:xfrm>
          <a:prstGeom prst="rect">
            <a:avLst/>
          </a:prstGeom>
          <a:noFill/>
        </p:spPr>
        <p:txBody>
          <a:bodyPr wrap="square" lIns="0" rIns="0" tIns="0" bIns="0" anchor="t">
            <a:noAutofit/>
          </a:bodyPr>
          <a:lstStyle/>
          <a:p>
            <a:pPr algn="l">
              <a:lnSpc>
                <a:spcPct val="100000"/>
              </a:lnSpc>
              <a:spcAft>
                <a:spcPts val="0"/>
              </a:spcAft>
            </a:pPr>
            <a:r>
              <a:rPr sz="5400" b="1" i="0">
                <a:solidFill>
                  <a:srgbClr val="28A019"/>
                </a:solidFill>
                <a:latin typeface="Arial"/>
              </a:rPr>
              <a:t>#1</a:t>
            </a:r>
          </a:p>
        </p:txBody>
      </p:sp>
      <p:sp>
        <p:nvSpPr>
          <p:cNvPr id="13" name="Text"/>
          <p:cNvSpPr txBox="1"/>
          <p:nvPr/>
        </p:nvSpPr>
        <p:spPr>
          <a:xfrm>
            <a:off x="4663440" y="3337560"/>
            <a:ext cx="2864815" cy="1463040"/>
          </a:xfrm>
          <a:prstGeom prst="rect">
            <a:avLst/>
          </a:prstGeom>
          <a:noFill/>
        </p:spPr>
        <p:txBody>
          <a:bodyPr wrap="square" lIns="0" rIns="0" tIns="0" bIns="0" anchor="t">
            <a:noAutofit/>
          </a:bodyPr>
          <a:lstStyle/>
          <a:p>
            <a:pPr algn="l">
              <a:lnSpc>
                <a:spcPct val="120000"/>
              </a:lnSpc>
              <a:spcAft>
                <a:spcPts val="0"/>
              </a:spcAft>
            </a:pPr>
            <a:r>
              <a:rPr sz="1600" b="0" i="0">
                <a:solidFill>
                  <a:srgbClr val="1A1A1A"/>
                </a:solidFill>
                <a:latin typeface="Arial"/>
              </a:rPr>
              <a:t>implementation barrier is resistance to change, ahead of budget, timelines and technology.</a:t>
            </a:r>
          </a:p>
        </p:txBody>
      </p:sp>
      <p:sp>
        <p:nvSpPr>
          <p:cNvPr id="14" name="Text"/>
          <p:cNvSpPr txBox="1"/>
          <p:nvPr/>
        </p:nvSpPr>
        <p:spPr>
          <a:xfrm>
            <a:off x="4663440" y="4965192"/>
            <a:ext cx="2864815" cy="411480"/>
          </a:xfrm>
          <a:prstGeom prst="rect">
            <a:avLst/>
          </a:prstGeom>
          <a:noFill/>
        </p:spPr>
        <p:txBody>
          <a:bodyPr wrap="square" lIns="0" rIns="0" tIns="0" bIns="0" anchor="b">
            <a:noAutofit/>
          </a:bodyPr>
          <a:lstStyle/>
          <a:p>
            <a:pPr algn="l">
              <a:lnSpc>
                <a:spcPct val="110000"/>
              </a:lnSpc>
              <a:spcAft>
                <a:spcPts val="0"/>
              </a:spcAft>
            </a:pPr>
            <a:r>
              <a:rPr sz="1100" b="0" i="0" spc="100">
                <a:solidFill>
                  <a:srgbClr val="6B6B6B"/>
                </a:solidFill>
                <a:latin typeface="Arial"/>
              </a:rPr>
              <a:t>KEARNEY TRANSFORMATION STUDY · 2026 · 102 LEADERS</a:t>
            </a:r>
          </a:p>
        </p:txBody>
      </p:sp>
      <p:sp>
        <p:nvSpPr>
          <p:cNvPr id="15" name="Card"/>
          <p:cNvSpPr/>
          <p:nvPr/>
        </p:nvSpPr>
        <p:spPr>
          <a:xfrm>
            <a:off x="8076895" y="2011680"/>
            <a:ext cx="3504895" cy="3611880"/>
          </a:xfrm>
          <a:prstGeom prst="roundRect">
            <a:avLst>
              <a:gd name="adj" fmla="val 3130"/>
            </a:avLst>
          </a:prstGeom>
          <a:solidFill>
            <a:srgbClr val="F4F4F4"/>
          </a:solidFill>
          <a:ln>
            <a:noFill/>
          </a:ln>
          <a:effectLst/>
        </p:spPr>
        <p:txBody>
          <a:bodyPr rtlCol="0" anchor="ctr"/>
          <a:lstStyle/>
          <a:p>
            <a:pPr algn="ctr"/>
          </a:p>
        </p:txBody>
      </p:sp>
      <p:sp>
        <p:nvSpPr>
          <p:cNvPr id="16" name="Text"/>
          <p:cNvSpPr txBox="1"/>
          <p:nvPr/>
        </p:nvSpPr>
        <p:spPr>
          <a:xfrm>
            <a:off x="8396935" y="2286000"/>
            <a:ext cx="2864815" cy="868680"/>
          </a:xfrm>
          <a:prstGeom prst="rect">
            <a:avLst/>
          </a:prstGeom>
          <a:noFill/>
        </p:spPr>
        <p:txBody>
          <a:bodyPr wrap="square" lIns="0" rIns="0" tIns="0" bIns="0" anchor="t">
            <a:noAutofit/>
          </a:bodyPr>
          <a:lstStyle/>
          <a:p>
            <a:pPr algn="l">
              <a:lnSpc>
                <a:spcPct val="100000"/>
              </a:lnSpc>
              <a:spcAft>
                <a:spcPts val="0"/>
              </a:spcAft>
            </a:pPr>
            <a:r>
              <a:rPr sz="5400" b="1" i="0">
                <a:solidFill>
                  <a:srgbClr val="28A019"/>
                </a:solidFill>
                <a:latin typeface="Arial"/>
              </a:rPr>
              <a:t>22%</a:t>
            </a:r>
          </a:p>
        </p:txBody>
      </p:sp>
      <p:sp>
        <p:nvSpPr>
          <p:cNvPr id="17" name="Text"/>
          <p:cNvSpPr txBox="1"/>
          <p:nvPr/>
        </p:nvSpPr>
        <p:spPr>
          <a:xfrm>
            <a:off x="8396935" y="3337560"/>
            <a:ext cx="2864815" cy="1463040"/>
          </a:xfrm>
          <a:prstGeom prst="rect">
            <a:avLst/>
          </a:prstGeom>
          <a:noFill/>
        </p:spPr>
        <p:txBody>
          <a:bodyPr wrap="square" lIns="0" rIns="0" tIns="0" bIns="0" anchor="t">
            <a:noAutofit/>
          </a:bodyPr>
          <a:lstStyle/>
          <a:p>
            <a:pPr algn="l">
              <a:lnSpc>
                <a:spcPct val="120000"/>
              </a:lnSpc>
              <a:spcAft>
                <a:spcPts val="0"/>
              </a:spcAft>
            </a:pPr>
            <a:r>
              <a:rPr sz="1600" b="0" i="0">
                <a:solidFill>
                  <a:srgbClr val="1A1A1A"/>
                </a:solidFill>
                <a:latin typeface="Arial"/>
              </a:rPr>
              <a:t>of employees say they got enough training, coaching or tools to adapt after a reorganization.</a:t>
            </a:r>
          </a:p>
        </p:txBody>
      </p:sp>
      <p:sp>
        <p:nvSpPr>
          <p:cNvPr id="18" name="Text"/>
          <p:cNvSpPr txBox="1"/>
          <p:nvPr/>
        </p:nvSpPr>
        <p:spPr>
          <a:xfrm>
            <a:off x="8396935" y="4965192"/>
            <a:ext cx="2864815" cy="411480"/>
          </a:xfrm>
          <a:prstGeom prst="rect">
            <a:avLst/>
          </a:prstGeom>
          <a:noFill/>
        </p:spPr>
        <p:txBody>
          <a:bodyPr wrap="square" lIns="0" rIns="0" tIns="0" bIns="0" anchor="b">
            <a:noAutofit/>
          </a:bodyPr>
          <a:lstStyle/>
          <a:p>
            <a:pPr algn="l">
              <a:lnSpc>
                <a:spcPct val="110000"/>
              </a:lnSpc>
              <a:spcAft>
                <a:spcPts val="0"/>
              </a:spcAft>
            </a:pPr>
            <a:r>
              <a:rPr sz="1100" b="0" i="0" spc="100">
                <a:solidFill>
                  <a:srgbClr val="6B6B6B"/>
                </a:solidFill>
                <a:latin typeface="Arial"/>
              </a:rPr>
              <a:t>BAIN &amp; COMPANY · 2026 · ~1,000 EXECUTIVES AND EMPLOYEES</a:t>
            </a:r>
          </a:p>
        </p:txBody>
      </p:sp>
      <p:sp>
        <p:nvSpPr>
          <p:cNvPr id="19" name="Text"/>
          <p:cNvSpPr txBox="1"/>
          <p:nvPr/>
        </p:nvSpPr>
        <p:spPr>
          <a:xfrm>
            <a:off x="609904" y="5852160"/>
            <a:ext cx="10971885" cy="274320"/>
          </a:xfrm>
          <a:prstGeom prst="rect">
            <a:avLst/>
          </a:prstGeom>
          <a:noFill/>
        </p:spPr>
        <p:txBody>
          <a:bodyPr wrap="square" lIns="0" rIns="0" tIns="0" bIns="0" anchor="t">
            <a:noAutofit/>
          </a:bodyPr>
          <a:lstStyle/>
          <a:p>
            <a:pPr algn="l">
              <a:lnSpc>
                <a:spcPct val="110000"/>
              </a:lnSpc>
              <a:spcAft>
                <a:spcPts val="0"/>
              </a:spcAft>
            </a:pPr>
            <a:r>
              <a:rPr sz="1600" b="0" i="0">
                <a:solidFill>
                  <a:srgbClr val="434343"/>
                </a:solidFill>
                <a:latin typeface="Arial"/>
              </a:rPr>
              <a:t>Three studies, one pattern: the plan survives approval, then stalls where people meet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609904" y="457200"/>
            <a:ext cx="8171764"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1E7A13"/>
                </a:solidFill>
                <a:latin typeface="Arial"/>
              </a:rPr>
              <a:t>THE BLIND SPOT</a:t>
            </a:r>
          </a:p>
        </p:txBody>
      </p:sp>
      <p:sp>
        <p:nvSpPr>
          <p:cNvPr id="3" name="Headline"/>
          <p:cNvSpPr txBox="1"/>
          <p:nvPr/>
        </p:nvSpPr>
        <p:spPr>
          <a:xfrm>
            <a:off x="609904" y="731520"/>
            <a:ext cx="10038511" cy="960120"/>
          </a:xfrm>
          <a:prstGeom prst="rect">
            <a:avLst/>
          </a:prstGeom>
          <a:noFill/>
        </p:spPr>
        <p:txBody>
          <a:bodyPr wrap="square" lIns="0" rIns="0" tIns="0" bIns="0" anchor="t">
            <a:noAutofit/>
          </a:bodyPr>
          <a:lstStyle/>
          <a:p>
            <a:pPr algn="l">
              <a:lnSpc>
                <a:spcPct val="100000"/>
              </a:lnSpc>
              <a:spcAft>
                <a:spcPts val="0"/>
              </a:spcAft>
            </a:pPr>
            <a:r>
              <a:rPr sz="3000" b="1" i="0">
                <a:solidFill>
                  <a:srgbClr val="1A1A1A"/>
                </a:solidFill>
                <a:latin typeface="Arial"/>
              </a:rPr>
              <a:t>Dashboards report adoption. They cannot see the workarounds.</a:t>
            </a:r>
          </a:p>
        </p:txBody>
      </p:sp>
      <p:pic>
        <p:nvPicPr>
          <p:cNvPr id="4" name="Picture 3" descr="logo-icon.png"/>
          <p:cNvPicPr>
            <a:picLocks noChangeAspect="1"/>
          </p:cNvPicPr>
          <p:nvPr/>
        </p:nvPicPr>
        <p:blipFill>
          <a:blip r:embed="rId2"/>
          <a:stretch>
            <a:fillRect/>
          </a:stretch>
        </p:blipFill>
        <p:spPr>
          <a:xfrm>
            <a:off x="609904" y="6382512"/>
            <a:ext cx="201168" cy="201168"/>
          </a:xfrm>
          <a:prstGeom prst="rect">
            <a:avLst/>
          </a:prstGeom>
        </p:spPr>
      </p:pic>
      <p:sp>
        <p:nvSpPr>
          <p:cNvPr id="5" name="Footer"/>
          <p:cNvSpPr txBox="1"/>
          <p:nvPr/>
        </p:nvSpPr>
        <p:spPr>
          <a:xfrm>
            <a:off x="902512" y="6382512"/>
            <a:ext cx="3657600" cy="201168"/>
          </a:xfrm>
          <a:prstGeom prst="rect">
            <a:avLst/>
          </a:prstGeom>
          <a:noFill/>
        </p:spPr>
        <p:txBody>
          <a:bodyPr wrap="square" lIns="0" rIns="0" tIns="0" bIns="0" anchor="ctr">
            <a:noAutofit/>
          </a:bodyPr>
          <a:lstStyle/>
          <a:p>
            <a:pPr algn="l">
              <a:lnSpc>
                <a:spcPct val="110000"/>
              </a:lnSpc>
              <a:spcAft>
                <a:spcPts val="0"/>
              </a:spcAft>
            </a:pPr>
            <a:r>
              <a:rPr sz="1100" b="0" i="0">
                <a:solidFill>
                  <a:srgbClr val="6B6B6B"/>
                </a:solidFill>
                <a:latin typeface="Arial"/>
              </a:rPr>
              <a:t>The Diagnose Conversation</a:t>
            </a:r>
          </a:p>
        </p:txBody>
      </p:sp>
      <p:sp>
        <p:nvSpPr>
          <p:cNvPr id="6" name="Page number"/>
          <p:cNvSpPr txBox="1"/>
          <p:nvPr/>
        </p:nvSpPr>
        <p:spPr>
          <a:xfrm>
            <a:off x="10210190" y="6382512"/>
            <a:ext cx="1371600" cy="201168"/>
          </a:xfrm>
          <a:prstGeom prst="rect">
            <a:avLst/>
          </a:prstGeom>
          <a:noFill/>
        </p:spPr>
        <p:txBody>
          <a:bodyPr wrap="square" lIns="0" rIns="0" tIns="0" bIns="0" anchor="ctr">
            <a:noAutofit/>
          </a:bodyPr>
          <a:lstStyle/>
          <a:p>
            <a:pPr algn="r">
              <a:lnSpc>
                <a:spcPct val="110000"/>
              </a:lnSpc>
              <a:spcAft>
                <a:spcPts val="0"/>
              </a:spcAft>
            </a:pPr>
            <a:r>
              <a:rPr sz="1100" b="0" i="0">
                <a:solidFill>
                  <a:srgbClr val="6B6B6B"/>
                </a:solidFill>
                <a:latin typeface="Arial"/>
              </a:rPr>
              <a:t>04 / 14</a:t>
            </a:r>
          </a:p>
        </p:txBody>
      </p:sp>
      <p:sp>
        <p:nvSpPr>
          <p:cNvPr id="7" name="Label"/>
          <p:cNvSpPr txBox="1"/>
          <p:nvPr/>
        </p:nvSpPr>
        <p:spPr>
          <a:xfrm>
            <a:off x="609904" y="1965960"/>
            <a:ext cx="3657600"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6B6B6B"/>
                </a:solidFill>
                <a:latin typeface="Arial"/>
              </a:rPr>
              <a:t>WHAT THE DASHBOARD SHOWS</a:t>
            </a:r>
          </a:p>
        </p:txBody>
      </p:sp>
      <p:sp>
        <p:nvSpPr>
          <p:cNvPr id="8" name="Badge"/>
          <p:cNvSpPr/>
          <p:nvPr/>
        </p:nvSpPr>
        <p:spPr>
          <a:xfrm>
            <a:off x="4564227" y="1938528"/>
            <a:ext cx="1417320" cy="237744"/>
          </a:xfrm>
          <a:prstGeom prst="roundRect">
            <a:avLst>
              <a:gd name="adj" fmla="val 50000"/>
            </a:avLst>
          </a:prstGeom>
          <a:solidFill>
            <a:srgbClr val="FFFFFF"/>
          </a:solidFill>
          <a:ln w="12700">
            <a:solidFill>
              <a:srgbClr val="6B6B6B"/>
            </a:solidFill>
          </a:ln>
          <a:effectLst/>
        </p:spPr>
        <p:txBody>
          <a:bodyPr rtlCol="0" anchor="ctr" wrap="square" lIns="0" rIns="0" tIns="0" bIns="0">
            <a:noAutofit/>
          </a:bodyPr>
          <a:lstStyle/>
          <a:p>
            <a:pPr algn="ctr">
              <a:lnSpc>
                <a:spcPct val="100000"/>
              </a:lnSpc>
              <a:spcAft>
                <a:spcPts val="0"/>
              </a:spcAft>
            </a:pPr>
            <a:r>
              <a:rPr sz="900" b="1" i="0" spc="100">
                <a:solidFill>
                  <a:srgbClr val="6B6B6B"/>
                </a:solidFill>
                <a:latin typeface="Arial"/>
              </a:rPr>
              <a:t>ILLUSTRATIVE</a:t>
            </a:r>
          </a:p>
        </p:txBody>
      </p:sp>
      <p:sp>
        <p:nvSpPr>
          <p:cNvPr id="9" name="Card"/>
          <p:cNvSpPr/>
          <p:nvPr/>
        </p:nvSpPr>
        <p:spPr>
          <a:xfrm>
            <a:off x="609904" y="2286000"/>
            <a:ext cx="5371642" cy="2194560"/>
          </a:xfrm>
          <a:prstGeom prst="roundRect">
            <a:avLst>
              <a:gd name="adj" fmla="val 5000"/>
            </a:avLst>
          </a:prstGeom>
          <a:solidFill>
            <a:srgbClr val="FFFFFF"/>
          </a:solidFill>
          <a:ln w="12700">
            <a:solidFill>
              <a:srgbClr val="E0E0E0"/>
            </a:solidFill>
          </a:ln>
          <a:effectLst/>
        </p:spPr>
        <p:txBody>
          <a:bodyPr rtlCol="0" anchor="ctr"/>
          <a:lstStyle/>
          <a:p>
            <a:pPr algn="ctr"/>
          </a:p>
        </p:txBody>
      </p:sp>
      <p:pic>
        <p:nvPicPr>
          <p:cNvPr id="10" name="Icon circle-check" descr="circle-check-green.png"/>
          <p:cNvPicPr>
            <a:picLocks noChangeAspect="1"/>
          </p:cNvPicPr>
          <p:nvPr/>
        </p:nvPicPr>
        <p:blipFill>
          <a:blip r:embed="rId3"/>
          <a:stretch>
            <a:fillRect/>
          </a:stretch>
        </p:blipFill>
        <p:spPr>
          <a:xfrm>
            <a:off x="884224" y="2651760"/>
            <a:ext cx="292608" cy="292608"/>
          </a:xfrm>
          <a:prstGeom prst="rect">
            <a:avLst/>
          </a:prstGeom>
        </p:spPr>
      </p:pic>
      <p:sp>
        <p:nvSpPr>
          <p:cNvPr id="11" name="Text"/>
          <p:cNvSpPr txBox="1"/>
          <p:nvPr/>
        </p:nvSpPr>
        <p:spPr>
          <a:xfrm>
            <a:off x="884224" y="3063239"/>
            <a:ext cx="1546707" cy="502920"/>
          </a:xfrm>
          <a:prstGeom prst="rect">
            <a:avLst/>
          </a:prstGeom>
          <a:noFill/>
        </p:spPr>
        <p:txBody>
          <a:bodyPr wrap="square" lIns="0" rIns="0" tIns="0" bIns="0" anchor="t">
            <a:noAutofit/>
          </a:bodyPr>
          <a:lstStyle/>
          <a:p>
            <a:pPr algn="l">
              <a:lnSpc>
                <a:spcPct val="110000"/>
              </a:lnSpc>
              <a:spcAft>
                <a:spcPts val="0"/>
              </a:spcAft>
            </a:pPr>
            <a:r>
              <a:rPr sz="3000" b="1" i="0">
                <a:solidFill>
                  <a:srgbClr val="1A1A1A"/>
                </a:solidFill>
                <a:latin typeface="Arial"/>
              </a:rPr>
              <a:t>80%</a:t>
            </a:r>
          </a:p>
        </p:txBody>
      </p:sp>
      <p:sp>
        <p:nvSpPr>
          <p:cNvPr id="12" name="Text"/>
          <p:cNvSpPr txBox="1"/>
          <p:nvPr/>
        </p:nvSpPr>
        <p:spPr>
          <a:xfrm>
            <a:off x="884224" y="3611880"/>
            <a:ext cx="1546707" cy="457200"/>
          </a:xfrm>
          <a:prstGeom prst="rect">
            <a:avLst/>
          </a:prstGeom>
          <a:noFill/>
        </p:spPr>
        <p:txBody>
          <a:bodyPr wrap="square" lIns="0" rIns="0" tIns="0" bIns="0" anchor="t">
            <a:noAutofit/>
          </a:bodyPr>
          <a:lstStyle/>
          <a:p>
            <a:pPr algn="l">
              <a:lnSpc>
                <a:spcPct val="110000"/>
              </a:lnSpc>
              <a:spcAft>
                <a:spcPts val="0"/>
              </a:spcAft>
            </a:pPr>
            <a:r>
              <a:rPr sz="1600" b="0" i="0">
                <a:solidFill>
                  <a:srgbClr val="434343"/>
                </a:solidFill>
                <a:latin typeface="Arial"/>
              </a:rPr>
              <a:t>Adoption</a:t>
            </a:r>
          </a:p>
        </p:txBody>
      </p:sp>
      <p:pic>
        <p:nvPicPr>
          <p:cNvPr id="13" name="Icon circle-check" descr="circle-check-green.png"/>
          <p:cNvPicPr>
            <a:picLocks noChangeAspect="1"/>
          </p:cNvPicPr>
          <p:nvPr/>
        </p:nvPicPr>
        <p:blipFill>
          <a:blip r:embed="rId3"/>
          <a:stretch>
            <a:fillRect/>
          </a:stretch>
        </p:blipFill>
        <p:spPr>
          <a:xfrm>
            <a:off x="2522372" y="2651760"/>
            <a:ext cx="292608" cy="292608"/>
          </a:xfrm>
          <a:prstGeom prst="rect">
            <a:avLst/>
          </a:prstGeom>
        </p:spPr>
      </p:pic>
      <p:sp>
        <p:nvSpPr>
          <p:cNvPr id="14" name="Text"/>
          <p:cNvSpPr txBox="1"/>
          <p:nvPr/>
        </p:nvSpPr>
        <p:spPr>
          <a:xfrm>
            <a:off x="2522372" y="3063239"/>
            <a:ext cx="1546707" cy="502920"/>
          </a:xfrm>
          <a:prstGeom prst="rect">
            <a:avLst/>
          </a:prstGeom>
          <a:noFill/>
        </p:spPr>
        <p:txBody>
          <a:bodyPr wrap="square" lIns="0" rIns="0" tIns="0" bIns="0" anchor="t">
            <a:noAutofit/>
          </a:bodyPr>
          <a:lstStyle/>
          <a:p>
            <a:pPr algn="l">
              <a:lnSpc>
                <a:spcPct val="110000"/>
              </a:lnSpc>
              <a:spcAft>
                <a:spcPts val="0"/>
              </a:spcAft>
            </a:pPr>
            <a:r>
              <a:rPr sz="3000" b="1" i="0">
                <a:solidFill>
                  <a:srgbClr val="1A1A1A"/>
                </a:solidFill>
                <a:latin typeface="Arial"/>
              </a:rPr>
              <a:t>94%</a:t>
            </a:r>
          </a:p>
        </p:txBody>
      </p:sp>
      <p:sp>
        <p:nvSpPr>
          <p:cNvPr id="15" name="Text"/>
          <p:cNvSpPr txBox="1"/>
          <p:nvPr/>
        </p:nvSpPr>
        <p:spPr>
          <a:xfrm>
            <a:off x="2522372" y="3611880"/>
            <a:ext cx="1546707" cy="457200"/>
          </a:xfrm>
          <a:prstGeom prst="rect">
            <a:avLst/>
          </a:prstGeom>
          <a:noFill/>
        </p:spPr>
        <p:txBody>
          <a:bodyPr wrap="square" lIns="0" rIns="0" tIns="0" bIns="0" anchor="t">
            <a:noAutofit/>
          </a:bodyPr>
          <a:lstStyle/>
          <a:p>
            <a:pPr algn="l">
              <a:lnSpc>
                <a:spcPct val="110000"/>
              </a:lnSpc>
              <a:spcAft>
                <a:spcPts val="0"/>
              </a:spcAft>
            </a:pPr>
            <a:r>
              <a:rPr sz="1600" b="0" i="0">
                <a:solidFill>
                  <a:srgbClr val="434343"/>
                </a:solidFill>
                <a:latin typeface="Arial"/>
              </a:rPr>
              <a:t>Trained</a:t>
            </a:r>
          </a:p>
        </p:txBody>
      </p:sp>
      <p:pic>
        <p:nvPicPr>
          <p:cNvPr id="16" name="Icon circle-check" descr="circle-check-green.png"/>
          <p:cNvPicPr>
            <a:picLocks noChangeAspect="1"/>
          </p:cNvPicPr>
          <p:nvPr/>
        </p:nvPicPr>
        <p:blipFill>
          <a:blip r:embed="rId3"/>
          <a:stretch>
            <a:fillRect/>
          </a:stretch>
        </p:blipFill>
        <p:spPr>
          <a:xfrm>
            <a:off x="4160520" y="2651760"/>
            <a:ext cx="292608" cy="292608"/>
          </a:xfrm>
          <a:prstGeom prst="rect">
            <a:avLst/>
          </a:prstGeom>
        </p:spPr>
      </p:pic>
      <p:sp>
        <p:nvSpPr>
          <p:cNvPr id="17" name="Text"/>
          <p:cNvSpPr txBox="1"/>
          <p:nvPr/>
        </p:nvSpPr>
        <p:spPr>
          <a:xfrm>
            <a:off x="4160520" y="3063239"/>
            <a:ext cx="1546707" cy="502920"/>
          </a:xfrm>
          <a:prstGeom prst="rect">
            <a:avLst/>
          </a:prstGeom>
          <a:noFill/>
        </p:spPr>
        <p:txBody>
          <a:bodyPr wrap="square" lIns="0" rIns="0" tIns="0" bIns="0" anchor="t">
            <a:noAutofit/>
          </a:bodyPr>
          <a:lstStyle/>
          <a:p>
            <a:pPr algn="l">
              <a:lnSpc>
                <a:spcPct val="110000"/>
              </a:lnSpc>
              <a:spcAft>
                <a:spcPts val="0"/>
              </a:spcAft>
            </a:pPr>
            <a:r>
              <a:rPr sz="3000" b="1" i="0">
                <a:solidFill>
                  <a:srgbClr val="1A1A1A"/>
                </a:solidFill>
                <a:latin typeface="Arial"/>
              </a:rPr>
              <a:t>+32%</a:t>
            </a:r>
          </a:p>
        </p:txBody>
      </p:sp>
      <p:sp>
        <p:nvSpPr>
          <p:cNvPr id="18" name="Text"/>
          <p:cNvSpPr txBox="1"/>
          <p:nvPr/>
        </p:nvSpPr>
        <p:spPr>
          <a:xfrm>
            <a:off x="4160520" y="3611880"/>
            <a:ext cx="1546707" cy="457200"/>
          </a:xfrm>
          <a:prstGeom prst="rect">
            <a:avLst/>
          </a:prstGeom>
          <a:noFill/>
        </p:spPr>
        <p:txBody>
          <a:bodyPr wrap="square" lIns="0" rIns="0" tIns="0" bIns="0" anchor="t">
            <a:noAutofit/>
          </a:bodyPr>
          <a:lstStyle/>
          <a:p>
            <a:pPr algn="l">
              <a:lnSpc>
                <a:spcPct val="110000"/>
              </a:lnSpc>
              <a:spcAft>
                <a:spcPts val="0"/>
              </a:spcAft>
            </a:pPr>
            <a:r>
              <a:rPr sz="1600" b="0" i="0">
                <a:solidFill>
                  <a:srgbClr val="434343"/>
                </a:solidFill>
                <a:latin typeface="Arial"/>
              </a:rPr>
              <a:t>Logins</a:t>
            </a:r>
          </a:p>
        </p:txBody>
      </p:sp>
      <p:sp>
        <p:nvSpPr>
          <p:cNvPr id="19" name="Label"/>
          <p:cNvSpPr txBox="1"/>
          <p:nvPr/>
        </p:nvSpPr>
        <p:spPr>
          <a:xfrm>
            <a:off x="884224" y="4114800"/>
            <a:ext cx="4823002"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1E7A13"/>
                </a:solidFill>
                <a:latin typeface="Arial"/>
              </a:rPr>
              <a:t>STATUS: ON TRACK</a:t>
            </a:r>
          </a:p>
        </p:txBody>
      </p:sp>
      <p:sp>
        <p:nvSpPr>
          <p:cNvPr id="20" name="Label"/>
          <p:cNvSpPr txBox="1"/>
          <p:nvPr/>
        </p:nvSpPr>
        <p:spPr>
          <a:xfrm>
            <a:off x="6210147" y="1965960"/>
            <a:ext cx="4114800"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1A1A1A"/>
                </a:solidFill>
                <a:latin typeface="Arial"/>
              </a:rPr>
              <a:t>WHAT IS ACTUALLY HAPPENING</a:t>
            </a:r>
          </a:p>
        </p:txBody>
      </p:sp>
      <p:sp>
        <p:nvSpPr>
          <p:cNvPr id="21" name="Card"/>
          <p:cNvSpPr/>
          <p:nvPr/>
        </p:nvSpPr>
        <p:spPr>
          <a:xfrm>
            <a:off x="6210147" y="2286000"/>
            <a:ext cx="5371642" cy="2194560"/>
          </a:xfrm>
          <a:prstGeom prst="roundRect">
            <a:avLst>
              <a:gd name="adj" fmla="val 5000"/>
            </a:avLst>
          </a:prstGeom>
          <a:solidFill>
            <a:srgbClr val="F4F4F4"/>
          </a:solidFill>
          <a:ln>
            <a:noFill/>
          </a:ln>
          <a:effectLst/>
        </p:spPr>
        <p:txBody>
          <a:bodyPr rtlCol="0" anchor="ctr"/>
          <a:lstStyle/>
          <a:p>
            <a:pPr algn="ctr"/>
          </a:p>
        </p:txBody>
      </p:sp>
      <p:pic>
        <p:nvPicPr>
          <p:cNvPr id="22" name="Icon shuffle" descr="shuffle-ink2.png"/>
          <p:cNvPicPr>
            <a:picLocks noChangeAspect="1"/>
          </p:cNvPicPr>
          <p:nvPr/>
        </p:nvPicPr>
        <p:blipFill>
          <a:blip r:embed="rId4"/>
          <a:stretch>
            <a:fillRect/>
          </a:stretch>
        </p:blipFill>
        <p:spPr>
          <a:xfrm>
            <a:off x="6530187" y="2551176"/>
            <a:ext cx="292608" cy="292608"/>
          </a:xfrm>
          <a:prstGeom prst="rect">
            <a:avLst/>
          </a:prstGeom>
        </p:spPr>
      </p:pic>
      <p:sp>
        <p:nvSpPr>
          <p:cNvPr id="23" name="Text"/>
          <p:cNvSpPr txBox="1"/>
          <p:nvPr/>
        </p:nvSpPr>
        <p:spPr>
          <a:xfrm>
            <a:off x="6987387" y="2532888"/>
            <a:ext cx="4365802" cy="365760"/>
          </a:xfrm>
          <a:prstGeom prst="rect">
            <a:avLst/>
          </a:prstGeom>
          <a:noFill/>
        </p:spPr>
        <p:txBody>
          <a:bodyPr wrap="square" lIns="0" rIns="0" tIns="0" bIns="0" anchor="ctr">
            <a:noAutofit/>
          </a:bodyPr>
          <a:lstStyle/>
          <a:p>
            <a:pPr algn="l">
              <a:lnSpc>
                <a:spcPct val="110000"/>
              </a:lnSpc>
              <a:spcAft>
                <a:spcPts val="0"/>
              </a:spcAft>
            </a:pPr>
            <a:r>
              <a:rPr sz="1600" b="0" i="0">
                <a:solidFill>
                  <a:srgbClr val="1A1A1A"/>
                </a:solidFill>
                <a:latin typeface="Arial"/>
              </a:rPr>
              <a:t>Workarounds keep the old process alive</a:t>
            </a:r>
          </a:p>
        </p:txBody>
      </p:sp>
      <p:pic>
        <p:nvPicPr>
          <p:cNvPr id="24" name="Icon repeat" descr="repeat-ink2.png"/>
          <p:cNvPicPr>
            <a:picLocks noChangeAspect="1"/>
          </p:cNvPicPr>
          <p:nvPr/>
        </p:nvPicPr>
        <p:blipFill>
          <a:blip r:embed="rId5"/>
          <a:stretch>
            <a:fillRect/>
          </a:stretch>
        </p:blipFill>
        <p:spPr>
          <a:xfrm>
            <a:off x="6530187" y="3172968"/>
            <a:ext cx="292608" cy="292608"/>
          </a:xfrm>
          <a:prstGeom prst="rect">
            <a:avLst/>
          </a:prstGeom>
        </p:spPr>
      </p:pic>
      <p:sp>
        <p:nvSpPr>
          <p:cNvPr id="25" name="Text"/>
          <p:cNvSpPr txBox="1"/>
          <p:nvPr/>
        </p:nvSpPr>
        <p:spPr>
          <a:xfrm>
            <a:off x="6987387" y="3154680"/>
            <a:ext cx="4365802" cy="365760"/>
          </a:xfrm>
          <a:prstGeom prst="rect">
            <a:avLst/>
          </a:prstGeom>
          <a:noFill/>
        </p:spPr>
        <p:txBody>
          <a:bodyPr wrap="square" lIns="0" rIns="0" tIns="0" bIns="0" anchor="ctr">
            <a:noAutofit/>
          </a:bodyPr>
          <a:lstStyle/>
          <a:p>
            <a:pPr algn="l">
              <a:lnSpc>
                <a:spcPct val="110000"/>
              </a:lnSpc>
              <a:spcAft>
                <a:spcPts val="0"/>
              </a:spcAft>
            </a:pPr>
            <a:r>
              <a:rPr sz="1600" b="0" i="0">
                <a:solidFill>
                  <a:srgbClr val="1A1A1A"/>
                </a:solidFill>
                <a:latin typeface="Arial"/>
              </a:rPr>
              <a:t>New tool for reporting, old habits for the work</a:t>
            </a:r>
          </a:p>
        </p:txBody>
      </p:sp>
      <p:pic>
        <p:nvPicPr>
          <p:cNvPr id="26" name="Icon eye-off" descr="eye-off-ink2.png"/>
          <p:cNvPicPr>
            <a:picLocks noChangeAspect="1"/>
          </p:cNvPicPr>
          <p:nvPr/>
        </p:nvPicPr>
        <p:blipFill>
          <a:blip r:embed="rId6"/>
          <a:stretch>
            <a:fillRect/>
          </a:stretch>
        </p:blipFill>
        <p:spPr>
          <a:xfrm>
            <a:off x="6530187" y="3794759"/>
            <a:ext cx="292608" cy="292608"/>
          </a:xfrm>
          <a:prstGeom prst="rect">
            <a:avLst/>
          </a:prstGeom>
        </p:spPr>
      </p:pic>
      <p:sp>
        <p:nvSpPr>
          <p:cNvPr id="27" name="Text"/>
          <p:cNvSpPr txBox="1"/>
          <p:nvPr/>
        </p:nvSpPr>
        <p:spPr>
          <a:xfrm>
            <a:off x="6987387" y="3776472"/>
            <a:ext cx="4365802" cy="365760"/>
          </a:xfrm>
          <a:prstGeom prst="rect">
            <a:avLst/>
          </a:prstGeom>
          <a:noFill/>
        </p:spPr>
        <p:txBody>
          <a:bodyPr wrap="square" lIns="0" rIns="0" tIns="0" bIns="0" anchor="ctr">
            <a:noAutofit/>
          </a:bodyPr>
          <a:lstStyle/>
          <a:p>
            <a:pPr algn="l">
              <a:lnSpc>
                <a:spcPct val="110000"/>
              </a:lnSpc>
              <a:spcAft>
                <a:spcPts val="0"/>
              </a:spcAft>
            </a:pPr>
            <a:r>
              <a:rPr sz="1600" b="0" i="0">
                <a:solidFill>
                  <a:srgbClr val="1A1A1A"/>
                </a:solidFill>
                <a:latin typeface="Arial"/>
              </a:rPr>
              <a:t>Compliance on record, not in practice</a:t>
            </a:r>
          </a:p>
        </p:txBody>
      </p:sp>
      <p:sp>
        <p:nvSpPr>
          <p:cNvPr id="28" name="Label"/>
          <p:cNvSpPr txBox="1"/>
          <p:nvPr/>
        </p:nvSpPr>
        <p:spPr>
          <a:xfrm>
            <a:off x="609904" y="4800600"/>
            <a:ext cx="7238390"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6B6B6B"/>
                </a:solidFill>
                <a:latin typeface="Arial"/>
              </a:rPr>
              <a:t>SAME REORGANIZATION, TWO VIEWS: SHARE WHO BELIEVE IT WILL DELIVER</a:t>
            </a:r>
          </a:p>
        </p:txBody>
      </p:sp>
      <p:sp>
        <p:nvSpPr>
          <p:cNvPr id="29" name="Text"/>
          <p:cNvSpPr txBox="1"/>
          <p:nvPr/>
        </p:nvSpPr>
        <p:spPr>
          <a:xfrm>
            <a:off x="609904" y="5093208"/>
            <a:ext cx="1821027" cy="384048"/>
          </a:xfrm>
          <a:prstGeom prst="rect">
            <a:avLst/>
          </a:prstGeom>
          <a:noFill/>
        </p:spPr>
        <p:txBody>
          <a:bodyPr wrap="square" lIns="0" rIns="0" tIns="0" bIns="0" anchor="ctr">
            <a:noAutofit/>
          </a:bodyPr>
          <a:lstStyle/>
          <a:p>
            <a:pPr algn="l">
              <a:lnSpc>
                <a:spcPct val="110000"/>
              </a:lnSpc>
              <a:spcAft>
                <a:spcPts val="0"/>
              </a:spcAft>
            </a:pPr>
            <a:r>
              <a:rPr sz="1600" b="1" i="0">
                <a:solidFill>
                  <a:srgbClr val="1A1A1A"/>
                </a:solidFill>
                <a:latin typeface="Arial"/>
              </a:rPr>
              <a:t>Leaders</a:t>
            </a:r>
          </a:p>
        </p:txBody>
      </p:sp>
      <p:sp>
        <p:nvSpPr>
          <p:cNvPr id="30" name="Text"/>
          <p:cNvSpPr txBox="1"/>
          <p:nvPr/>
        </p:nvSpPr>
        <p:spPr>
          <a:xfrm>
            <a:off x="609904" y="5513832"/>
            <a:ext cx="1821027" cy="384048"/>
          </a:xfrm>
          <a:prstGeom prst="rect">
            <a:avLst/>
          </a:prstGeom>
          <a:noFill/>
        </p:spPr>
        <p:txBody>
          <a:bodyPr wrap="square" lIns="0" rIns="0" tIns="0" bIns="0" anchor="ctr">
            <a:noAutofit/>
          </a:bodyPr>
          <a:lstStyle/>
          <a:p>
            <a:pPr algn="l">
              <a:lnSpc>
                <a:spcPct val="110000"/>
              </a:lnSpc>
              <a:spcAft>
                <a:spcPts val="0"/>
              </a:spcAft>
            </a:pPr>
            <a:r>
              <a:rPr sz="1600" b="1" i="0">
                <a:solidFill>
                  <a:srgbClr val="1A1A1A"/>
                </a:solidFill>
                <a:latin typeface="Arial"/>
              </a:rPr>
              <a:t>Employees</a:t>
            </a:r>
          </a:p>
        </p:txBody>
      </p:sp>
      <p:graphicFrame>
        <p:nvGraphicFramePr>
          <p:cNvPr id="31" name="Chart perception gap"/>
          <p:cNvGraphicFramePr>
            <a:graphicFrameLocks noGrp="1"/>
          </p:cNvGraphicFramePr>
          <p:nvPr/>
        </p:nvGraphicFramePr>
        <p:xfrm>
          <a:off x="2568092" y="5074920"/>
          <a:ext cx="6305016" cy="841248"/>
        </p:xfrm>
        <a:graphic>
          <a:graphicData uri="http://schemas.openxmlformats.org/drawingml/2006/chart">
            <c:chart xmlns:c="http://schemas.openxmlformats.org/drawingml/2006/chart" r:id="rId7"/>
          </a:graphicData>
        </a:graphic>
      </p:graphicFrame>
      <p:sp>
        <p:nvSpPr>
          <p:cNvPr id="32" name="Text"/>
          <p:cNvSpPr txBox="1"/>
          <p:nvPr/>
        </p:nvSpPr>
        <p:spPr>
          <a:xfrm>
            <a:off x="7653105" y="5129784"/>
            <a:ext cx="822960" cy="310896"/>
          </a:xfrm>
          <a:prstGeom prst="rect">
            <a:avLst/>
          </a:prstGeom>
          <a:noFill/>
        </p:spPr>
        <p:txBody>
          <a:bodyPr wrap="square" lIns="0" rIns="0" tIns="0" bIns="0" anchor="ctr">
            <a:noAutofit/>
          </a:bodyPr>
          <a:lstStyle/>
          <a:p>
            <a:pPr algn="l">
              <a:lnSpc>
                <a:spcPct val="110000"/>
              </a:lnSpc>
              <a:spcAft>
                <a:spcPts val="0"/>
              </a:spcAft>
            </a:pPr>
            <a:r>
              <a:rPr sz="1600" b="1" i="0">
                <a:solidFill>
                  <a:srgbClr val="1A1A1A"/>
                </a:solidFill>
                <a:latin typeface="Arial"/>
              </a:rPr>
              <a:t>88%</a:t>
            </a:r>
          </a:p>
        </p:txBody>
      </p:sp>
      <p:sp>
        <p:nvSpPr>
          <p:cNvPr id="33" name="Text"/>
          <p:cNvSpPr txBox="1"/>
          <p:nvPr/>
        </p:nvSpPr>
        <p:spPr>
          <a:xfrm>
            <a:off x="4702357" y="5550408"/>
            <a:ext cx="822960" cy="310896"/>
          </a:xfrm>
          <a:prstGeom prst="rect">
            <a:avLst/>
          </a:prstGeom>
          <a:noFill/>
        </p:spPr>
        <p:txBody>
          <a:bodyPr wrap="square" lIns="0" rIns="0" tIns="0" bIns="0" anchor="ctr">
            <a:noAutofit/>
          </a:bodyPr>
          <a:lstStyle/>
          <a:p>
            <a:pPr algn="l">
              <a:lnSpc>
                <a:spcPct val="110000"/>
              </a:lnSpc>
              <a:spcAft>
                <a:spcPts val="0"/>
              </a:spcAft>
            </a:pPr>
            <a:r>
              <a:rPr sz="1600" b="1" i="0">
                <a:solidFill>
                  <a:srgbClr val="1A1A1A"/>
                </a:solidFill>
                <a:latin typeface="Arial"/>
              </a:rPr>
              <a:t>36%</a:t>
            </a:r>
          </a:p>
        </p:txBody>
      </p:sp>
      <p:cxnSp>
        <p:nvCxnSpPr>
          <p:cNvPr id="34" name="Line"/>
          <p:cNvCxnSpPr/>
          <p:nvPr/>
        </p:nvCxnSpPr>
        <p:spPr>
          <a:xfrm>
            <a:off x="4610917" y="5989320"/>
            <a:ext cx="2950748" cy="0"/>
          </a:xfrm>
          <a:prstGeom prst="line">
            <a:avLst/>
          </a:prstGeom>
          <a:ln w="25400">
            <a:solidFill>
              <a:srgbClr val="28A019"/>
            </a:solidFill>
          </a:ln>
        </p:spPr>
      </p:cxnSp>
      <p:cxnSp>
        <p:nvCxnSpPr>
          <p:cNvPr id="35" name="Line"/>
          <p:cNvCxnSpPr/>
          <p:nvPr/>
        </p:nvCxnSpPr>
        <p:spPr>
          <a:xfrm>
            <a:off x="4610917" y="5916168"/>
            <a:ext cx="0" cy="146304"/>
          </a:xfrm>
          <a:prstGeom prst="line">
            <a:avLst/>
          </a:prstGeom>
          <a:ln w="25400">
            <a:solidFill>
              <a:srgbClr val="28A019"/>
            </a:solidFill>
          </a:ln>
        </p:spPr>
      </p:cxnSp>
      <p:cxnSp>
        <p:nvCxnSpPr>
          <p:cNvPr id="36" name="Line"/>
          <p:cNvCxnSpPr/>
          <p:nvPr/>
        </p:nvCxnSpPr>
        <p:spPr>
          <a:xfrm>
            <a:off x="7561665" y="5916168"/>
            <a:ext cx="0" cy="146304"/>
          </a:xfrm>
          <a:prstGeom prst="line">
            <a:avLst/>
          </a:prstGeom>
          <a:ln w="25400">
            <a:solidFill>
              <a:srgbClr val="28A019"/>
            </a:solidFill>
          </a:ln>
        </p:spPr>
      </p:cxnSp>
      <p:sp>
        <p:nvSpPr>
          <p:cNvPr id="37" name="Text"/>
          <p:cNvSpPr txBox="1"/>
          <p:nvPr/>
        </p:nvSpPr>
        <p:spPr>
          <a:xfrm>
            <a:off x="9852202" y="5093208"/>
            <a:ext cx="1729587" cy="502920"/>
          </a:xfrm>
          <a:prstGeom prst="rect">
            <a:avLst/>
          </a:prstGeom>
          <a:noFill/>
        </p:spPr>
        <p:txBody>
          <a:bodyPr wrap="square" lIns="0" rIns="0" tIns="0" bIns="0" anchor="t">
            <a:noAutofit/>
          </a:bodyPr>
          <a:lstStyle/>
          <a:p>
            <a:pPr algn="r">
              <a:lnSpc>
                <a:spcPct val="110000"/>
              </a:lnSpc>
              <a:spcAft>
                <a:spcPts val="0"/>
              </a:spcAft>
            </a:pPr>
            <a:r>
              <a:rPr sz="3000" b="1" i="0">
                <a:solidFill>
                  <a:srgbClr val="28A019"/>
                </a:solidFill>
                <a:latin typeface="Arial"/>
              </a:rPr>
              <a:t>52 pts</a:t>
            </a:r>
          </a:p>
        </p:txBody>
      </p:sp>
      <p:sp>
        <p:nvSpPr>
          <p:cNvPr id="38" name="Text"/>
          <p:cNvSpPr txBox="1"/>
          <p:nvPr/>
        </p:nvSpPr>
        <p:spPr>
          <a:xfrm>
            <a:off x="9852202" y="5586984"/>
            <a:ext cx="1729587" cy="274320"/>
          </a:xfrm>
          <a:prstGeom prst="rect">
            <a:avLst/>
          </a:prstGeom>
          <a:noFill/>
        </p:spPr>
        <p:txBody>
          <a:bodyPr wrap="square" lIns="0" rIns="0" tIns="0" bIns="0" anchor="t">
            <a:noAutofit/>
          </a:bodyPr>
          <a:lstStyle/>
          <a:p>
            <a:pPr algn="r">
              <a:lnSpc>
                <a:spcPct val="110000"/>
              </a:lnSpc>
              <a:spcAft>
                <a:spcPts val="0"/>
              </a:spcAft>
            </a:pPr>
            <a:r>
              <a:rPr sz="1600" b="0" i="0">
                <a:solidFill>
                  <a:srgbClr val="434343"/>
                </a:solidFill>
                <a:latin typeface="Arial"/>
              </a:rPr>
              <a:t>perception gap</a:t>
            </a:r>
          </a:p>
        </p:txBody>
      </p:sp>
      <p:sp>
        <p:nvSpPr>
          <p:cNvPr id="39" name="Text"/>
          <p:cNvSpPr txBox="1"/>
          <p:nvPr/>
        </p:nvSpPr>
        <p:spPr>
          <a:xfrm>
            <a:off x="609904" y="6099048"/>
            <a:ext cx="10971885" cy="201168"/>
          </a:xfrm>
          <a:prstGeom prst="rect">
            <a:avLst/>
          </a:prstGeom>
          <a:noFill/>
        </p:spPr>
        <p:txBody>
          <a:bodyPr wrap="square" lIns="0" rIns="0" tIns="0" bIns="0" anchor="t">
            <a:noAutofit/>
          </a:bodyPr>
          <a:lstStyle/>
          <a:p>
            <a:pPr algn="l">
              <a:lnSpc>
                <a:spcPct val="110000"/>
              </a:lnSpc>
              <a:spcAft>
                <a:spcPts val="0"/>
              </a:spcAft>
            </a:pPr>
            <a:r>
              <a:rPr sz="1100" b="0" i="0" spc="100">
                <a:solidFill>
                  <a:srgbClr val="6B6B6B"/>
                </a:solidFill>
                <a:latin typeface="Arial"/>
              </a:rPr>
              <a:t>BAIN &amp; COMPANY · JAN 2026 · ~1,000 EXECUTIVES AND EMPLOYEES WHO WENT THROUGH A REORGANIZATION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609904" y="457200"/>
            <a:ext cx="8171764"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1E7A13"/>
                </a:solidFill>
                <a:latin typeface="Arial"/>
              </a:rPr>
              <a:t>YOUR VIEW</a:t>
            </a:r>
          </a:p>
        </p:txBody>
      </p:sp>
      <p:sp>
        <p:nvSpPr>
          <p:cNvPr id="3" name="Headline"/>
          <p:cNvSpPr txBox="1"/>
          <p:nvPr/>
        </p:nvSpPr>
        <p:spPr>
          <a:xfrm>
            <a:off x="609904" y="731520"/>
            <a:ext cx="10038511" cy="960120"/>
          </a:xfrm>
          <a:prstGeom prst="rect">
            <a:avLst/>
          </a:prstGeom>
          <a:noFill/>
        </p:spPr>
        <p:txBody>
          <a:bodyPr wrap="square" lIns="0" rIns="0" tIns="0" bIns="0" anchor="t">
            <a:noAutofit/>
          </a:bodyPr>
          <a:lstStyle/>
          <a:p>
            <a:pPr algn="l">
              <a:lnSpc>
                <a:spcPct val="100000"/>
              </a:lnSpc>
              <a:spcAft>
                <a:spcPts val="0"/>
              </a:spcAft>
            </a:pPr>
            <a:r>
              <a:rPr sz="3000" b="1" i="0">
                <a:solidFill>
                  <a:srgbClr val="1A1A1A"/>
                </a:solidFill>
                <a:latin typeface="Arial"/>
              </a:rPr>
              <a:t>Snapshot tools show that friction exists. They rarely show its kind, location or fix.</a:t>
            </a:r>
          </a:p>
        </p:txBody>
      </p:sp>
      <p:pic>
        <p:nvPicPr>
          <p:cNvPr id="4" name="Picture 3" descr="logo-icon.png"/>
          <p:cNvPicPr>
            <a:picLocks noChangeAspect="1"/>
          </p:cNvPicPr>
          <p:nvPr/>
        </p:nvPicPr>
        <p:blipFill>
          <a:blip r:embed="rId2"/>
          <a:stretch>
            <a:fillRect/>
          </a:stretch>
        </p:blipFill>
        <p:spPr>
          <a:xfrm>
            <a:off x="609904" y="6382512"/>
            <a:ext cx="201168" cy="201168"/>
          </a:xfrm>
          <a:prstGeom prst="rect">
            <a:avLst/>
          </a:prstGeom>
        </p:spPr>
      </p:pic>
      <p:sp>
        <p:nvSpPr>
          <p:cNvPr id="5" name="Footer"/>
          <p:cNvSpPr txBox="1"/>
          <p:nvPr/>
        </p:nvSpPr>
        <p:spPr>
          <a:xfrm>
            <a:off x="902512" y="6382512"/>
            <a:ext cx="3657600" cy="201168"/>
          </a:xfrm>
          <a:prstGeom prst="rect">
            <a:avLst/>
          </a:prstGeom>
          <a:noFill/>
        </p:spPr>
        <p:txBody>
          <a:bodyPr wrap="square" lIns="0" rIns="0" tIns="0" bIns="0" anchor="ctr">
            <a:noAutofit/>
          </a:bodyPr>
          <a:lstStyle/>
          <a:p>
            <a:pPr algn="l">
              <a:lnSpc>
                <a:spcPct val="110000"/>
              </a:lnSpc>
              <a:spcAft>
                <a:spcPts val="0"/>
              </a:spcAft>
            </a:pPr>
            <a:r>
              <a:rPr sz="1100" b="0" i="0">
                <a:solidFill>
                  <a:srgbClr val="6B6B6B"/>
                </a:solidFill>
                <a:latin typeface="Arial"/>
              </a:rPr>
              <a:t>The Diagnose Conversation</a:t>
            </a:r>
          </a:p>
        </p:txBody>
      </p:sp>
      <p:sp>
        <p:nvSpPr>
          <p:cNvPr id="6" name="Page number"/>
          <p:cNvSpPr txBox="1"/>
          <p:nvPr/>
        </p:nvSpPr>
        <p:spPr>
          <a:xfrm>
            <a:off x="10210190" y="6382512"/>
            <a:ext cx="1371600" cy="201168"/>
          </a:xfrm>
          <a:prstGeom prst="rect">
            <a:avLst/>
          </a:prstGeom>
          <a:noFill/>
        </p:spPr>
        <p:txBody>
          <a:bodyPr wrap="square" lIns="0" rIns="0" tIns="0" bIns="0" anchor="ctr">
            <a:noAutofit/>
          </a:bodyPr>
          <a:lstStyle/>
          <a:p>
            <a:pPr algn="r">
              <a:lnSpc>
                <a:spcPct val="110000"/>
              </a:lnSpc>
              <a:spcAft>
                <a:spcPts val="0"/>
              </a:spcAft>
            </a:pPr>
            <a:r>
              <a:rPr sz="1100" b="0" i="0">
                <a:solidFill>
                  <a:srgbClr val="6B6B6B"/>
                </a:solidFill>
                <a:latin typeface="Arial"/>
              </a:rPr>
              <a:t>05 / 14</a:t>
            </a:r>
          </a:p>
        </p:txBody>
      </p:sp>
      <p:sp>
        <p:nvSpPr>
          <p:cNvPr id="7" name="Label"/>
          <p:cNvSpPr txBox="1"/>
          <p:nvPr/>
        </p:nvSpPr>
        <p:spPr>
          <a:xfrm>
            <a:off x="609904" y="1938528"/>
            <a:ext cx="4572000"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6B6B6B"/>
                </a:solidFill>
                <a:latin typeface="Arial"/>
              </a:rPr>
              <a:t>TODAY'S SNAPSHOT TOOLS</a:t>
            </a:r>
          </a:p>
        </p:txBody>
      </p:sp>
      <p:sp>
        <p:nvSpPr>
          <p:cNvPr id="8" name="Pill"/>
          <p:cNvSpPr/>
          <p:nvPr/>
        </p:nvSpPr>
        <p:spPr>
          <a:xfrm>
            <a:off x="609904" y="2212848"/>
            <a:ext cx="1212494" cy="420624"/>
          </a:xfrm>
          <a:prstGeom prst="roundRect">
            <a:avLst>
              <a:gd name="adj" fmla="val 50000"/>
            </a:avLst>
          </a:prstGeom>
          <a:solidFill>
            <a:srgbClr val="FFFFFF"/>
          </a:solidFill>
          <a:ln w="12700">
            <a:solidFill>
              <a:srgbClr val="E0E0E0"/>
            </a:solidFill>
          </a:ln>
          <a:effectLst/>
        </p:spPr>
        <p:txBody>
          <a:bodyPr rtlCol="0" anchor="ctr" wrap="square" lIns="0" rIns="0" tIns="0" bIns="0">
            <a:noAutofit/>
          </a:bodyPr>
          <a:lstStyle/>
          <a:p>
            <a:pPr algn="ctr">
              <a:lnSpc>
                <a:spcPct val="100000"/>
              </a:lnSpc>
              <a:spcAft>
                <a:spcPts val="0"/>
              </a:spcAft>
            </a:pPr>
            <a:r>
              <a:rPr sz="1600" b="0" i="0">
                <a:solidFill>
                  <a:srgbClr val="1A1A1A"/>
                </a:solidFill>
                <a:latin typeface="Arial"/>
              </a:rPr>
              <a:t>Surveys</a:t>
            </a:r>
          </a:p>
        </p:txBody>
      </p:sp>
      <p:sp>
        <p:nvSpPr>
          <p:cNvPr id="9" name="Pill"/>
          <p:cNvSpPr/>
          <p:nvPr/>
        </p:nvSpPr>
        <p:spPr>
          <a:xfrm>
            <a:off x="1986991" y="2212848"/>
            <a:ext cx="1751990" cy="420624"/>
          </a:xfrm>
          <a:prstGeom prst="roundRect">
            <a:avLst>
              <a:gd name="adj" fmla="val 50000"/>
            </a:avLst>
          </a:prstGeom>
          <a:solidFill>
            <a:srgbClr val="FFFFFF"/>
          </a:solidFill>
          <a:ln w="12700">
            <a:solidFill>
              <a:srgbClr val="E0E0E0"/>
            </a:solidFill>
          </a:ln>
          <a:effectLst/>
        </p:spPr>
        <p:txBody>
          <a:bodyPr rtlCol="0" anchor="ctr" wrap="square" lIns="0" rIns="0" tIns="0" bIns="0">
            <a:noAutofit/>
          </a:bodyPr>
          <a:lstStyle/>
          <a:p>
            <a:pPr algn="ctr">
              <a:lnSpc>
                <a:spcPct val="100000"/>
              </a:lnSpc>
              <a:spcAft>
                <a:spcPts val="0"/>
              </a:spcAft>
            </a:pPr>
            <a:r>
              <a:rPr sz="1600" b="0" i="0">
                <a:solidFill>
                  <a:srgbClr val="1A1A1A"/>
                </a:solidFill>
                <a:latin typeface="Arial"/>
              </a:rPr>
              <a:t>Focus groups</a:t>
            </a:r>
          </a:p>
        </p:txBody>
      </p:sp>
      <p:sp>
        <p:nvSpPr>
          <p:cNvPr id="10" name="Pill"/>
          <p:cNvSpPr/>
          <p:nvPr/>
        </p:nvSpPr>
        <p:spPr>
          <a:xfrm>
            <a:off x="3903573" y="2212848"/>
            <a:ext cx="2183587" cy="420624"/>
          </a:xfrm>
          <a:prstGeom prst="roundRect">
            <a:avLst>
              <a:gd name="adj" fmla="val 50000"/>
            </a:avLst>
          </a:prstGeom>
          <a:solidFill>
            <a:srgbClr val="FFFFFF"/>
          </a:solidFill>
          <a:ln w="12700">
            <a:solidFill>
              <a:srgbClr val="E0E0E0"/>
            </a:solidFill>
          </a:ln>
          <a:effectLst/>
        </p:spPr>
        <p:txBody>
          <a:bodyPr rtlCol="0" anchor="ctr" wrap="square" lIns="0" rIns="0" tIns="0" bIns="0">
            <a:noAutofit/>
          </a:bodyPr>
          <a:lstStyle/>
          <a:p>
            <a:pPr algn="ctr">
              <a:lnSpc>
                <a:spcPct val="100000"/>
              </a:lnSpc>
              <a:spcAft>
                <a:spcPts val="0"/>
              </a:spcAft>
            </a:pPr>
            <a:r>
              <a:rPr sz="1600" b="0" i="0">
                <a:solidFill>
                  <a:srgbClr val="1A1A1A"/>
                </a:solidFill>
                <a:latin typeface="Arial"/>
              </a:rPr>
              <a:t>Manager feedback</a:t>
            </a:r>
          </a:p>
        </p:txBody>
      </p:sp>
      <p:sp>
        <p:nvSpPr>
          <p:cNvPr id="11" name="Pill"/>
          <p:cNvSpPr/>
          <p:nvPr/>
        </p:nvSpPr>
        <p:spPr>
          <a:xfrm>
            <a:off x="6251752" y="2212848"/>
            <a:ext cx="2723083" cy="420624"/>
          </a:xfrm>
          <a:prstGeom prst="roundRect">
            <a:avLst>
              <a:gd name="adj" fmla="val 50000"/>
            </a:avLst>
          </a:prstGeom>
          <a:solidFill>
            <a:srgbClr val="FFFFFF"/>
          </a:solidFill>
          <a:ln w="12700">
            <a:solidFill>
              <a:srgbClr val="E0E0E0"/>
            </a:solidFill>
          </a:ln>
          <a:effectLst/>
        </p:spPr>
        <p:txBody>
          <a:bodyPr rtlCol="0" anchor="ctr" wrap="square" lIns="0" rIns="0" tIns="0" bIns="0">
            <a:noAutofit/>
          </a:bodyPr>
          <a:lstStyle/>
          <a:p>
            <a:pPr algn="ctr">
              <a:lnSpc>
                <a:spcPct val="100000"/>
              </a:lnSpc>
              <a:spcAft>
                <a:spcPts val="0"/>
              </a:spcAft>
            </a:pPr>
            <a:r>
              <a:rPr sz="1600" b="0" i="0">
                <a:solidFill>
                  <a:srgbClr val="1A1A1A"/>
                </a:solidFill>
                <a:latin typeface="Arial"/>
              </a:rPr>
              <a:t>Readiness assessments</a:t>
            </a:r>
          </a:p>
        </p:txBody>
      </p:sp>
      <p:sp>
        <p:nvSpPr>
          <p:cNvPr id="12" name="Ask card"/>
          <p:cNvSpPr/>
          <p:nvPr/>
        </p:nvSpPr>
        <p:spPr>
          <a:xfrm>
            <a:off x="609904" y="3017520"/>
            <a:ext cx="10971885" cy="2834640"/>
          </a:xfrm>
          <a:prstGeom prst="roundRect">
            <a:avLst>
              <a:gd name="adj" fmla="val 4516"/>
            </a:avLst>
          </a:prstGeom>
          <a:solidFill>
            <a:srgbClr val="28A019"/>
          </a:solidFill>
          <a:ln>
            <a:noFill/>
          </a:ln>
          <a:effectLst/>
        </p:spPr>
        <p:txBody>
          <a:bodyPr rtlCol="0" anchor="ctr"/>
          <a:lstStyle/>
          <a:p>
            <a:pPr algn="ctr"/>
          </a:p>
        </p:txBody>
      </p:sp>
      <p:sp>
        <p:nvSpPr>
          <p:cNvPr id="13" name="Ask card tail"/>
          <p:cNvSpPr/>
          <p:nvPr/>
        </p:nvSpPr>
        <p:spPr>
          <a:xfrm flipV="1">
            <a:off x="1112824" y="5843016"/>
            <a:ext cx="310896" cy="155448"/>
          </a:xfrm>
          <a:prstGeom prst="rtTriangle">
            <a:avLst/>
          </a:prstGeom>
          <a:solidFill>
            <a:srgbClr val="28A019"/>
          </a:solidFill>
          <a:ln>
            <a:noFill/>
          </a:ln>
          <a:effectLst/>
        </p:spPr>
        <p:txBody>
          <a:bodyPr rtlCol="0" anchor="ctr"/>
          <a:lstStyle/>
          <a:p>
            <a:pPr algn="ctr"/>
          </a:p>
        </p:txBody>
      </p:sp>
      <p:sp>
        <p:nvSpPr>
          <p:cNvPr id="14" name="Ask label"/>
          <p:cNvSpPr/>
          <p:nvPr/>
        </p:nvSpPr>
        <p:spPr>
          <a:xfrm>
            <a:off x="929944" y="3310127"/>
            <a:ext cx="841248" cy="310896"/>
          </a:xfrm>
          <a:prstGeom prst="roundRect">
            <a:avLst>
              <a:gd name="adj" fmla="val 50000"/>
            </a:avLst>
          </a:prstGeom>
          <a:solidFill>
            <a:srgbClr val="FFFFFF"/>
          </a:solidFill>
          <a:ln>
            <a:noFill/>
          </a:ln>
          <a:effectLst/>
        </p:spPr>
        <p:txBody>
          <a:bodyPr rtlCol="0" anchor="ctr"/>
          <a:lstStyle/>
          <a:p>
            <a:pPr algn="ctr"/>
          </a:p>
        </p:txBody>
      </p:sp>
      <p:pic>
        <p:nvPicPr>
          <p:cNvPr id="15" name="Icon message-circle" descr="message-circle-green7.png"/>
          <p:cNvPicPr>
            <a:picLocks noChangeAspect="1"/>
          </p:cNvPicPr>
          <p:nvPr/>
        </p:nvPicPr>
        <p:blipFill>
          <a:blip r:embed="rId3"/>
          <a:stretch>
            <a:fillRect/>
          </a:stretch>
        </p:blipFill>
        <p:spPr>
          <a:xfrm>
            <a:off x="1048816" y="3374135"/>
            <a:ext cx="182880" cy="182880"/>
          </a:xfrm>
          <a:prstGeom prst="rect">
            <a:avLst/>
          </a:prstGeom>
        </p:spPr>
      </p:pic>
      <p:sp>
        <p:nvSpPr>
          <p:cNvPr id="16" name="Ask label text"/>
          <p:cNvSpPr txBox="1"/>
          <p:nvPr/>
        </p:nvSpPr>
        <p:spPr>
          <a:xfrm>
            <a:off x="1277416" y="3310127"/>
            <a:ext cx="457200" cy="310896"/>
          </a:xfrm>
          <a:prstGeom prst="rect">
            <a:avLst/>
          </a:prstGeom>
          <a:noFill/>
        </p:spPr>
        <p:txBody>
          <a:bodyPr wrap="square" lIns="0" rIns="0" tIns="0" bIns="0" anchor="ctr">
            <a:noAutofit/>
          </a:bodyPr>
          <a:lstStyle/>
          <a:p>
            <a:pPr algn="l">
              <a:lnSpc>
                <a:spcPct val="110000"/>
              </a:lnSpc>
              <a:spcAft>
                <a:spcPts val="0"/>
              </a:spcAft>
            </a:pPr>
            <a:r>
              <a:rPr sz="1100" b="1" i="0" spc="200">
                <a:solidFill>
                  <a:srgbClr val="1E7A13"/>
                </a:solidFill>
                <a:latin typeface="Arial"/>
              </a:rPr>
              <a:t>ASK</a:t>
            </a:r>
          </a:p>
        </p:txBody>
      </p:sp>
      <p:sp>
        <p:nvSpPr>
          <p:cNvPr id="17" name="Ask question"/>
          <p:cNvSpPr txBox="1"/>
          <p:nvPr/>
        </p:nvSpPr>
        <p:spPr>
          <a:xfrm>
            <a:off x="929944" y="3822191"/>
            <a:ext cx="10331805" cy="1755648"/>
          </a:xfrm>
          <a:prstGeom prst="rect">
            <a:avLst/>
          </a:prstGeom>
          <a:noFill/>
        </p:spPr>
        <p:txBody>
          <a:bodyPr wrap="square" lIns="0" rIns="0" tIns="0" bIns="0" anchor="t">
            <a:noAutofit/>
          </a:bodyPr>
          <a:lstStyle/>
          <a:p>
            <a:pPr algn="l">
              <a:lnSpc>
                <a:spcPct val="102000"/>
              </a:lnSpc>
              <a:spcAft>
                <a:spcPts val="600"/>
              </a:spcAft>
            </a:pPr>
            <a:r>
              <a:rPr sz="2000" b="1" i="0">
                <a:solidFill>
                  <a:srgbClr val="FFFFFF"/>
                </a:solidFill>
                <a:latin typeface="Arial"/>
              </a:rPr>
              <a:t>On a scale of 1 to 10, how ready is the organization to diagnose what is helping or blocking adoption?</a:t>
            </a:r>
          </a:p>
        </p:txBody>
      </p:sp>
      <p:sp>
        <p:nvSpPr>
          <p:cNvPr id="18" name="Scale point"/>
          <p:cNvSpPr/>
          <p:nvPr/>
        </p:nvSpPr>
        <p:spPr>
          <a:xfrm>
            <a:off x="929944" y="4663440"/>
            <a:ext cx="566928" cy="566928"/>
          </a:xfrm>
          <a:prstGeom prst="ellipse">
            <a:avLst/>
          </a:prstGeom>
          <a:noFill/>
          <a:ln w="28575">
            <a:solidFill>
              <a:srgbClr val="FFFFFF"/>
            </a:solidFill>
          </a:ln>
          <a:effectLst/>
        </p:spPr>
        <p:txBody>
          <a:bodyPr rtlCol="0" anchor="ctr" wrap="square" lIns="0" rIns="0" tIns="0" bIns="0">
            <a:noAutofit/>
          </a:bodyPr>
          <a:lstStyle/>
          <a:p>
            <a:pPr algn="ctr">
              <a:lnSpc>
                <a:spcPct val="100000"/>
              </a:lnSpc>
              <a:spcAft>
                <a:spcPts val="0"/>
              </a:spcAft>
            </a:pPr>
            <a:r>
              <a:rPr sz="2000" b="1" i="0">
                <a:solidFill>
                  <a:srgbClr val="FFFFFF"/>
                </a:solidFill>
                <a:latin typeface="Arial"/>
              </a:rPr>
              <a:t>1</a:t>
            </a:r>
          </a:p>
        </p:txBody>
      </p:sp>
      <p:sp>
        <p:nvSpPr>
          <p:cNvPr id="19" name="Scale point"/>
          <p:cNvSpPr/>
          <p:nvPr/>
        </p:nvSpPr>
        <p:spPr>
          <a:xfrm>
            <a:off x="2014931" y="4663440"/>
            <a:ext cx="566928" cy="566928"/>
          </a:xfrm>
          <a:prstGeom prst="ellipse">
            <a:avLst/>
          </a:prstGeom>
          <a:noFill/>
          <a:ln w="28575">
            <a:solidFill>
              <a:srgbClr val="FFFFFF"/>
            </a:solidFill>
          </a:ln>
          <a:effectLst/>
        </p:spPr>
        <p:txBody>
          <a:bodyPr rtlCol="0" anchor="ctr" wrap="square" lIns="0" rIns="0" tIns="0" bIns="0">
            <a:noAutofit/>
          </a:bodyPr>
          <a:lstStyle/>
          <a:p>
            <a:pPr algn="ctr">
              <a:lnSpc>
                <a:spcPct val="100000"/>
              </a:lnSpc>
              <a:spcAft>
                <a:spcPts val="0"/>
              </a:spcAft>
            </a:pPr>
            <a:r>
              <a:rPr sz="2000" b="1" i="0">
                <a:solidFill>
                  <a:srgbClr val="FFFFFF"/>
                </a:solidFill>
                <a:latin typeface="Arial"/>
              </a:rPr>
              <a:t>2</a:t>
            </a:r>
          </a:p>
        </p:txBody>
      </p:sp>
      <p:sp>
        <p:nvSpPr>
          <p:cNvPr id="20" name="Scale point"/>
          <p:cNvSpPr/>
          <p:nvPr/>
        </p:nvSpPr>
        <p:spPr>
          <a:xfrm>
            <a:off x="3099917" y="4663440"/>
            <a:ext cx="566928" cy="566928"/>
          </a:xfrm>
          <a:prstGeom prst="ellipse">
            <a:avLst/>
          </a:prstGeom>
          <a:noFill/>
          <a:ln w="28575">
            <a:solidFill>
              <a:srgbClr val="FFFFFF"/>
            </a:solidFill>
          </a:ln>
          <a:effectLst/>
        </p:spPr>
        <p:txBody>
          <a:bodyPr rtlCol="0" anchor="ctr" wrap="square" lIns="0" rIns="0" tIns="0" bIns="0">
            <a:noAutofit/>
          </a:bodyPr>
          <a:lstStyle/>
          <a:p>
            <a:pPr algn="ctr">
              <a:lnSpc>
                <a:spcPct val="100000"/>
              </a:lnSpc>
              <a:spcAft>
                <a:spcPts val="0"/>
              </a:spcAft>
            </a:pPr>
            <a:r>
              <a:rPr sz="2000" b="1" i="0">
                <a:solidFill>
                  <a:srgbClr val="FFFFFF"/>
                </a:solidFill>
                <a:latin typeface="Arial"/>
              </a:rPr>
              <a:t>3</a:t>
            </a:r>
          </a:p>
        </p:txBody>
      </p:sp>
      <p:sp>
        <p:nvSpPr>
          <p:cNvPr id="21" name="Scale point"/>
          <p:cNvSpPr/>
          <p:nvPr/>
        </p:nvSpPr>
        <p:spPr>
          <a:xfrm>
            <a:off x="4184903" y="4663440"/>
            <a:ext cx="566928" cy="566928"/>
          </a:xfrm>
          <a:prstGeom prst="ellipse">
            <a:avLst/>
          </a:prstGeom>
          <a:noFill/>
          <a:ln w="28575">
            <a:solidFill>
              <a:srgbClr val="FFFFFF"/>
            </a:solidFill>
          </a:ln>
          <a:effectLst/>
        </p:spPr>
        <p:txBody>
          <a:bodyPr rtlCol="0" anchor="ctr" wrap="square" lIns="0" rIns="0" tIns="0" bIns="0">
            <a:noAutofit/>
          </a:bodyPr>
          <a:lstStyle/>
          <a:p>
            <a:pPr algn="ctr">
              <a:lnSpc>
                <a:spcPct val="100000"/>
              </a:lnSpc>
              <a:spcAft>
                <a:spcPts val="0"/>
              </a:spcAft>
            </a:pPr>
            <a:r>
              <a:rPr sz="2000" b="1" i="0">
                <a:solidFill>
                  <a:srgbClr val="FFFFFF"/>
                </a:solidFill>
                <a:latin typeface="Arial"/>
              </a:rPr>
              <a:t>4</a:t>
            </a:r>
          </a:p>
        </p:txBody>
      </p:sp>
      <p:sp>
        <p:nvSpPr>
          <p:cNvPr id="22" name="Scale point"/>
          <p:cNvSpPr/>
          <p:nvPr/>
        </p:nvSpPr>
        <p:spPr>
          <a:xfrm>
            <a:off x="5269890" y="4663440"/>
            <a:ext cx="566928" cy="566928"/>
          </a:xfrm>
          <a:prstGeom prst="ellipse">
            <a:avLst/>
          </a:prstGeom>
          <a:noFill/>
          <a:ln w="28575">
            <a:solidFill>
              <a:srgbClr val="FFFFFF"/>
            </a:solidFill>
          </a:ln>
          <a:effectLst/>
        </p:spPr>
        <p:txBody>
          <a:bodyPr rtlCol="0" anchor="ctr" wrap="square" lIns="0" rIns="0" tIns="0" bIns="0">
            <a:noAutofit/>
          </a:bodyPr>
          <a:lstStyle/>
          <a:p>
            <a:pPr algn="ctr">
              <a:lnSpc>
                <a:spcPct val="100000"/>
              </a:lnSpc>
              <a:spcAft>
                <a:spcPts val="0"/>
              </a:spcAft>
            </a:pPr>
            <a:r>
              <a:rPr sz="2000" b="1" i="0">
                <a:solidFill>
                  <a:srgbClr val="FFFFFF"/>
                </a:solidFill>
                <a:latin typeface="Arial"/>
              </a:rPr>
              <a:t>5</a:t>
            </a:r>
          </a:p>
        </p:txBody>
      </p:sp>
      <p:sp>
        <p:nvSpPr>
          <p:cNvPr id="23" name="Scale point"/>
          <p:cNvSpPr/>
          <p:nvPr/>
        </p:nvSpPr>
        <p:spPr>
          <a:xfrm>
            <a:off x="6354876" y="4663440"/>
            <a:ext cx="566928" cy="566928"/>
          </a:xfrm>
          <a:prstGeom prst="ellipse">
            <a:avLst/>
          </a:prstGeom>
          <a:noFill/>
          <a:ln w="28575">
            <a:solidFill>
              <a:srgbClr val="FFFFFF"/>
            </a:solidFill>
          </a:ln>
          <a:effectLst/>
        </p:spPr>
        <p:txBody>
          <a:bodyPr rtlCol="0" anchor="ctr" wrap="square" lIns="0" rIns="0" tIns="0" bIns="0">
            <a:noAutofit/>
          </a:bodyPr>
          <a:lstStyle/>
          <a:p>
            <a:pPr algn="ctr">
              <a:lnSpc>
                <a:spcPct val="100000"/>
              </a:lnSpc>
              <a:spcAft>
                <a:spcPts val="0"/>
              </a:spcAft>
            </a:pPr>
            <a:r>
              <a:rPr sz="2000" b="1" i="0">
                <a:solidFill>
                  <a:srgbClr val="FFFFFF"/>
                </a:solidFill>
                <a:latin typeface="Arial"/>
              </a:rPr>
              <a:t>6</a:t>
            </a:r>
          </a:p>
        </p:txBody>
      </p:sp>
      <p:sp>
        <p:nvSpPr>
          <p:cNvPr id="24" name="Scale point"/>
          <p:cNvSpPr/>
          <p:nvPr/>
        </p:nvSpPr>
        <p:spPr>
          <a:xfrm>
            <a:off x="7439863" y="4663440"/>
            <a:ext cx="566928" cy="566928"/>
          </a:xfrm>
          <a:prstGeom prst="ellipse">
            <a:avLst/>
          </a:prstGeom>
          <a:noFill/>
          <a:ln w="28575">
            <a:solidFill>
              <a:srgbClr val="FFFFFF"/>
            </a:solidFill>
          </a:ln>
          <a:effectLst/>
        </p:spPr>
        <p:txBody>
          <a:bodyPr rtlCol="0" anchor="ctr" wrap="square" lIns="0" rIns="0" tIns="0" bIns="0">
            <a:noAutofit/>
          </a:bodyPr>
          <a:lstStyle/>
          <a:p>
            <a:pPr algn="ctr">
              <a:lnSpc>
                <a:spcPct val="100000"/>
              </a:lnSpc>
              <a:spcAft>
                <a:spcPts val="0"/>
              </a:spcAft>
            </a:pPr>
            <a:r>
              <a:rPr sz="2000" b="1" i="0">
                <a:solidFill>
                  <a:srgbClr val="FFFFFF"/>
                </a:solidFill>
                <a:latin typeface="Arial"/>
              </a:rPr>
              <a:t>7</a:t>
            </a:r>
          </a:p>
        </p:txBody>
      </p:sp>
      <p:sp>
        <p:nvSpPr>
          <p:cNvPr id="25" name="Scale point"/>
          <p:cNvSpPr/>
          <p:nvPr/>
        </p:nvSpPr>
        <p:spPr>
          <a:xfrm>
            <a:off x="8524849" y="4663440"/>
            <a:ext cx="566928" cy="566928"/>
          </a:xfrm>
          <a:prstGeom prst="ellipse">
            <a:avLst/>
          </a:prstGeom>
          <a:noFill/>
          <a:ln w="28575">
            <a:solidFill>
              <a:srgbClr val="FFFFFF"/>
            </a:solidFill>
          </a:ln>
          <a:effectLst/>
        </p:spPr>
        <p:txBody>
          <a:bodyPr rtlCol="0" anchor="ctr" wrap="square" lIns="0" rIns="0" tIns="0" bIns="0">
            <a:noAutofit/>
          </a:bodyPr>
          <a:lstStyle/>
          <a:p>
            <a:pPr algn="ctr">
              <a:lnSpc>
                <a:spcPct val="100000"/>
              </a:lnSpc>
              <a:spcAft>
                <a:spcPts val="0"/>
              </a:spcAft>
            </a:pPr>
            <a:r>
              <a:rPr sz="2000" b="1" i="0">
                <a:solidFill>
                  <a:srgbClr val="FFFFFF"/>
                </a:solidFill>
                <a:latin typeface="Arial"/>
              </a:rPr>
              <a:t>8</a:t>
            </a:r>
          </a:p>
        </p:txBody>
      </p:sp>
      <p:sp>
        <p:nvSpPr>
          <p:cNvPr id="26" name="Scale point"/>
          <p:cNvSpPr/>
          <p:nvPr/>
        </p:nvSpPr>
        <p:spPr>
          <a:xfrm>
            <a:off x="9609836" y="4663440"/>
            <a:ext cx="566928" cy="566928"/>
          </a:xfrm>
          <a:prstGeom prst="ellipse">
            <a:avLst/>
          </a:prstGeom>
          <a:noFill/>
          <a:ln w="28575">
            <a:solidFill>
              <a:srgbClr val="FFFFFF"/>
            </a:solidFill>
          </a:ln>
          <a:effectLst/>
        </p:spPr>
        <p:txBody>
          <a:bodyPr rtlCol="0" anchor="ctr" wrap="square" lIns="0" rIns="0" tIns="0" bIns="0">
            <a:noAutofit/>
          </a:bodyPr>
          <a:lstStyle/>
          <a:p>
            <a:pPr algn="ctr">
              <a:lnSpc>
                <a:spcPct val="100000"/>
              </a:lnSpc>
              <a:spcAft>
                <a:spcPts val="0"/>
              </a:spcAft>
            </a:pPr>
            <a:r>
              <a:rPr sz="2000" b="1" i="0">
                <a:solidFill>
                  <a:srgbClr val="FFFFFF"/>
                </a:solidFill>
                <a:latin typeface="Arial"/>
              </a:rPr>
              <a:t>9</a:t>
            </a:r>
          </a:p>
        </p:txBody>
      </p:sp>
      <p:sp>
        <p:nvSpPr>
          <p:cNvPr id="27" name="Scale point"/>
          <p:cNvSpPr/>
          <p:nvPr/>
        </p:nvSpPr>
        <p:spPr>
          <a:xfrm>
            <a:off x="10694822" y="4663440"/>
            <a:ext cx="566928" cy="566928"/>
          </a:xfrm>
          <a:prstGeom prst="ellipse">
            <a:avLst/>
          </a:prstGeom>
          <a:noFill/>
          <a:ln w="28575">
            <a:solidFill>
              <a:srgbClr val="FFFFFF"/>
            </a:solidFill>
          </a:ln>
          <a:effectLst/>
        </p:spPr>
        <p:txBody>
          <a:bodyPr rtlCol="0" anchor="ctr" wrap="square" lIns="0" rIns="0" tIns="0" bIns="0">
            <a:noAutofit/>
          </a:bodyPr>
          <a:lstStyle/>
          <a:p>
            <a:pPr algn="ctr">
              <a:lnSpc>
                <a:spcPct val="100000"/>
              </a:lnSpc>
              <a:spcAft>
                <a:spcPts val="0"/>
              </a:spcAft>
            </a:pPr>
            <a:r>
              <a:rPr sz="2000" b="1" i="0">
                <a:solidFill>
                  <a:srgbClr val="FFFFFF"/>
                </a:solidFill>
                <a:latin typeface="Arial"/>
              </a:rPr>
              <a:t>10</a:t>
            </a:r>
          </a:p>
        </p:txBody>
      </p:sp>
      <p:sp>
        <p:nvSpPr>
          <p:cNvPr id="28" name="Text"/>
          <p:cNvSpPr txBox="1"/>
          <p:nvPr/>
        </p:nvSpPr>
        <p:spPr>
          <a:xfrm>
            <a:off x="929944" y="5321808"/>
            <a:ext cx="2743200" cy="274320"/>
          </a:xfrm>
          <a:prstGeom prst="rect">
            <a:avLst/>
          </a:prstGeom>
          <a:noFill/>
        </p:spPr>
        <p:txBody>
          <a:bodyPr wrap="square" lIns="0" rIns="0" tIns="0" bIns="0" anchor="t">
            <a:noAutofit/>
          </a:bodyPr>
          <a:lstStyle/>
          <a:p>
            <a:pPr algn="l">
              <a:lnSpc>
                <a:spcPct val="110000"/>
              </a:lnSpc>
              <a:spcAft>
                <a:spcPts val="0"/>
              </a:spcAft>
            </a:pPr>
            <a:r>
              <a:rPr sz="1600" b="1" i="0">
                <a:solidFill>
                  <a:srgbClr val="FFFFFF"/>
                </a:solidFill>
                <a:latin typeface="Arial"/>
              </a:rPr>
              <a:t>Not ready</a:t>
            </a:r>
          </a:p>
        </p:txBody>
      </p:sp>
      <p:sp>
        <p:nvSpPr>
          <p:cNvPr id="29" name="Text"/>
          <p:cNvSpPr txBox="1"/>
          <p:nvPr/>
        </p:nvSpPr>
        <p:spPr>
          <a:xfrm>
            <a:off x="8518550" y="5321808"/>
            <a:ext cx="2743200" cy="274320"/>
          </a:xfrm>
          <a:prstGeom prst="rect">
            <a:avLst/>
          </a:prstGeom>
          <a:noFill/>
        </p:spPr>
        <p:txBody>
          <a:bodyPr wrap="square" lIns="0" rIns="0" tIns="0" bIns="0" anchor="t">
            <a:noAutofit/>
          </a:bodyPr>
          <a:lstStyle/>
          <a:p>
            <a:pPr algn="r">
              <a:lnSpc>
                <a:spcPct val="110000"/>
              </a:lnSpc>
              <a:spcAft>
                <a:spcPts val="0"/>
              </a:spcAft>
            </a:pPr>
            <a:r>
              <a:rPr sz="1600" b="1" i="0">
                <a:solidFill>
                  <a:srgbClr val="FFFFFF"/>
                </a:solidFill>
                <a:latin typeface="Arial"/>
              </a:rPr>
              <a:t>Fully ready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609904" y="457200"/>
            <a:ext cx="8171764"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1E7A13"/>
                </a:solidFill>
                <a:latin typeface="Arial"/>
              </a:rPr>
              <a:t>THE FOUR COSTS OF CHANGE</a:t>
            </a:r>
          </a:p>
        </p:txBody>
      </p:sp>
      <p:sp>
        <p:nvSpPr>
          <p:cNvPr id="3" name="Headline"/>
          <p:cNvSpPr txBox="1"/>
          <p:nvPr/>
        </p:nvSpPr>
        <p:spPr>
          <a:xfrm>
            <a:off x="609904" y="731520"/>
            <a:ext cx="10038511" cy="960120"/>
          </a:xfrm>
          <a:prstGeom prst="rect">
            <a:avLst/>
          </a:prstGeom>
          <a:noFill/>
        </p:spPr>
        <p:txBody>
          <a:bodyPr wrap="square" lIns="0" rIns="0" tIns="0" bIns="0" anchor="t">
            <a:noAutofit/>
          </a:bodyPr>
          <a:lstStyle/>
          <a:p>
            <a:pPr algn="l">
              <a:lnSpc>
                <a:spcPct val="100000"/>
              </a:lnSpc>
              <a:spcAft>
                <a:spcPts val="0"/>
              </a:spcAft>
            </a:pPr>
            <a:r>
              <a:rPr sz="3000" b="1" i="0">
                <a:solidFill>
                  <a:srgbClr val="1A1A1A"/>
                </a:solidFill>
                <a:latin typeface="Arial"/>
              </a:rPr>
              <a:t>Most friction gets filed as a skills gap. The expensive costs are the other three.</a:t>
            </a:r>
          </a:p>
        </p:txBody>
      </p:sp>
      <p:pic>
        <p:nvPicPr>
          <p:cNvPr id="4" name="Picture 3" descr="logo-icon.png"/>
          <p:cNvPicPr>
            <a:picLocks noChangeAspect="1"/>
          </p:cNvPicPr>
          <p:nvPr/>
        </p:nvPicPr>
        <p:blipFill>
          <a:blip r:embed="rId2"/>
          <a:stretch>
            <a:fillRect/>
          </a:stretch>
        </p:blipFill>
        <p:spPr>
          <a:xfrm>
            <a:off x="609904" y="6382512"/>
            <a:ext cx="201168" cy="201168"/>
          </a:xfrm>
          <a:prstGeom prst="rect">
            <a:avLst/>
          </a:prstGeom>
        </p:spPr>
      </p:pic>
      <p:sp>
        <p:nvSpPr>
          <p:cNvPr id="5" name="Footer"/>
          <p:cNvSpPr txBox="1"/>
          <p:nvPr/>
        </p:nvSpPr>
        <p:spPr>
          <a:xfrm>
            <a:off x="902512" y="6382512"/>
            <a:ext cx="3657600" cy="201168"/>
          </a:xfrm>
          <a:prstGeom prst="rect">
            <a:avLst/>
          </a:prstGeom>
          <a:noFill/>
        </p:spPr>
        <p:txBody>
          <a:bodyPr wrap="square" lIns="0" rIns="0" tIns="0" bIns="0" anchor="ctr">
            <a:noAutofit/>
          </a:bodyPr>
          <a:lstStyle/>
          <a:p>
            <a:pPr algn="l">
              <a:lnSpc>
                <a:spcPct val="110000"/>
              </a:lnSpc>
              <a:spcAft>
                <a:spcPts val="0"/>
              </a:spcAft>
            </a:pPr>
            <a:r>
              <a:rPr sz="1100" b="0" i="0">
                <a:solidFill>
                  <a:srgbClr val="6B6B6B"/>
                </a:solidFill>
                <a:latin typeface="Arial"/>
              </a:rPr>
              <a:t>The Diagnose Conversation</a:t>
            </a:r>
          </a:p>
        </p:txBody>
      </p:sp>
      <p:sp>
        <p:nvSpPr>
          <p:cNvPr id="6" name="Page number"/>
          <p:cNvSpPr txBox="1"/>
          <p:nvPr/>
        </p:nvSpPr>
        <p:spPr>
          <a:xfrm>
            <a:off x="10210190" y="6382512"/>
            <a:ext cx="1371600" cy="201168"/>
          </a:xfrm>
          <a:prstGeom prst="rect">
            <a:avLst/>
          </a:prstGeom>
          <a:noFill/>
        </p:spPr>
        <p:txBody>
          <a:bodyPr wrap="square" lIns="0" rIns="0" tIns="0" bIns="0" anchor="ctr">
            <a:noAutofit/>
          </a:bodyPr>
          <a:lstStyle/>
          <a:p>
            <a:pPr algn="r">
              <a:lnSpc>
                <a:spcPct val="110000"/>
              </a:lnSpc>
              <a:spcAft>
                <a:spcPts val="0"/>
              </a:spcAft>
            </a:pPr>
            <a:r>
              <a:rPr sz="1100" b="0" i="0">
                <a:solidFill>
                  <a:srgbClr val="6B6B6B"/>
                </a:solidFill>
                <a:latin typeface="Arial"/>
              </a:rPr>
              <a:t>06 / 14</a:t>
            </a:r>
          </a:p>
        </p:txBody>
      </p:sp>
      <p:sp>
        <p:nvSpPr>
          <p:cNvPr id="7" name="Label"/>
          <p:cNvSpPr txBox="1"/>
          <p:nvPr/>
        </p:nvSpPr>
        <p:spPr>
          <a:xfrm>
            <a:off x="609904" y="1810512"/>
            <a:ext cx="2571521"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6B6B6B"/>
                </a:solidFill>
                <a:latin typeface="Arial"/>
              </a:rPr>
              <a:t>USUALLY FILED HERE</a:t>
            </a:r>
          </a:p>
        </p:txBody>
      </p:sp>
      <p:sp>
        <p:nvSpPr>
          <p:cNvPr id="8" name="Label"/>
          <p:cNvSpPr txBox="1"/>
          <p:nvPr/>
        </p:nvSpPr>
        <p:spPr>
          <a:xfrm>
            <a:off x="3410026" y="1810512"/>
            <a:ext cx="8171764"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1E7A13"/>
                </a:solidFill>
                <a:latin typeface="Arial"/>
              </a:rPr>
              <a:t>THE EXPENSIVE THREE</a:t>
            </a:r>
          </a:p>
        </p:txBody>
      </p:sp>
      <p:cxnSp>
        <p:nvCxnSpPr>
          <p:cNvPr id="9" name="Line"/>
          <p:cNvCxnSpPr/>
          <p:nvPr/>
        </p:nvCxnSpPr>
        <p:spPr>
          <a:xfrm>
            <a:off x="3410026" y="2066543"/>
            <a:ext cx="8171764" cy="0"/>
          </a:xfrm>
          <a:prstGeom prst="line">
            <a:avLst/>
          </a:prstGeom>
          <a:ln w="22225">
            <a:solidFill>
              <a:srgbClr val="28A019"/>
            </a:solidFill>
          </a:ln>
        </p:spPr>
      </p:cxnSp>
      <p:cxnSp>
        <p:nvCxnSpPr>
          <p:cNvPr id="10" name="Line"/>
          <p:cNvCxnSpPr/>
          <p:nvPr/>
        </p:nvCxnSpPr>
        <p:spPr>
          <a:xfrm>
            <a:off x="3410026" y="2066543"/>
            <a:ext cx="0" cy="73153"/>
          </a:xfrm>
          <a:prstGeom prst="line">
            <a:avLst/>
          </a:prstGeom>
          <a:ln w="22225">
            <a:solidFill>
              <a:srgbClr val="28A019"/>
            </a:solidFill>
          </a:ln>
        </p:spPr>
      </p:cxnSp>
      <p:cxnSp>
        <p:nvCxnSpPr>
          <p:cNvPr id="11" name="Line"/>
          <p:cNvCxnSpPr/>
          <p:nvPr/>
        </p:nvCxnSpPr>
        <p:spPr>
          <a:xfrm>
            <a:off x="11581790" y="2066543"/>
            <a:ext cx="0" cy="73153"/>
          </a:xfrm>
          <a:prstGeom prst="line">
            <a:avLst/>
          </a:prstGeom>
          <a:ln w="22225">
            <a:solidFill>
              <a:srgbClr val="28A019"/>
            </a:solidFill>
          </a:ln>
        </p:spPr>
      </p:cxnSp>
      <p:sp>
        <p:nvSpPr>
          <p:cNvPr id="12" name="Card"/>
          <p:cNvSpPr/>
          <p:nvPr/>
        </p:nvSpPr>
        <p:spPr>
          <a:xfrm>
            <a:off x="609904" y="2212848"/>
            <a:ext cx="2571521" cy="2907792"/>
          </a:xfrm>
          <a:prstGeom prst="roundRect">
            <a:avLst>
              <a:gd name="adj" fmla="val 4267"/>
            </a:avLst>
          </a:prstGeom>
          <a:solidFill>
            <a:srgbClr val="FFFFFF"/>
          </a:solidFill>
          <a:ln w="12700">
            <a:solidFill>
              <a:srgbClr val="E0E0E0"/>
            </a:solidFill>
          </a:ln>
          <a:effectLst/>
        </p:spPr>
        <p:txBody>
          <a:bodyPr rtlCol="0" anchor="ctr"/>
          <a:lstStyle/>
          <a:p>
            <a:pPr algn="ctr"/>
          </a:p>
        </p:txBody>
      </p:sp>
      <p:sp>
        <p:nvSpPr>
          <p:cNvPr id="13" name="Ring"/>
          <p:cNvSpPr/>
          <p:nvPr/>
        </p:nvSpPr>
        <p:spPr>
          <a:xfrm>
            <a:off x="838504" y="2441448"/>
            <a:ext cx="475488" cy="475488"/>
          </a:xfrm>
          <a:prstGeom prst="ellipse">
            <a:avLst/>
          </a:prstGeom>
          <a:solidFill>
            <a:srgbClr val="FFFFFF"/>
          </a:solidFill>
          <a:ln w="22225">
            <a:solidFill>
              <a:srgbClr val="6B6B6B"/>
            </a:solidFill>
          </a:ln>
          <a:effectLst/>
        </p:spPr>
        <p:txBody>
          <a:bodyPr rtlCol="0" anchor="ctr"/>
          <a:lstStyle/>
          <a:p>
            <a:pPr algn="ctr"/>
          </a:p>
        </p:txBody>
      </p:sp>
      <p:pic>
        <p:nvPicPr>
          <p:cNvPr id="14" name="Icon book-open" descr="book-open-muted.png"/>
          <p:cNvPicPr>
            <a:picLocks noChangeAspect="1"/>
          </p:cNvPicPr>
          <p:nvPr/>
        </p:nvPicPr>
        <p:blipFill>
          <a:blip r:embed="rId3"/>
          <a:stretch>
            <a:fillRect/>
          </a:stretch>
        </p:blipFill>
        <p:spPr>
          <a:xfrm>
            <a:off x="957376" y="2560320"/>
            <a:ext cx="237744" cy="237744"/>
          </a:xfrm>
          <a:prstGeom prst="rect">
            <a:avLst/>
          </a:prstGeom>
        </p:spPr>
      </p:pic>
      <p:sp>
        <p:nvSpPr>
          <p:cNvPr id="15" name="Text"/>
          <p:cNvSpPr txBox="1"/>
          <p:nvPr/>
        </p:nvSpPr>
        <p:spPr>
          <a:xfrm>
            <a:off x="1432864" y="2441448"/>
            <a:ext cx="1565681" cy="475488"/>
          </a:xfrm>
          <a:prstGeom prst="rect">
            <a:avLst/>
          </a:prstGeom>
          <a:noFill/>
        </p:spPr>
        <p:txBody>
          <a:bodyPr wrap="square" lIns="0" rIns="0" tIns="0" bIns="0" anchor="ctr">
            <a:noAutofit/>
          </a:bodyPr>
          <a:lstStyle/>
          <a:p>
            <a:pPr algn="l">
              <a:lnSpc>
                <a:spcPct val="110000"/>
              </a:lnSpc>
              <a:spcAft>
                <a:spcPts val="0"/>
              </a:spcAft>
            </a:pPr>
            <a:r>
              <a:rPr sz="2000" b="1" i="0">
                <a:solidFill>
                  <a:srgbClr val="434343"/>
                </a:solidFill>
                <a:latin typeface="Arial"/>
              </a:rPr>
              <a:t>Knowledge</a:t>
            </a:r>
          </a:p>
        </p:txBody>
      </p:sp>
      <p:sp>
        <p:nvSpPr>
          <p:cNvPr id="16" name="Text"/>
          <p:cNvSpPr txBox="1"/>
          <p:nvPr/>
        </p:nvSpPr>
        <p:spPr>
          <a:xfrm>
            <a:off x="838504" y="3054096"/>
            <a:ext cx="2160041" cy="548640"/>
          </a:xfrm>
          <a:prstGeom prst="rect">
            <a:avLst/>
          </a:prstGeom>
          <a:noFill/>
        </p:spPr>
        <p:txBody>
          <a:bodyPr wrap="square" lIns="0" rIns="0" tIns="0" bIns="0" anchor="t">
            <a:noAutofit/>
          </a:bodyPr>
          <a:lstStyle/>
          <a:p>
            <a:pPr algn="l">
              <a:lnSpc>
                <a:spcPct val="105000"/>
              </a:lnSpc>
              <a:spcAft>
                <a:spcPts val="0"/>
              </a:spcAft>
            </a:pPr>
            <a:r>
              <a:rPr sz="1600" b="0" i="1">
                <a:solidFill>
                  <a:srgbClr val="6B6B6B"/>
                </a:solidFill>
                <a:latin typeface="Arial"/>
              </a:rPr>
              <a:t>“I don't know it yet, or nobody has decided.”</a:t>
            </a:r>
          </a:p>
        </p:txBody>
      </p:sp>
      <p:sp>
        <p:nvSpPr>
          <p:cNvPr id="17" name="Label"/>
          <p:cNvSpPr txBox="1"/>
          <p:nvPr/>
        </p:nvSpPr>
        <p:spPr>
          <a:xfrm>
            <a:off x="838504" y="3694176"/>
            <a:ext cx="2114321"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6B6B6B"/>
                </a:solidFill>
                <a:latin typeface="Arial"/>
              </a:rPr>
              <a:t>WHAT WORKS</a:t>
            </a:r>
          </a:p>
        </p:txBody>
      </p:sp>
      <p:sp>
        <p:nvSpPr>
          <p:cNvPr id="18" name="Text"/>
          <p:cNvSpPr txBox="1"/>
          <p:nvPr/>
        </p:nvSpPr>
        <p:spPr>
          <a:xfrm>
            <a:off x="838504" y="3941064"/>
            <a:ext cx="2160041" cy="1005840"/>
          </a:xfrm>
          <a:prstGeom prst="rect">
            <a:avLst/>
          </a:prstGeom>
          <a:noFill/>
        </p:spPr>
        <p:txBody>
          <a:bodyPr wrap="square" lIns="0" rIns="0" tIns="0" bIns="0" anchor="t">
            <a:noAutofit/>
          </a:bodyPr>
          <a:lstStyle/>
          <a:p>
            <a:pPr algn="l">
              <a:lnSpc>
                <a:spcPct val="105000"/>
              </a:lnSpc>
              <a:spcAft>
                <a:spcPts val="0"/>
              </a:spcAft>
            </a:pPr>
            <a:r>
              <a:rPr sz="1600" b="0" i="0">
                <a:solidFill>
                  <a:srgbClr val="434343"/>
                </a:solidFill>
                <a:latin typeface="Arial"/>
              </a:rPr>
              <a:t>Supply the answer: a decision, specific information, or training.</a:t>
            </a:r>
          </a:p>
        </p:txBody>
      </p:sp>
      <p:sp>
        <p:nvSpPr>
          <p:cNvPr id="19" name="Card"/>
          <p:cNvSpPr/>
          <p:nvPr/>
        </p:nvSpPr>
        <p:spPr>
          <a:xfrm>
            <a:off x="3410026" y="2212848"/>
            <a:ext cx="2571521" cy="2907792"/>
          </a:xfrm>
          <a:prstGeom prst="roundRect">
            <a:avLst>
              <a:gd name="adj" fmla="val 4267"/>
            </a:avLst>
          </a:prstGeom>
          <a:solidFill>
            <a:srgbClr val="EAF7E6"/>
          </a:solidFill>
          <a:ln>
            <a:noFill/>
          </a:ln>
          <a:effectLst/>
        </p:spPr>
        <p:txBody>
          <a:bodyPr rtlCol="0" anchor="ctr"/>
          <a:lstStyle/>
          <a:p>
            <a:pPr algn="ctr"/>
          </a:p>
        </p:txBody>
      </p:sp>
      <p:sp>
        <p:nvSpPr>
          <p:cNvPr id="20" name="Ring"/>
          <p:cNvSpPr/>
          <p:nvPr/>
        </p:nvSpPr>
        <p:spPr>
          <a:xfrm>
            <a:off x="3638626" y="2441448"/>
            <a:ext cx="475488" cy="475488"/>
          </a:xfrm>
          <a:prstGeom prst="ellipse">
            <a:avLst/>
          </a:prstGeom>
          <a:solidFill>
            <a:srgbClr val="FFFFFF"/>
          </a:solidFill>
          <a:ln w="22225">
            <a:solidFill>
              <a:srgbClr val="28A019"/>
            </a:solidFill>
          </a:ln>
          <a:effectLst/>
        </p:spPr>
        <p:txBody>
          <a:bodyPr rtlCol="0" anchor="ctr"/>
          <a:lstStyle/>
          <a:p>
            <a:pPr algn="ctr"/>
          </a:p>
        </p:txBody>
      </p:sp>
      <p:pic>
        <p:nvPicPr>
          <p:cNvPr id="21" name="Icon hourglass" descr="hourglass-green7.png"/>
          <p:cNvPicPr>
            <a:picLocks noChangeAspect="1"/>
          </p:cNvPicPr>
          <p:nvPr/>
        </p:nvPicPr>
        <p:blipFill>
          <a:blip r:embed="rId4"/>
          <a:stretch>
            <a:fillRect/>
          </a:stretch>
        </p:blipFill>
        <p:spPr>
          <a:xfrm>
            <a:off x="3757498" y="2560320"/>
            <a:ext cx="237744" cy="237744"/>
          </a:xfrm>
          <a:prstGeom prst="rect">
            <a:avLst/>
          </a:prstGeom>
        </p:spPr>
      </p:pic>
      <p:sp>
        <p:nvSpPr>
          <p:cNvPr id="22" name="Text"/>
          <p:cNvSpPr txBox="1"/>
          <p:nvPr/>
        </p:nvSpPr>
        <p:spPr>
          <a:xfrm>
            <a:off x="4232986" y="2441448"/>
            <a:ext cx="1565681" cy="475488"/>
          </a:xfrm>
          <a:prstGeom prst="rect">
            <a:avLst/>
          </a:prstGeom>
          <a:noFill/>
        </p:spPr>
        <p:txBody>
          <a:bodyPr wrap="square" lIns="0" rIns="0" tIns="0" bIns="0" anchor="ctr">
            <a:noAutofit/>
          </a:bodyPr>
          <a:lstStyle/>
          <a:p>
            <a:pPr algn="l">
              <a:lnSpc>
                <a:spcPct val="110000"/>
              </a:lnSpc>
              <a:spcAft>
                <a:spcPts val="0"/>
              </a:spcAft>
            </a:pPr>
            <a:r>
              <a:rPr sz="2000" b="1" i="0">
                <a:solidFill>
                  <a:srgbClr val="1A1A1A"/>
                </a:solidFill>
                <a:latin typeface="Arial"/>
              </a:rPr>
              <a:t>Bandwidth</a:t>
            </a:r>
          </a:p>
        </p:txBody>
      </p:sp>
      <p:sp>
        <p:nvSpPr>
          <p:cNvPr id="23" name="Text"/>
          <p:cNvSpPr txBox="1"/>
          <p:nvPr/>
        </p:nvSpPr>
        <p:spPr>
          <a:xfrm>
            <a:off x="3638626" y="3054096"/>
            <a:ext cx="2160041" cy="548640"/>
          </a:xfrm>
          <a:prstGeom prst="rect">
            <a:avLst/>
          </a:prstGeom>
          <a:noFill/>
        </p:spPr>
        <p:txBody>
          <a:bodyPr wrap="square" lIns="0" rIns="0" tIns="0" bIns="0" anchor="t">
            <a:noAutofit/>
          </a:bodyPr>
          <a:lstStyle/>
          <a:p>
            <a:pPr algn="l">
              <a:lnSpc>
                <a:spcPct val="105000"/>
              </a:lnSpc>
              <a:spcAft>
                <a:spcPts val="0"/>
              </a:spcAft>
            </a:pPr>
            <a:r>
              <a:rPr sz="1600" b="0" i="1">
                <a:solidFill>
                  <a:srgbClr val="1E7A13"/>
                </a:solidFill>
                <a:latin typeface="Arial"/>
              </a:rPr>
              <a:t>“I can't reach it or fit it.”</a:t>
            </a:r>
          </a:p>
        </p:txBody>
      </p:sp>
      <p:sp>
        <p:nvSpPr>
          <p:cNvPr id="24" name="Label"/>
          <p:cNvSpPr txBox="1"/>
          <p:nvPr/>
        </p:nvSpPr>
        <p:spPr>
          <a:xfrm>
            <a:off x="3638626" y="3694176"/>
            <a:ext cx="2114321"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1E7A13"/>
                </a:solidFill>
                <a:latin typeface="Arial"/>
              </a:rPr>
              <a:t>WHAT WORKS</a:t>
            </a:r>
          </a:p>
        </p:txBody>
      </p:sp>
      <p:sp>
        <p:nvSpPr>
          <p:cNvPr id="25" name="Text"/>
          <p:cNvSpPr txBox="1"/>
          <p:nvPr/>
        </p:nvSpPr>
        <p:spPr>
          <a:xfrm>
            <a:off x="3638626" y="3941064"/>
            <a:ext cx="2160041" cy="1005840"/>
          </a:xfrm>
          <a:prstGeom prst="rect">
            <a:avLst/>
          </a:prstGeom>
          <a:noFill/>
        </p:spPr>
        <p:txBody>
          <a:bodyPr wrap="square" lIns="0" rIns="0" tIns="0" bIns="0" anchor="t">
            <a:noAutofit/>
          </a:bodyPr>
          <a:lstStyle/>
          <a:p>
            <a:pPr algn="l">
              <a:lnSpc>
                <a:spcPct val="105000"/>
              </a:lnSpc>
              <a:spcAft>
                <a:spcPts val="0"/>
              </a:spcAft>
            </a:pPr>
            <a:r>
              <a:rPr sz="1600" b="0" i="0">
                <a:solidFill>
                  <a:srgbClr val="1A1A1A"/>
                </a:solidFill>
                <a:latin typeface="Arial"/>
              </a:rPr>
              <a:t>Provision and simplify: devices, access, time, fewer demands.</a:t>
            </a:r>
          </a:p>
        </p:txBody>
      </p:sp>
      <p:sp>
        <p:nvSpPr>
          <p:cNvPr id="26" name="Card"/>
          <p:cNvSpPr/>
          <p:nvPr/>
        </p:nvSpPr>
        <p:spPr>
          <a:xfrm>
            <a:off x="6210147" y="2212848"/>
            <a:ext cx="2571521" cy="2907792"/>
          </a:xfrm>
          <a:prstGeom prst="roundRect">
            <a:avLst>
              <a:gd name="adj" fmla="val 4267"/>
            </a:avLst>
          </a:prstGeom>
          <a:solidFill>
            <a:srgbClr val="EAF7E6"/>
          </a:solidFill>
          <a:ln>
            <a:noFill/>
          </a:ln>
          <a:effectLst/>
        </p:spPr>
        <p:txBody>
          <a:bodyPr rtlCol="0" anchor="ctr"/>
          <a:lstStyle/>
          <a:p>
            <a:pPr algn="ctr"/>
          </a:p>
        </p:txBody>
      </p:sp>
      <p:sp>
        <p:nvSpPr>
          <p:cNvPr id="27" name="Ring"/>
          <p:cNvSpPr/>
          <p:nvPr/>
        </p:nvSpPr>
        <p:spPr>
          <a:xfrm>
            <a:off x="6438747" y="2441448"/>
            <a:ext cx="475488" cy="475488"/>
          </a:xfrm>
          <a:prstGeom prst="ellipse">
            <a:avLst/>
          </a:prstGeom>
          <a:solidFill>
            <a:srgbClr val="FFFFFF"/>
          </a:solidFill>
          <a:ln w="22225">
            <a:solidFill>
              <a:srgbClr val="28A019"/>
            </a:solidFill>
          </a:ln>
          <a:effectLst/>
        </p:spPr>
        <p:txBody>
          <a:bodyPr rtlCol="0" anchor="ctr"/>
          <a:lstStyle/>
          <a:p>
            <a:pPr algn="ctr"/>
          </a:p>
        </p:txBody>
      </p:sp>
      <p:pic>
        <p:nvPicPr>
          <p:cNvPr id="28" name="Icon user-round" descr="user-round-green7.png"/>
          <p:cNvPicPr>
            <a:picLocks noChangeAspect="1"/>
          </p:cNvPicPr>
          <p:nvPr/>
        </p:nvPicPr>
        <p:blipFill>
          <a:blip r:embed="rId5"/>
          <a:stretch>
            <a:fillRect/>
          </a:stretch>
        </p:blipFill>
        <p:spPr>
          <a:xfrm>
            <a:off x="6557619" y="2560320"/>
            <a:ext cx="237744" cy="237744"/>
          </a:xfrm>
          <a:prstGeom prst="rect">
            <a:avLst/>
          </a:prstGeom>
        </p:spPr>
      </p:pic>
      <p:sp>
        <p:nvSpPr>
          <p:cNvPr id="29" name="Text"/>
          <p:cNvSpPr txBox="1"/>
          <p:nvPr/>
        </p:nvSpPr>
        <p:spPr>
          <a:xfrm>
            <a:off x="7033107" y="2441448"/>
            <a:ext cx="1565681" cy="475488"/>
          </a:xfrm>
          <a:prstGeom prst="rect">
            <a:avLst/>
          </a:prstGeom>
          <a:noFill/>
        </p:spPr>
        <p:txBody>
          <a:bodyPr wrap="square" lIns="0" rIns="0" tIns="0" bIns="0" anchor="ctr">
            <a:noAutofit/>
          </a:bodyPr>
          <a:lstStyle/>
          <a:p>
            <a:pPr algn="l">
              <a:lnSpc>
                <a:spcPct val="110000"/>
              </a:lnSpc>
              <a:spcAft>
                <a:spcPts val="0"/>
              </a:spcAft>
            </a:pPr>
            <a:r>
              <a:rPr sz="2000" b="1" i="0">
                <a:solidFill>
                  <a:srgbClr val="1A1A1A"/>
                </a:solidFill>
                <a:latin typeface="Arial"/>
              </a:rPr>
              <a:t>Identity</a:t>
            </a:r>
          </a:p>
        </p:txBody>
      </p:sp>
      <p:sp>
        <p:nvSpPr>
          <p:cNvPr id="30" name="Text"/>
          <p:cNvSpPr txBox="1"/>
          <p:nvPr/>
        </p:nvSpPr>
        <p:spPr>
          <a:xfrm>
            <a:off x="6438747" y="3054096"/>
            <a:ext cx="2160041" cy="548640"/>
          </a:xfrm>
          <a:prstGeom prst="rect">
            <a:avLst/>
          </a:prstGeom>
          <a:noFill/>
        </p:spPr>
        <p:txBody>
          <a:bodyPr wrap="square" lIns="0" rIns="0" tIns="0" bIns="0" anchor="t">
            <a:noAutofit/>
          </a:bodyPr>
          <a:lstStyle/>
          <a:p>
            <a:pPr algn="l">
              <a:lnSpc>
                <a:spcPct val="105000"/>
              </a:lnSpc>
              <a:spcAft>
                <a:spcPts val="0"/>
              </a:spcAft>
            </a:pPr>
            <a:r>
              <a:rPr sz="1600" b="0" i="1">
                <a:solidFill>
                  <a:srgbClr val="1E7A13"/>
                </a:solidFill>
                <a:latin typeface="Arial"/>
              </a:rPr>
              <a:t>“Who am I here now?”</a:t>
            </a:r>
          </a:p>
        </p:txBody>
      </p:sp>
      <p:sp>
        <p:nvSpPr>
          <p:cNvPr id="31" name="Label"/>
          <p:cNvSpPr txBox="1"/>
          <p:nvPr/>
        </p:nvSpPr>
        <p:spPr>
          <a:xfrm>
            <a:off x="6438747" y="3694176"/>
            <a:ext cx="2114321"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1E7A13"/>
                </a:solidFill>
                <a:latin typeface="Arial"/>
              </a:rPr>
              <a:t>WHAT WORKS</a:t>
            </a:r>
          </a:p>
        </p:txBody>
      </p:sp>
      <p:sp>
        <p:nvSpPr>
          <p:cNvPr id="32" name="Text"/>
          <p:cNvSpPr txBox="1"/>
          <p:nvPr/>
        </p:nvSpPr>
        <p:spPr>
          <a:xfrm>
            <a:off x="6438747" y="3941064"/>
            <a:ext cx="2160041" cy="1005840"/>
          </a:xfrm>
          <a:prstGeom prst="rect">
            <a:avLst/>
          </a:prstGeom>
          <a:noFill/>
        </p:spPr>
        <p:txBody>
          <a:bodyPr wrap="square" lIns="0" rIns="0" tIns="0" bIns="0" anchor="t">
            <a:noAutofit/>
          </a:bodyPr>
          <a:lstStyle/>
          <a:p>
            <a:pPr algn="l">
              <a:lnSpc>
                <a:spcPct val="105000"/>
              </a:lnSpc>
              <a:spcAft>
                <a:spcPts val="0"/>
              </a:spcAft>
            </a:pPr>
            <a:r>
              <a:rPr sz="1600" b="0" i="0">
                <a:solidFill>
                  <a:srgbClr val="1A1A1A"/>
                </a:solidFill>
                <a:latin typeface="Arial"/>
              </a:rPr>
              <a:t>A concrete, respected role in the new model, built with peers.</a:t>
            </a:r>
          </a:p>
        </p:txBody>
      </p:sp>
      <p:sp>
        <p:nvSpPr>
          <p:cNvPr id="33" name="Card"/>
          <p:cNvSpPr/>
          <p:nvPr/>
        </p:nvSpPr>
        <p:spPr>
          <a:xfrm>
            <a:off x="9010269" y="2212848"/>
            <a:ext cx="2571521" cy="2907792"/>
          </a:xfrm>
          <a:prstGeom prst="roundRect">
            <a:avLst>
              <a:gd name="adj" fmla="val 4267"/>
            </a:avLst>
          </a:prstGeom>
          <a:solidFill>
            <a:srgbClr val="EAF7E6"/>
          </a:solidFill>
          <a:ln>
            <a:noFill/>
          </a:ln>
          <a:effectLst/>
        </p:spPr>
        <p:txBody>
          <a:bodyPr rtlCol="0" anchor="ctr"/>
          <a:lstStyle/>
          <a:p>
            <a:pPr algn="ctr"/>
          </a:p>
        </p:txBody>
      </p:sp>
      <p:sp>
        <p:nvSpPr>
          <p:cNvPr id="34" name="Ring"/>
          <p:cNvSpPr/>
          <p:nvPr/>
        </p:nvSpPr>
        <p:spPr>
          <a:xfrm>
            <a:off x="9238869" y="2441448"/>
            <a:ext cx="475488" cy="475488"/>
          </a:xfrm>
          <a:prstGeom prst="ellipse">
            <a:avLst/>
          </a:prstGeom>
          <a:solidFill>
            <a:srgbClr val="FFFFFF"/>
          </a:solidFill>
          <a:ln w="22225">
            <a:solidFill>
              <a:srgbClr val="28A019"/>
            </a:solidFill>
          </a:ln>
          <a:effectLst/>
        </p:spPr>
        <p:txBody>
          <a:bodyPr rtlCol="0" anchor="ctr"/>
          <a:lstStyle/>
          <a:p>
            <a:pPr algn="ctr"/>
          </a:p>
        </p:txBody>
      </p:sp>
      <p:pic>
        <p:nvPicPr>
          <p:cNvPr id="35" name="Icon heart-crack" descr="heart-crack-green7.png"/>
          <p:cNvPicPr>
            <a:picLocks noChangeAspect="1"/>
          </p:cNvPicPr>
          <p:nvPr/>
        </p:nvPicPr>
        <p:blipFill>
          <a:blip r:embed="rId6"/>
          <a:stretch>
            <a:fillRect/>
          </a:stretch>
        </p:blipFill>
        <p:spPr>
          <a:xfrm>
            <a:off x="9357741" y="2560320"/>
            <a:ext cx="237744" cy="237744"/>
          </a:xfrm>
          <a:prstGeom prst="rect">
            <a:avLst/>
          </a:prstGeom>
        </p:spPr>
      </p:pic>
      <p:sp>
        <p:nvSpPr>
          <p:cNvPr id="36" name="Text"/>
          <p:cNvSpPr txBox="1"/>
          <p:nvPr/>
        </p:nvSpPr>
        <p:spPr>
          <a:xfrm>
            <a:off x="9833229" y="2441448"/>
            <a:ext cx="1565681" cy="475488"/>
          </a:xfrm>
          <a:prstGeom prst="rect">
            <a:avLst/>
          </a:prstGeom>
          <a:noFill/>
        </p:spPr>
        <p:txBody>
          <a:bodyPr wrap="square" lIns="0" rIns="0" tIns="0" bIns="0" anchor="ctr">
            <a:noAutofit/>
          </a:bodyPr>
          <a:lstStyle/>
          <a:p>
            <a:pPr algn="l">
              <a:lnSpc>
                <a:spcPct val="110000"/>
              </a:lnSpc>
              <a:spcAft>
                <a:spcPts val="0"/>
              </a:spcAft>
            </a:pPr>
            <a:r>
              <a:rPr sz="2000" b="1" i="0">
                <a:solidFill>
                  <a:srgbClr val="1A1A1A"/>
                </a:solidFill>
                <a:latin typeface="Arial"/>
              </a:rPr>
              <a:t>Loss</a:t>
            </a:r>
          </a:p>
        </p:txBody>
      </p:sp>
      <p:sp>
        <p:nvSpPr>
          <p:cNvPr id="37" name="Text"/>
          <p:cNvSpPr txBox="1"/>
          <p:nvPr/>
        </p:nvSpPr>
        <p:spPr>
          <a:xfrm>
            <a:off x="9238869" y="3054096"/>
            <a:ext cx="2160041" cy="548640"/>
          </a:xfrm>
          <a:prstGeom prst="rect">
            <a:avLst/>
          </a:prstGeom>
          <a:noFill/>
        </p:spPr>
        <p:txBody>
          <a:bodyPr wrap="square" lIns="0" rIns="0" tIns="0" bIns="0" anchor="t">
            <a:noAutofit/>
          </a:bodyPr>
          <a:lstStyle/>
          <a:p>
            <a:pPr algn="l">
              <a:lnSpc>
                <a:spcPct val="105000"/>
              </a:lnSpc>
              <a:spcAft>
                <a:spcPts val="0"/>
              </a:spcAft>
            </a:pPr>
            <a:r>
              <a:rPr sz="1600" b="0" i="1">
                <a:solidFill>
                  <a:srgbClr val="1E7A13"/>
                </a:solidFill>
                <a:latin typeface="Arial"/>
              </a:rPr>
              <a:t>“Nothing replaces it.”</a:t>
            </a:r>
          </a:p>
        </p:txBody>
      </p:sp>
      <p:sp>
        <p:nvSpPr>
          <p:cNvPr id="38" name="Label"/>
          <p:cNvSpPr txBox="1"/>
          <p:nvPr/>
        </p:nvSpPr>
        <p:spPr>
          <a:xfrm>
            <a:off x="9238869" y="3694176"/>
            <a:ext cx="2114321"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1E7A13"/>
                </a:solidFill>
                <a:latin typeface="Arial"/>
              </a:rPr>
              <a:t>WHAT WORKS</a:t>
            </a:r>
          </a:p>
        </p:txBody>
      </p:sp>
      <p:sp>
        <p:nvSpPr>
          <p:cNvPr id="39" name="Text"/>
          <p:cNvSpPr txBox="1"/>
          <p:nvPr/>
        </p:nvSpPr>
        <p:spPr>
          <a:xfrm>
            <a:off x="9238869" y="3941064"/>
            <a:ext cx="2160041" cy="1005840"/>
          </a:xfrm>
          <a:prstGeom prst="rect">
            <a:avLst/>
          </a:prstGeom>
          <a:noFill/>
        </p:spPr>
        <p:txBody>
          <a:bodyPr wrap="square" lIns="0" rIns="0" tIns="0" bIns="0" anchor="t">
            <a:noAutofit/>
          </a:bodyPr>
          <a:lstStyle/>
          <a:p>
            <a:pPr algn="l">
              <a:lnSpc>
                <a:spcPct val="105000"/>
              </a:lnSpc>
              <a:spcAft>
                <a:spcPts val="0"/>
              </a:spcAft>
            </a:pPr>
            <a:r>
              <a:rPr sz="1600" b="0" i="0">
                <a:solidFill>
                  <a:srgbClr val="1A1A1A"/>
                </a:solidFill>
                <a:latin typeface="Arial"/>
              </a:rPr>
              <a:t>Acknowledge the loss and restore what it carried. Never argue with it.</a:t>
            </a:r>
          </a:p>
        </p:txBody>
      </p:sp>
      <p:sp>
        <p:nvSpPr>
          <p:cNvPr id="40" name="Ask card"/>
          <p:cNvSpPr/>
          <p:nvPr/>
        </p:nvSpPr>
        <p:spPr>
          <a:xfrm>
            <a:off x="609904" y="5285232"/>
            <a:ext cx="10971885" cy="768096"/>
          </a:xfrm>
          <a:prstGeom prst="roundRect">
            <a:avLst>
              <a:gd name="adj" fmla="val 16666"/>
            </a:avLst>
          </a:prstGeom>
          <a:solidFill>
            <a:srgbClr val="28A019"/>
          </a:solidFill>
          <a:ln>
            <a:noFill/>
          </a:ln>
          <a:effectLst/>
        </p:spPr>
        <p:txBody>
          <a:bodyPr rtlCol="0" anchor="ctr"/>
          <a:lstStyle/>
          <a:p>
            <a:pPr algn="ctr"/>
          </a:p>
        </p:txBody>
      </p:sp>
      <p:sp>
        <p:nvSpPr>
          <p:cNvPr id="41" name="Ask card tail"/>
          <p:cNvSpPr/>
          <p:nvPr/>
        </p:nvSpPr>
        <p:spPr>
          <a:xfrm flipV="1">
            <a:off x="1112824" y="6044184"/>
            <a:ext cx="310896" cy="137160"/>
          </a:xfrm>
          <a:prstGeom prst="rtTriangle">
            <a:avLst/>
          </a:prstGeom>
          <a:solidFill>
            <a:srgbClr val="28A019"/>
          </a:solidFill>
          <a:ln>
            <a:noFill/>
          </a:ln>
          <a:effectLst/>
        </p:spPr>
        <p:txBody>
          <a:bodyPr rtlCol="0" anchor="ctr"/>
          <a:lstStyle/>
          <a:p>
            <a:pPr algn="ctr"/>
          </a:p>
        </p:txBody>
      </p:sp>
      <p:sp>
        <p:nvSpPr>
          <p:cNvPr id="42" name="Ask label"/>
          <p:cNvSpPr/>
          <p:nvPr/>
        </p:nvSpPr>
        <p:spPr>
          <a:xfrm>
            <a:off x="884224" y="5513832"/>
            <a:ext cx="841248" cy="310896"/>
          </a:xfrm>
          <a:prstGeom prst="roundRect">
            <a:avLst>
              <a:gd name="adj" fmla="val 50000"/>
            </a:avLst>
          </a:prstGeom>
          <a:solidFill>
            <a:srgbClr val="FFFFFF"/>
          </a:solidFill>
          <a:ln>
            <a:noFill/>
          </a:ln>
          <a:effectLst/>
        </p:spPr>
        <p:txBody>
          <a:bodyPr rtlCol="0" anchor="ctr"/>
          <a:lstStyle/>
          <a:p>
            <a:pPr algn="ctr"/>
          </a:p>
        </p:txBody>
      </p:sp>
      <p:pic>
        <p:nvPicPr>
          <p:cNvPr id="43" name="Icon message-circle" descr="message-circle-green7.png"/>
          <p:cNvPicPr>
            <a:picLocks noChangeAspect="1"/>
          </p:cNvPicPr>
          <p:nvPr/>
        </p:nvPicPr>
        <p:blipFill>
          <a:blip r:embed="rId7"/>
          <a:stretch>
            <a:fillRect/>
          </a:stretch>
        </p:blipFill>
        <p:spPr>
          <a:xfrm>
            <a:off x="1003096" y="5577840"/>
            <a:ext cx="182880" cy="182880"/>
          </a:xfrm>
          <a:prstGeom prst="rect">
            <a:avLst/>
          </a:prstGeom>
        </p:spPr>
      </p:pic>
      <p:sp>
        <p:nvSpPr>
          <p:cNvPr id="44" name="Ask label text"/>
          <p:cNvSpPr txBox="1"/>
          <p:nvPr/>
        </p:nvSpPr>
        <p:spPr>
          <a:xfrm>
            <a:off x="1231696" y="5513832"/>
            <a:ext cx="457200" cy="310896"/>
          </a:xfrm>
          <a:prstGeom prst="rect">
            <a:avLst/>
          </a:prstGeom>
          <a:noFill/>
        </p:spPr>
        <p:txBody>
          <a:bodyPr wrap="square" lIns="0" rIns="0" tIns="0" bIns="0" anchor="ctr">
            <a:noAutofit/>
          </a:bodyPr>
          <a:lstStyle/>
          <a:p>
            <a:pPr algn="l">
              <a:lnSpc>
                <a:spcPct val="110000"/>
              </a:lnSpc>
              <a:spcAft>
                <a:spcPts val="0"/>
              </a:spcAft>
            </a:pPr>
            <a:r>
              <a:rPr sz="1100" b="1" i="0" spc="200">
                <a:solidFill>
                  <a:srgbClr val="1E7A13"/>
                </a:solidFill>
                <a:latin typeface="Arial"/>
              </a:rPr>
              <a:t>ASK</a:t>
            </a:r>
          </a:p>
        </p:txBody>
      </p:sp>
      <p:sp>
        <p:nvSpPr>
          <p:cNvPr id="45" name="Ask question"/>
          <p:cNvSpPr txBox="1"/>
          <p:nvPr/>
        </p:nvSpPr>
        <p:spPr>
          <a:xfrm>
            <a:off x="1999792" y="5394960"/>
            <a:ext cx="9307677" cy="548640"/>
          </a:xfrm>
          <a:prstGeom prst="rect">
            <a:avLst/>
          </a:prstGeom>
          <a:noFill/>
        </p:spPr>
        <p:txBody>
          <a:bodyPr wrap="square" lIns="0" rIns="0" tIns="0" bIns="0" anchor="ctr">
            <a:noAutofit/>
          </a:bodyPr>
          <a:lstStyle/>
          <a:p>
            <a:pPr algn="l">
              <a:lnSpc>
                <a:spcPct val="102000"/>
              </a:lnSpc>
              <a:spcAft>
                <a:spcPts val="600"/>
              </a:spcAft>
            </a:pPr>
            <a:r>
              <a:rPr sz="2000" b="1" i="0">
                <a:solidFill>
                  <a:srgbClr val="FFFFFF"/>
                </a:solidFill>
                <a:latin typeface="Arial"/>
              </a:rPr>
              <a:t>Of bandwidth, identity and loss, which is costing your transformation most right now?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609904" y="457200"/>
            <a:ext cx="8171764"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1E7A13"/>
                </a:solidFill>
                <a:latin typeface="Arial"/>
              </a:rPr>
              <a:t>FROM DIAGNOSIS TO DECISIONS</a:t>
            </a:r>
          </a:p>
        </p:txBody>
      </p:sp>
      <p:pic>
        <p:nvPicPr>
          <p:cNvPr id="3" name="Picture 2" descr="logo-icon.png"/>
          <p:cNvPicPr>
            <a:picLocks noChangeAspect="1"/>
          </p:cNvPicPr>
          <p:nvPr/>
        </p:nvPicPr>
        <p:blipFill>
          <a:blip r:embed="rId2"/>
          <a:stretch>
            <a:fillRect/>
          </a:stretch>
        </p:blipFill>
        <p:spPr>
          <a:xfrm>
            <a:off x="609904" y="6382512"/>
            <a:ext cx="201168" cy="201168"/>
          </a:xfrm>
          <a:prstGeom prst="rect">
            <a:avLst/>
          </a:prstGeom>
        </p:spPr>
      </p:pic>
      <p:sp>
        <p:nvSpPr>
          <p:cNvPr id="4" name="Footer"/>
          <p:cNvSpPr txBox="1"/>
          <p:nvPr/>
        </p:nvSpPr>
        <p:spPr>
          <a:xfrm>
            <a:off x="902512" y="6382512"/>
            <a:ext cx="3657600" cy="201168"/>
          </a:xfrm>
          <a:prstGeom prst="rect">
            <a:avLst/>
          </a:prstGeom>
          <a:noFill/>
        </p:spPr>
        <p:txBody>
          <a:bodyPr wrap="square" lIns="0" rIns="0" tIns="0" bIns="0" anchor="ctr">
            <a:noAutofit/>
          </a:bodyPr>
          <a:lstStyle/>
          <a:p>
            <a:pPr algn="l">
              <a:lnSpc>
                <a:spcPct val="110000"/>
              </a:lnSpc>
              <a:spcAft>
                <a:spcPts val="0"/>
              </a:spcAft>
            </a:pPr>
            <a:r>
              <a:rPr sz="1100" b="0" i="0">
                <a:solidFill>
                  <a:srgbClr val="6B6B6B"/>
                </a:solidFill>
                <a:latin typeface="Arial"/>
              </a:rPr>
              <a:t>The Diagnose Conversation</a:t>
            </a:r>
          </a:p>
        </p:txBody>
      </p:sp>
      <p:sp>
        <p:nvSpPr>
          <p:cNvPr id="5" name="Page number"/>
          <p:cNvSpPr txBox="1"/>
          <p:nvPr/>
        </p:nvSpPr>
        <p:spPr>
          <a:xfrm>
            <a:off x="10210190" y="6382512"/>
            <a:ext cx="1371600" cy="201168"/>
          </a:xfrm>
          <a:prstGeom prst="rect">
            <a:avLst/>
          </a:prstGeom>
          <a:noFill/>
        </p:spPr>
        <p:txBody>
          <a:bodyPr wrap="square" lIns="0" rIns="0" tIns="0" bIns="0" anchor="ctr">
            <a:noAutofit/>
          </a:bodyPr>
          <a:lstStyle/>
          <a:p>
            <a:pPr algn="r">
              <a:lnSpc>
                <a:spcPct val="110000"/>
              </a:lnSpc>
              <a:spcAft>
                <a:spcPts val="0"/>
              </a:spcAft>
            </a:pPr>
            <a:r>
              <a:rPr sz="1100" b="0" i="0">
                <a:solidFill>
                  <a:srgbClr val="6B6B6B"/>
                </a:solidFill>
                <a:latin typeface="Arial"/>
              </a:rPr>
              <a:t>07 / 14</a:t>
            </a:r>
          </a:p>
        </p:txBody>
      </p:sp>
      <p:sp>
        <p:nvSpPr>
          <p:cNvPr id="6" name="Ask card"/>
          <p:cNvSpPr/>
          <p:nvPr/>
        </p:nvSpPr>
        <p:spPr>
          <a:xfrm>
            <a:off x="609904" y="914400"/>
            <a:ext cx="10971885" cy="2377440"/>
          </a:xfrm>
          <a:prstGeom prst="roundRect">
            <a:avLst>
              <a:gd name="adj" fmla="val 5384"/>
            </a:avLst>
          </a:prstGeom>
          <a:solidFill>
            <a:srgbClr val="28A019"/>
          </a:solidFill>
          <a:ln>
            <a:noFill/>
          </a:ln>
          <a:effectLst/>
        </p:spPr>
        <p:txBody>
          <a:bodyPr rtlCol="0" anchor="ctr"/>
          <a:lstStyle/>
          <a:p>
            <a:pPr algn="ctr"/>
          </a:p>
        </p:txBody>
      </p:sp>
      <p:sp>
        <p:nvSpPr>
          <p:cNvPr id="7" name="Ask card tail"/>
          <p:cNvSpPr/>
          <p:nvPr/>
        </p:nvSpPr>
        <p:spPr>
          <a:xfrm flipV="1">
            <a:off x="1112824" y="3282696"/>
            <a:ext cx="310896" cy="155448"/>
          </a:xfrm>
          <a:prstGeom prst="rtTriangle">
            <a:avLst/>
          </a:prstGeom>
          <a:solidFill>
            <a:srgbClr val="28A019"/>
          </a:solidFill>
          <a:ln>
            <a:noFill/>
          </a:ln>
          <a:effectLst/>
        </p:spPr>
        <p:txBody>
          <a:bodyPr rtlCol="0" anchor="ctr"/>
          <a:lstStyle/>
          <a:p>
            <a:pPr algn="ctr"/>
          </a:p>
        </p:txBody>
      </p:sp>
      <p:sp>
        <p:nvSpPr>
          <p:cNvPr id="8" name="Ask label"/>
          <p:cNvSpPr/>
          <p:nvPr/>
        </p:nvSpPr>
        <p:spPr>
          <a:xfrm>
            <a:off x="929944" y="1207008"/>
            <a:ext cx="841248" cy="310896"/>
          </a:xfrm>
          <a:prstGeom prst="roundRect">
            <a:avLst>
              <a:gd name="adj" fmla="val 50000"/>
            </a:avLst>
          </a:prstGeom>
          <a:solidFill>
            <a:srgbClr val="FFFFFF"/>
          </a:solidFill>
          <a:ln>
            <a:noFill/>
          </a:ln>
          <a:effectLst/>
        </p:spPr>
        <p:txBody>
          <a:bodyPr rtlCol="0" anchor="ctr"/>
          <a:lstStyle/>
          <a:p>
            <a:pPr algn="ctr"/>
          </a:p>
        </p:txBody>
      </p:sp>
      <p:pic>
        <p:nvPicPr>
          <p:cNvPr id="9" name="Icon message-circle" descr="message-circle-green7.png"/>
          <p:cNvPicPr>
            <a:picLocks noChangeAspect="1"/>
          </p:cNvPicPr>
          <p:nvPr/>
        </p:nvPicPr>
        <p:blipFill>
          <a:blip r:embed="rId3"/>
          <a:stretch>
            <a:fillRect/>
          </a:stretch>
        </p:blipFill>
        <p:spPr>
          <a:xfrm>
            <a:off x="1048816" y="1271016"/>
            <a:ext cx="182880" cy="182880"/>
          </a:xfrm>
          <a:prstGeom prst="rect">
            <a:avLst/>
          </a:prstGeom>
        </p:spPr>
      </p:pic>
      <p:sp>
        <p:nvSpPr>
          <p:cNvPr id="10" name="Ask label text"/>
          <p:cNvSpPr txBox="1"/>
          <p:nvPr/>
        </p:nvSpPr>
        <p:spPr>
          <a:xfrm>
            <a:off x="1277416" y="1207008"/>
            <a:ext cx="457200" cy="310896"/>
          </a:xfrm>
          <a:prstGeom prst="rect">
            <a:avLst/>
          </a:prstGeom>
          <a:noFill/>
        </p:spPr>
        <p:txBody>
          <a:bodyPr wrap="square" lIns="0" rIns="0" tIns="0" bIns="0" anchor="ctr">
            <a:noAutofit/>
          </a:bodyPr>
          <a:lstStyle/>
          <a:p>
            <a:pPr algn="l">
              <a:lnSpc>
                <a:spcPct val="110000"/>
              </a:lnSpc>
              <a:spcAft>
                <a:spcPts val="0"/>
              </a:spcAft>
            </a:pPr>
            <a:r>
              <a:rPr sz="1100" b="1" i="0" spc="200">
                <a:solidFill>
                  <a:srgbClr val="1E7A13"/>
                </a:solidFill>
                <a:latin typeface="Arial"/>
              </a:rPr>
              <a:t>ASK</a:t>
            </a:r>
          </a:p>
        </p:txBody>
      </p:sp>
      <p:sp>
        <p:nvSpPr>
          <p:cNvPr id="11" name="Ask question"/>
          <p:cNvSpPr txBox="1"/>
          <p:nvPr/>
        </p:nvSpPr>
        <p:spPr>
          <a:xfrm>
            <a:off x="929944" y="1719072"/>
            <a:ext cx="10331805" cy="1298448"/>
          </a:xfrm>
          <a:prstGeom prst="rect">
            <a:avLst/>
          </a:prstGeom>
          <a:noFill/>
        </p:spPr>
        <p:txBody>
          <a:bodyPr wrap="square" lIns="0" rIns="0" tIns="0" bIns="0" anchor="t">
            <a:noAutofit/>
          </a:bodyPr>
          <a:lstStyle/>
          <a:p>
            <a:pPr algn="l">
              <a:lnSpc>
                <a:spcPct val="102000"/>
              </a:lnSpc>
              <a:spcAft>
                <a:spcPts val="600"/>
              </a:spcAft>
            </a:pPr>
            <a:r>
              <a:rPr sz="3000" b="1" i="0">
                <a:solidFill>
                  <a:srgbClr val="FFFFFF"/>
                </a:solidFill>
                <a:latin typeface="Arial"/>
              </a:rPr>
              <a:t>If you could see exactly where friction concentrates, by unit, function, geography and role, what would you decide differently?</a:t>
            </a:r>
          </a:p>
        </p:txBody>
      </p:sp>
      <p:sp>
        <p:nvSpPr>
          <p:cNvPr id="12" name="Label"/>
          <p:cNvSpPr txBox="1"/>
          <p:nvPr/>
        </p:nvSpPr>
        <p:spPr>
          <a:xfrm>
            <a:off x="609904" y="3657600"/>
            <a:ext cx="7238390"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6B6B6B"/>
                </a:solidFill>
                <a:latin typeface="Arial"/>
              </a:rPr>
              <a:t>DECISIONS THIS COULD INFORM</a:t>
            </a:r>
          </a:p>
        </p:txBody>
      </p:sp>
      <p:sp>
        <p:nvSpPr>
          <p:cNvPr id="13" name="Card"/>
          <p:cNvSpPr/>
          <p:nvPr/>
        </p:nvSpPr>
        <p:spPr>
          <a:xfrm>
            <a:off x="609904" y="3959352"/>
            <a:ext cx="2011497" cy="1417320"/>
          </a:xfrm>
          <a:prstGeom prst="roundRect">
            <a:avLst>
              <a:gd name="adj" fmla="val 7741"/>
            </a:avLst>
          </a:prstGeom>
          <a:solidFill>
            <a:srgbClr val="F4F4F4"/>
          </a:solidFill>
          <a:ln>
            <a:noFill/>
          </a:ln>
          <a:effectLst/>
        </p:spPr>
        <p:txBody>
          <a:bodyPr rtlCol="0" anchor="ctr"/>
          <a:lstStyle/>
          <a:p>
            <a:pPr algn="ctr"/>
          </a:p>
        </p:txBody>
      </p:sp>
      <p:sp>
        <p:nvSpPr>
          <p:cNvPr id="14" name="Ring"/>
          <p:cNvSpPr/>
          <p:nvPr/>
        </p:nvSpPr>
        <p:spPr>
          <a:xfrm>
            <a:off x="811072" y="4142232"/>
            <a:ext cx="457200" cy="457200"/>
          </a:xfrm>
          <a:prstGeom prst="ellipse">
            <a:avLst/>
          </a:prstGeom>
          <a:solidFill>
            <a:srgbClr val="FFFFFF"/>
          </a:solidFill>
          <a:ln w="22225">
            <a:solidFill>
              <a:srgbClr val="28A019"/>
            </a:solidFill>
          </a:ln>
          <a:effectLst/>
        </p:spPr>
        <p:txBody>
          <a:bodyPr rtlCol="0" anchor="ctr"/>
          <a:lstStyle/>
          <a:p>
            <a:pPr algn="ctr"/>
          </a:p>
        </p:txBody>
      </p:sp>
      <p:pic>
        <p:nvPicPr>
          <p:cNvPr id="15" name="Icon megaphone" descr="megaphone-green.png"/>
          <p:cNvPicPr>
            <a:picLocks noChangeAspect="1"/>
          </p:cNvPicPr>
          <p:nvPr/>
        </p:nvPicPr>
        <p:blipFill>
          <a:blip r:embed="rId4"/>
          <a:stretch>
            <a:fillRect/>
          </a:stretch>
        </p:blipFill>
        <p:spPr>
          <a:xfrm>
            <a:off x="925372" y="4256532"/>
            <a:ext cx="228600" cy="228600"/>
          </a:xfrm>
          <a:prstGeom prst="rect">
            <a:avLst/>
          </a:prstGeom>
        </p:spPr>
      </p:pic>
      <p:sp>
        <p:nvSpPr>
          <p:cNvPr id="16" name="Text"/>
          <p:cNvSpPr txBox="1"/>
          <p:nvPr/>
        </p:nvSpPr>
        <p:spPr>
          <a:xfrm>
            <a:off x="811072" y="4690872"/>
            <a:ext cx="1645737" cy="457200"/>
          </a:xfrm>
          <a:prstGeom prst="rect">
            <a:avLst/>
          </a:prstGeom>
          <a:noFill/>
        </p:spPr>
        <p:txBody>
          <a:bodyPr wrap="square" lIns="0" rIns="0" tIns="0" bIns="0" anchor="t">
            <a:noAutofit/>
          </a:bodyPr>
          <a:lstStyle/>
          <a:p>
            <a:pPr algn="l">
              <a:lnSpc>
                <a:spcPct val="100000"/>
              </a:lnSpc>
              <a:spcAft>
                <a:spcPts val="0"/>
              </a:spcAft>
            </a:pPr>
            <a:r>
              <a:rPr sz="1600" b="1" i="0">
                <a:solidFill>
                  <a:srgbClr val="1A1A1A"/>
                </a:solidFill>
                <a:latin typeface="Arial"/>
              </a:rPr>
              <a:t>Communication strategy</a:t>
            </a:r>
          </a:p>
        </p:txBody>
      </p:sp>
      <p:sp>
        <p:nvSpPr>
          <p:cNvPr id="17" name="Card"/>
          <p:cNvSpPr/>
          <p:nvPr/>
        </p:nvSpPr>
        <p:spPr>
          <a:xfrm>
            <a:off x="2850001" y="3959352"/>
            <a:ext cx="2011497" cy="1417320"/>
          </a:xfrm>
          <a:prstGeom prst="roundRect">
            <a:avLst>
              <a:gd name="adj" fmla="val 7741"/>
            </a:avLst>
          </a:prstGeom>
          <a:solidFill>
            <a:srgbClr val="F4F4F4"/>
          </a:solidFill>
          <a:ln>
            <a:noFill/>
          </a:ln>
          <a:effectLst/>
        </p:spPr>
        <p:txBody>
          <a:bodyPr rtlCol="0" anchor="ctr"/>
          <a:lstStyle/>
          <a:p>
            <a:pPr algn="ctr"/>
          </a:p>
        </p:txBody>
      </p:sp>
      <p:sp>
        <p:nvSpPr>
          <p:cNvPr id="18" name="Ring"/>
          <p:cNvSpPr/>
          <p:nvPr/>
        </p:nvSpPr>
        <p:spPr>
          <a:xfrm>
            <a:off x="3051169" y="4142232"/>
            <a:ext cx="457200" cy="457200"/>
          </a:xfrm>
          <a:prstGeom prst="ellipse">
            <a:avLst/>
          </a:prstGeom>
          <a:solidFill>
            <a:srgbClr val="FFFFFF"/>
          </a:solidFill>
          <a:ln w="22225">
            <a:solidFill>
              <a:srgbClr val="28A019"/>
            </a:solidFill>
          </a:ln>
          <a:effectLst/>
        </p:spPr>
        <p:txBody>
          <a:bodyPr rtlCol="0" anchor="ctr"/>
          <a:lstStyle/>
          <a:p>
            <a:pPr algn="ctr"/>
          </a:p>
        </p:txBody>
      </p:sp>
      <p:pic>
        <p:nvPicPr>
          <p:cNvPr id="19" name="Icon users" descr="users-green.png"/>
          <p:cNvPicPr>
            <a:picLocks noChangeAspect="1"/>
          </p:cNvPicPr>
          <p:nvPr/>
        </p:nvPicPr>
        <p:blipFill>
          <a:blip r:embed="rId5"/>
          <a:stretch>
            <a:fillRect/>
          </a:stretch>
        </p:blipFill>
        <p:spPr>
          <a:xfrm>
            <a:off x="3165469" y="4256532"/>
            <a:ext cx="228600" cy="228600"/>
          </a:xfrm>
          <a:prstGeom prst="rect">
            <a:avLst/>
          </a:prstGeom>
        </p:spPr>
      </p:pic>
      <p:sp>
        <p:nvSpPr>
          <p:cNvPr id="20" name="Text"/>
          <p:cNvSpPr txBox="1"/>
          <p:nvPr/>
        </p:nvSpPr>
        <p:spPr>
          <a:xfrm>
            <a:off x="3051169" y="4690872"/>
            <a:ext cx="1645737" cy="457200"/>
          </a:xfrm>
          <a:prstGeom prst="rect">
            <a:avLst/>
          </a:prstGeom>
          <a:noFill/>
        </p:spPr>
        <p:txBody>
          <a:bodyPr wrap="square" lIns="0" rIns="0" tIns="0" bIns="0" anchor="t">
            <a:noAutofit/>
          </a:bodyPr>
          <a:lstStyle/>
          <a:p>
            <a:pPr algn="l">
              <a:lnSpc>
                <a:spcPct val="100000"/>
              </a:lnSpc>
              <a:spcAft>
                <a:spcPts val="0"/>
              </a:spcAft>
            </a:pPr>
            <a:r>
              <a:rPr sz="1600" b="1" i="0">
                <a:solidFill>
                  <a:srgbClr val="1A1A1A"/>
                </a:solidFill>
                <a:latin typeface="Arial"/>
              </a:rPr>
              <a:t>Manager support</a:t>
            </a:r>
          </a:p>
        </p:txBody>
      </p:sp>
      <p:sp>
        <p:nvSpPr>
          <p:cNvPr id="21" name="Card"/>
          <p:cNvSpPr/>
          <p:nvPr/>
        </p:nvSpPr>
        <p:spPr>
          <a:xfrm>
            <a:off x="5090099" y="3959352"/>
            <a:ext cx="2011497" cy="1417320"/>
          </a:xfrm>
          <a:prstGeom prst="roundRect">
            <a:avLst>
              <a:gd name="adj" fmla="val 7741"/>
            </a:avLst>
          </a:prstGeom>
          <a:solidFill>
            <a:srgbClr val="F4F4F4"/>
          </a:solidFill>
          <a:ln>
            <a:noFill/>
          </a:ln>
          <a:effectLst/>
        </p:spPr>
        <p:txBody>
          <a:bodyPr rtlCol="0" anchor="ctr"/>
          <a:lstStyle/>
          <a:p>
            <a:pPr algn="ctr"/>
          </a:p>
        </p:txBody>
      </p:sp>
      <p:sp>
        <p:nvSpPr>
          <p:cNvPr id="22" name="Ring"/>
          <p:cNvSpPr/>
          <p:nvPr/>
        </p:nvSpPr>
        <p:spPr>
          <a:xfrm>
            <a:off x="5291267" y="4142232"/>
            <a:ext cx="457200" cy="457200"/>
          </a:xfrm>
          <a:prstGeom prst="ellipse">
            <a:avLst/>
          </a:prstGeom>
          <a:solidFill>
            <a:srgbClr val="FFFFFF"/>
          </a:solidFill>
          <a:ln w="22225">
            <a:solidFill>
              <a:srgbClr val="28A019"/>
            </a:solidFill>
          </a:ln>
          <a:effectLst/>
        </p:spPr>
        <p:txBody>
          <a:bodyPr rtlCol="0" anchor="ctr"/>
          <a:lstStyle/>
          <a:p>
            <a:pPr algn="ctr"/>
          </a:p>
        </p:txBody>
      </p:sp>
      <p:pic>
        <p:nvPicPr>
          <p:cNvPr id="23" name="Icon route" descr="route-green.png"/>
          <p:cNvPicPr>
            <a:picLocks noChangeAspect="1"/>
          </p:cNvPicPr>
          <p:nvPr/>
        </p:nvPicPr>
        <p:blipFill>
          <a:blip r:embed="rId6"/>
          <a:stretch>
            <a:fillRect/>
          </a:stretch>
        </p:blipFill>
        <p:spPr>
          <a:xfrm>
            <a:off x="5405567" y="4256532"/>
            <a:ext cx="228600" cy="228600"/>
          </a:xfrm>
          <a:prstGeom prst="rect">
            <a:avLst/>
          </a:prstGeom>
        </p:spPr>
      </p:pic>
      <p:sp>
        <p:nvSpPr>
          <p:cNvPr id="24" name="Text"/>
          <p:cNvSpPr txBox="1"/>
          <p:nvPr/>
        </p:nvSpPr>
        <p:spPr>
          <a:xfrm>
            <a:off x="5291267" y="4690872"/>
            <a:ext cx="1645737" cy="457200"/>
          </a:xfrm>
          <a:prstGeom prst="rect">
            <a:avLst/>
          </a:prstGeom>
          <a:noFill/>
        </p:spPr>
        <p:txBody>
          <a:bodyPr wrap="square" lIns="0" rIns="0" tIns="0" bIns="0" anchor="t">
            <a:noAutofit/>
          </a:bodyPr>
          <a:lstStyle/>
          <a:p>
            <a:pPr algn="l">
              <a:lnSpc>
                <a:spcPct val="100000"/>
              </a:lnSpc>
              <a:spcAft>
                <a:spcPts val="0"/>
              </a:spcAft>
            </a:pPr>
            <a:r>
              <a:rPr sz="1600" b="1" i="0">
                <a:solidFill>
                  <a:srgbClr val="1A1A1A"/>
                </a:solidFill>
                <a:latin typeface="Arial"/>
              </a:rPr>
              <a:t>Rollout scope</a:t>
            </a:r>
          </a:p>
        </p:txBody>
      </p:sp>
      <p:sp>
        <p:nvSpPr>
          <p:cNvPr id="25" name="Card"/>
          <p:cNvSpPr/>
          <p:nvPr/>
        </p:nvSpPr>
        <p:spPr>
          <a:xfrm>
            <a:off x="7330196" y="3959352"/>
            <a:ext cx="2011497" cy="1417320"/>
          </a:xfrm>
          <a:prstGeom prst="roundRect">
            <a:avLst>
              <a:gd name="adj" fmla="val 7741"/>
            </a:avLst>
          </a:prstGeom>
          <a:solidFill>
            <a:srgbClr val="F4F4F4"/>
          </a:solidFill>
          <a:ln>
            <a:noFill/>
          </a:ln>
          <a:effectLst/>
        </p:spPr>
        <p:txBody>
          <a:bodyPr rtlCol="0" anchor="ctr"/>
          <a:lstStyle/>
          <a:p>
            <a:pPr algn="ctr"/>
          </a:p>
        </p:txBody>
      </p:sp>
      <p:sp>
        <p:nvSpPr>
          <p:cNvPr id="26" name="Ring"/>
          <p:cNvSpPr/>
          <p:nvPr/>
        </p:nvSpPr>
        <p:spPr>
          <a:xfrm>
            <a:off x="7531364" y="4142232"/>
            <a:ext cx="457200" cy="457200"/>
          </a:xfrm>
          <a:prstGeom prst="ellipse">
            <a:avLst/>
          </a:prstGeom>
          <a:solidFill>
            <a:srgbClr val="FFFFFF"/>
          </a:solidFill>
          <a:ln w="22225">
            <a:solidFill>
              <a:srgbClr val="28A019"/>
            </a:solidFill>
          </a:ln>
          <a:effectLst/>
        </p:spPr>
        <p:txBody>
          <a:bodyPr rtlCol="0" anchor="ctr"/>
          <a:lstStyle/>
          <a:p>
            <a:pPr algn="ctr"/>
          </a:p>
        </p:txBody>
      </p:sp>
      <p:pic>
        <p:nvPicPr>
          <p:cNvPr id="27" name="Icon clock" descr="clock-green.png"/>
          <p:cNvPicPr>
            <a:picLocks noChangeAspect="1"/>
          </p:cNvPicPr>
          <p:nvPr/>
        </p:nvPicPr>
        <p:blipFill>
          <a:blip r:embed="rId7"/>
          <a:stretch>
            <a:fillRect/>
          </a:stretch>
        </p:blipFill>
        <p:spPr>
          <a:xfrm>
            <a:off x="7645664" y="4256532"/>
            <a:ext cx="228600" cy="228600"/>
          </a:xfrm>
          <a:prstGeom prst="rect">
            <a:avLst/>
          </a:prstGeom>
        </p:spPr>
      </p:pic>
      <p:sp>
        <p:nvSpPr>
          <p:cNvPr id="28" name="Text"/>
          <p:cNvSpPr txBox="1"/>
          <p:nvPr/>
        </p:nvSpPr>
        <p:spPr>
          <a:xfrm>
            <a:off x="7531364" y="4690872"/>
            <a:ext cx="1645737" cy="457200"/>
          </a:xfrm>
          <a:prstGeom prst="rect">
            <a:avLst/>
          </a:prstGeom>
          <a:noFill/>
        </p:spPr>
        <p:txBody>
          <a:bodyPr wrap="square" lIns="0" rIns="0" tIns="0" bIns="0" anchor="t">
            <a:noAutofit/>
          </a:bodyPr>
          <a:lstStyle/>
          <a:p>
            <a:pPr algn="l">
              <a:lnSpc>
                <a:spcPct val="100000"/>
              </a:lnSpc>
              <a:spcAft>
                <a:spcPts val="0"/>
              </a:spcAft>
            </a:pPr>
            <a:r>
              <a:rPr sz="1600" b="1" i="0">
                <a:solidFill>
                  <a:srgbClr val="1A1A1A"/>
                </a:solidFill>
                <a:latin typeface="Arial"/>
              </a:rPr>
              <a:t>Intervention timing</a:t>
            </a:r>
          </a:p>
        </p:txBody>
      </p:sp>
      <p:sp>
        <p:nvSpPr>
          <p:cNvPr id="29" name="Card"/>
          <p:cNvSpPr/>
          <p:nvPr/>
        </p:nvSpPr>
        <p:spPr>
          <a:xfrm>
            <a:off x="9570293" y="3959352"/>
            <a:ext cx="2011497" cy="1417320"/>
          </a:xfrm>
          <a:prstGeom prst="roundRect">
            <a:avLst>
              <a:gd name="adj" fmla="val 7741"/>
            </a:avLst>
          </a:prstGeom>
          <a:solidFill>
            <a:srgbClr val="F4F4F4"/>
          </a:solidFill>
          <a:ln>
            <a:noFill/>
          </a:ln>
          <a:effectLst/>
        </p:spPr>
        <p:txBody>
          <a:bodyPr rtlCol="0" anchor="ctr"/>
          <a:lstStyle/>
          <a:p>
            <a:pPr algn="ctr"/>
          </a:p>
        </p:txBody>
      </p:sp>
      <p:sp>
        <p:nvSpPr>
          <p:cNvPr id="30" name="Ring"/>
          <p:cNvSpPr/>
          <p:nvPr/>
        </p:nvSpPr>
        <p:spPr>
          <a:xfrm>
            <a:off x="9771461" y="4142232"/>
            <a:ext cx="457200" cy="457200"/>
          </a:xfrm>
          <a:prstGeom prst="ellipse">
            <a:avLst/>
          </a:prstGeom>
          <a:solidFill>
            <a:srgbClr val="FFFFFF"/>
          </a:solidFill>
          <a:ln w="22225">
            <a:solidFill>
              <a:srgbClr val="28A019"/>
            </a:solidFill>
          </a:ln>
          <a:effectLst/>
        </p:spPr>
        <p:txBody>
          <a:bodyPr rtlCol="0" anchor="ctr"/>
          <a:lstStyle/>
          <a:p>
            <a:pPr algn="ctr"/>
          </a:p>
        </p:txBody>
      </p:sp>
      <p:pic>
        <p:nvPicPr>
          <p:cNvPr id="31" name="Icon wallet" descr="wallet-green.png"/>
          <p:cNvPicPr>
            <a:picLocks noChangeAspect="1"/>
          </p:cNvPicPr>
          <p:nvPr/>
        </p:nvPicPr>
        <p:blipFill>
          <a:blip r:embed="rId8"/>
          <a:stretch>
            <a:fillRect/>
          </a:stretch>
        </p:blipFill>
        <p:spPr>
          <a:xfrm>
            <a:off x="9885761" y="4256532"/>
            <a:ext cx="228600" cy="228600"/>
          </a:xfrm>
          <a:prstGeom prst="rect">
            <a:avLst/>
          </a:prstGeom>
        </p:spPr>
      </p:pic>
      <p:sp>
        <p:nvSpPr>
          <p:cNvPr id="32" name="Text"/>
          <p:cNvSpPr txBox="1"/>
          <p:nvPr/>
        </p:nvSpPr>
        <p:spPr>
          <a:xfrm>
            <a:off x="9771461" y="4690872"/>
            <a:ext cx="1645737" cy="457200"/>
          </a:xfrm>
          <a:prstGeom prst="rect">
            <a:avLst/>
          </a:prstGeom>
          <a:noFill/>
        </p:spPr>
        <p:txBody>
          <a:bodyPr wrap="square" lIns="0" rIns="0" tIns="0" bIns="0" anchor="t">
            <a:noAutofit/>
          </a:bodyPr>
          <a:lstStyle/>
          <a:p>
            <a:pPr algn="l">
              <a:lnSpc>
                <a:spcPct val="100000"/>
              </a:lnSpc>
              <a:spcAft>
                <a:spcPts val="0"/>
              </a:spcAft>
            </a:pPr>
            <a:r>
              <a:rPr sz="1600" b="1" i="0">
                <a:solidFill>
                  <a:srgbClr val="1A1A1A"/>
                </a:solidFill>
                <a:latin typeface="Arial"/>
              </a:rPr>
              <a:t>Change resources</a:t>
            </a:r>
          </a:p>
        </p:txBody>
      </p:sp>
      <p:sp>
        <p:nvSpPr>
          <p:cNvPr id="33" name="Text"/>
          <p:cNvSpPr txBox="1"/>
          <p:nvPr/>
        </p:nvSpPr>
        <p:spPr>
          <a:xfrm>
            <a:off x="609904" y="5577840"/>
            <a:ext cx="10971885" cy="685800"/>
          </a:xfrm>
          <a:prstGeom prst="rect">
            <a:avLst/>
          </a:prstGeom>
          <a:noFill/>
        </p:spPr>
        <p:txBody>
          <a:bodyPr wrap="square" lIns="0" rIns="0" tIns="0" bIns="0" anchor="t">
            <a:noAutofit/>
          </a:bodyPr>
          <a:lstStyle/>
          <a:p>
            <a:pPr algn="l">
              <a:lnSpc>
                <a:spcPct val="115000"/>
              </a:lnSpc>
              <a:spcAft>
                <a:spcPts val="0"/>
              </a:spcAft>
            </a:pPr>
            <a:r>
              <a:rPr sz="1600" b="1" i="0">
                <a:solidFill>
                  <a:srgbClr val="1A1A1A"/>
                </a:solidFill>
                <a:latin typeface="Arial"/>
              </a:rPr>
              <a:t>The value is not another survey. </a:t>
            </a:r>
            <a:r>
              <a:rPr sz="1600" b="0" i="0">
                <a:solidFill>
                  <a:srgbClr val="1A1A1A"/>
                </a:solidFill>
                <a:latin typeface="Arial"/>
              </a:rPr>
              <a:t>It is seeing execution risk early enough to avoid the delay, the productivity loss and the failed adoption.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609904" y="457200"/>
            <a:ext cx="8171764"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1E7A13"/>
                </a:solidFill>
                <a:latin typeface="Arial"/>
              </a:rPr>
              <a:t>THE SYSTEM</a:t>
            </a:r>
          </a:p>
        </p:txBody>
      </p:sp>
      <p:sp>
        <p:nvSpPr>
          <p:cNvPr id="3" name="Headline"/>
          <p:cNvSpPr txBox="1"/>
          <p:nvPr/>
        </p:nvSpPr>
        <p:spPr>
          <a:xfrm>
            <a:off x="609904" y="731520"/>
            <a:ext cx="10038511" cy="960120"/>
          </a:xfrm>
          <a:prstGeom prst="rect">
            <a:avLst/>
          </a:prstGeom>
          <a:noFill/>
        </p:spPr>
        <p:txBody>
          <a:bodyPr wrap="square" lIns="0" rIns="0" tIns="0" bIns="0" anchor="t">
            <a:noAutofit/>
          </a:bodyPr>
          <a:lstStyle/>
          <a:p>
            <a:pPr algn="l">
              <a:lnSpc>
                <a:spcPct val="100000"/>
              </a:lnSpc>
              <a:spcAft>
                <a:spcPts val="0"/>
              </a:spcAft>
            </a:pPr>
            <a:r>
              <a:rPr sz="3000" b="1" i="0">
                <a:solidFill>
                  <a:srgbClr val="1A1A1A"/>
                </a:solidFill>
                <a:latin typeface="Arial"/>
              </a:rPr>
              <a:t>Diagnosis is one layer of three. The same conversations run the whole loop.</a:t>
            </a:r>
          </a:p>
        </p:txBody>
      </p:sp>
      <p:pic>
        <p:nvPicPr>
          <p:cNvPr id="4" name="Picture 3" descr="logo-icon.png"/>
          <p:cNvPicPr>
            <a:picLocks noChangeAspect="1"/>
          </p:cNvPicPr>
          <p:nvPr/>
        </p:nvPicPr>
        <p:blipFill>
          <a:blip r:embed="rId2"/>
          <a:stretch>
            <a:fillRect/>
          </a:stretch>
        </p:blipFill>
        <p:spPr>
          <a:xfrm>
            <a:off x="609904" y="6382512"/>
            <a:ext cx="201168" cy="201168"/>
          </a:xfrm>
          <a:prstGeom prst="rect">
            <a:avLst/>
          </a:prstGeom>
        </p:spPr>
      </p:pic>
      <p:sp>
        <p:nvSpPr>
          <p:cNvPr id="5" name="Footer"/>
          <p:cNvSpPr txBox="1"/>
          <p:nvPr/>
        </p:nvSpPr>
        <p:spPr>
          <a:xfrm>
            <a:off x="902512" y="6382512"/>
            <a:ext cx="3657600" cy="201168"/>
          </a:xfrm>
          <a:prstGeom prst="rect">
            <a:avLst/>
          </a:prstGeom>
          <a:noFill/>
        </p:spPr>
        <p:txBody>
          <a:bodyPr wrap="square" lIns="0" rIns="0" tIns="0" bIns="0" anchor="ctr">
            <a:noAutofit/>
          </a:bodyPr>
          <a:lstStyle/>
          <a:p>
            <a:pPr algn="l">
              <a:lnSpc>
                <a:spcPct val="110000"/>
              </a:lnSpc>
              <a:spcAft>
                <a:spcPts val="0"/>
              </a:spcAft>
            </a:pPr>
            <a:r>
              <a:rPr sz="1100" b="0" i="0">
                <a:solidFill>
                  <a:srgbClr val="6B6B6B"/>
                </a:solidFill>
                <a:latin typeface="Arial"/>
              </a:rPr>
              <a:t>The Diagnose Conversation</a:t>
            </a:r>
          </a:p>
        </p:txBody>
      </p:sp>
      <p:sp>
        <p:nvSpPr>
          <p:cNvPr id="6" name="Page number"/>
          <p:cNvSpPr txBox="1"/>
          <p:nvPr/>
        </p:nvSpPr>
        <p:spPr>
          <a:xfrm>
            <a:off x="10210190" y="6382512"/>
            <a:ext cx="1371600" cy="201168"/>
          </a:xfrm>
          <a:prstGeom prst="rect">
            <a:avLst/>
          </a:prstGeom>
          <a:noFill/>
        </p:spPr>
        <p:txBody>
          <a:bodyPr wrap="square" lIns="0" rIns="0" tIns="0" bIns="0" anchor="ctr">
            <a:noAutofit/>
          </a:bodyPr>
          <a:lstStyle/>
          <a:p>
            <a:pPr algn="r">
              <a:lnSpc>
                <a:spcPct val="110000"/>
              </a:lnSpc>
              <a:spcAft>
                <a:spcPts val="0"/>
              </a:spcAft>
            </a:pPr>
            <a:r>
              <a:rPr sz="1100" b="0" i="0">
                <a:solidFill>
                  <a:srgbClr val="6B6B6B"/>
                </a:solidFill>
                <a:latin typeface="Arial"/>
              </a:rPr>
              <a:t>08 / 14</a:t>
            </a:r>
          </a:p>
        </p:txBody>
      </p:sp>
      <p:sp>
        <p:nvSpPr>
          <p:cNvPr id="7" name="Loop ring"/>
          <p:cNvSpPr/>
          <p:nvPr/>
        </p:nvSpPr>
        <p:spPr>
          <a:xfrm>
            <a:off x="1734616" y="2468880"/>
            <a:ext cx="3145536" cy="3145536"/>
          </a:xfrm>
          <a:prstGeom prst="ellipse">
            <a:avLst/>
          </a:prstGeom>
          <a:noFill/>
          <a:ln w="31750">
            <a:solidFill>
              <a:srgbClr val="D4D4D4"/>
            </a:solidFill>
          </a:ln>
          <a:effectLst/>
        </p:spPr>
        <p:txBody>
          <a:bodyPr rtlCol="0" anchor="ctr"/>
          <a:lstStyle/>
          <a:p>
            <a:pPr algn="ctr"/>
          </a:p>
        </p:txBody>
      </p:sp>
      <p:sp>
        <p:nvSpPr>
          <p:cNvPr id="8" name="Loop arrow"/>
          <p:cNvSpPr/>
          <p:nvPr/>
        </p:nvSpPr>
        <p:spPr>
          <a:xfrm rot="9000000">
            <a:off x="4559713" y="3099816"/>
            <a:ext cx="219456" cy="310896"/>
          </a:xfrm>
          <a:prstGeom prst="triangle">
            <a:avLst/>
          </a:prstGeom>
          <a:solidFill>
            <a:srgbClr val="28A019"/>
          </a:solidFill>
          <a:ln>
            <a:noFill/>
          </a:ln>
          <a:effectLst/>
        </p:spPr>
        <p:txBody>
          <a:bodyPr rtlCol="0" anchor="ctr"/>
          <a:lstStyle/>
          <a:p>
            <a:pPr algn="ctr"/>
          </a:p>
        </p:txBody>
      </p:sp>
      <p:sp>
        <p:nvSpPr>
          <p:cNvPr id="9" name="Loop arrow"/>
          <p:cNvSpPr/>
          <p:nvPr/>
        </p:nvSpPr>
        <p:spPr>
          <a:xfrm rot="16200000">
            <a:off x="3197656" y="5458968"/>
            <a:ext cx="219456" cy="310896"/>
          </a:xfrm>
          <a:prstGeom prst="triangle">
            <a:avLst/>
          </a:prstGeom>
          <a:solidFill>
            <a:srgbClr val="28A019"/>
          </a:solidFill>
          <a:ln>
            <a:noFill/>
          </a:ln>
          <a:effectLst/>
        </p:spPr>
        <p:txBody>
          <a:bodyPr rtlCol="0" anchor="ctr"/>
          <a:lstStyle/>
          <a:p>
            <a:pPr algn="ctr"/>
          </a:p>
        </p:txBody>
      </p:sp>
      <p:sp>
        <p:nvSpPr>
          <p:cNvPr id="10" name="Loop arrow"/>
          <p:cNvSpPr/>
          <p:nvPr/>
        </p:nvSpPr>
        <p:spPr>
          <a:xfrm rot="1800000">
            <a:off x="1835599" y="3099815"/>
            <a:ext cx="219456" cy="310896"/>
          </a:xfrm>
          <a:prstGeom prst="triangle">
            <a:avLst/>
          </a:prstGeom>
          <a:solidFill>
            <a:srgbClr val="28A019"/>
          </a:solidFill>
          <a:ln>
            <a:noFill/>
          </a:ln>
          <a:effectLst/>
        </p:spPr>
        <p:txBody>
          <a:bodyPr rtlCol="0" anchor="ctr"/>
          <a:lstStyle/>
          <a:p>
            <a:pPr algn="ctr"/>
          </a:p>
        </p:txBody>
      </p:sp>
      <p:sp>
        <p:nvSpPr>
          <p:cNvPr id="11" name="Node Diagnose"/>
          <p:cNvSpPr/>
          <p:nvPr/>
        </p:nvSpPr>
        <p:spPr>
          <a:xfrm>
            <a:off x="2644444" y="1805940"/>
            <a:ext cx="1325880" cy="1325880"/>
          </a:xfrm>
          <a:prstGeom prst="ellipse">
            <a:avLst/>
          </a:prstGeom>
          <a:solidFill>
            <a:srgbClr val="28A019"/>
          </a:solidFill>
          <a:ln w="31750">
            <a:solidFill>
              <a:srgbClr val="28A019"/>
            </a:solidFill>
          </a:ln>
          <a:effectLst/>
        </p:spPr>
        <p:txBody>
          <a:bodyPr rtlCol="0" anchor="ctr"/>
          <a:lstStyle/>
          <a:p>
            <a:pPr algn="ctr"/>
          </a:p>
        </p:txBody>
      </p:sp>
      <p:sp>
        <p:nvSpPr>
          <p:cNvPr id="12" name="Node label Diagnose"/>
          <p:cNvSpPr txBox="1"/>
          <p:nvPr/>
        </p:nvSpPr>
        <p:spPr>
          <a:xfrm>
            <a:off x="2370124" y="1805940"/>
            <a:ext cx="1874519" cy="1325880"/>
          </a:xfrm>
          <a:prstGeom prst="rect">
            <a:avLst/>
          </a:prstGeom>
          <a:noFill/>
        </p:spPr>
        <p:txBody>
          <a:bodyPr wrap="square" lIns="0" rIns="0" tIns="0" bIns="0" anchor="ctr">
            <a:noAutofit/>
          </a:bodyPr>
          <a:lstStyle/>
          <a:p>
            <a:pPr algn="ctr">
              <a:lnSpc>
                <a:spcPct val="110000"/>
              </a:lnSpc>
              <a:spcAft>
                <a:spcPts val="0"/>
              </a:spcAft>
            </a:pPr>
            <a:r>
              <a:rPr sz="2000" b="1" i="0">
                <a:solidFill>
                  <a:srgbClr val="FFFFFF"/>
                </a:solidFill>
                <a:latin typeface="Arial"/>
              </a:rPr>
              <a:t>Diagnose</a:t>
            </a:r>
          </a:p>
        </p:txBody>
      </p:sp>
      <p:sp>
        <p:nvSpPr>
          <p:cNvPr id="13" name="Node Activate"/>
          <p:cNvSpPr/>
          <p:nvPr/>
        </p:nvSpPr>
        <p:spPr>
          <a:xfrm>
            <a:off x="4006501" y="4165091"/>
            <a:ext cx="1325880" cy="1325880"/>
          </a:xfrm>
          <a:prstGeom prst="ellipse">
            <a:avLst/>
          </a:prstGeom>
          <a:solidFill>
            <a:srgbClr val="FFFFFF"/>
          </a:solidFill>
          <a:ln w="31750">
            <a:solidFill>
              <a:srgbClr val="28A019"/>
            </a:solidFill>
          </a:ln>
          <a:effectLst/>
        </p:spPr>
        <p:txBody>
          <a:bodyPr rtlCol="0" anchor="ctr"/>
          <a:lstStyle/>
          <a:p>
            <a:pPr algn="ctr"/>
          </a:p>
        </p:txBody>
      </p:sp>
      <p:sp>
        <p:nvSpPr>
          <p:cNvPr id="14" name="Node label Activate"/>
          <p:cNvSpPr txBox="1"/>
          <p:nvPr/>
        </p:nvSpPr>
        <p:spPr>
          <a:xfrm>
            <a:off x="3732181" y="4165091"/>
            <a:ext cx="1874519" cy="1325880"/>
          </a:xfrm>
          <a:prstGeom prst="rect">
            <a:avLst/>
          </a:prstGeom>
          <a:noFill/>
        </p:spPr>
        <p:txBody>
          <a:bodyPr wrap="square" lIns="0" rIns="0" tIns="0" bIns="0" anchor="ctr">
            <a:noAutofit/>
          </a:bodyPr>
          <a:lstStyle/>
          <a:p>
            <a:pPr algn="ctr">
              <a:lnSpc>
                <a:spcPct val="110000"/>
              </a:lnSpc>
              <a:spcAft>
                <a:spcPts val="0"/>
              </a:spcAft>
            </a:pPr>
            <a:r>
              <a:rPr sz="2000" b="1" i="0">
                <a:solidFill>
                  <a:srgbClr val="1A1A1A"/>
                </a:solidFill>
                <a:latin typeface="Arial"/>
              </a:rPr>
              <a:t>Activate</a:t>
            </a:r>
          </a:p>
        </p:txBody>
      </p:sp>
      <p:sp>
        <p:nvSpPr>
          <p:cNvPr id="15" name="Node Measure"/>
          <p:cNvSpPr/>
          <p:nvPr/>
        </p:nvSpPr>
        <p:spPr>
          <a:xfrm>
            <a:off x="1282387" y="4165091"/>
            <a:ext cx="1325880" cy="1325880"/>
          </a:xfrm>
          <a:prstGeom prst="ellipse">
            <a:avLst/>
          </a:prstGeom>
          <a:solidFill>
            <a:srgbClr val="FFFFFF"/>
          </a:solidFill>
          <a:ln w="31750">
            <a:solidFill>
              <a:srgbClr val="28A019"/>
            </a:solidFill>
          </a:ln>
          <a:effectLst/>
        </p:spPr>
        <p:txBody>
          <a:bodyPr rtlCol="0" anchor="ctr"/>
          <a:lstStyle/>
          <a:p>
            <a:pPr algn="ctr"/>
          </a:p>
        </p:txBody>
      </p:sp>
      <p:sp>
        <p:nvSpPr>
          <p:cNvPr id="16" name="Node label Measure"/>
          <p:cNvSpPr txBox="1"/>
          <p:nvPr/>
        </p:nvSpPr>
        <p:spPr>
          <a:xfrm>
            <a:off x="1008067" y="4165091"/>
            <a:ext cx="1874519" cy="1325880"/>
          </a:xfrm>
          <a:prstGeom prst="rect">
            <a:avLst/>
          </a:prstGeom>
          <a:noFill/>
        </p:spPr>
        <p:txBody>
          <a:bodyPr wrap="square" lIns="0" rIns="0" tIns="0" bIns="0" anchor="ctr">
            <a:noAutofit/>
          </a:bodyPr>
          <a:lstStyle/>
          <a:p>
            <a:pPr algn="ctr">
              <a:lnSpc>
                <a:spcPct val="110000"/>
              </a:lnSpc>
              <a:spcAft>
                <a:spcPts val="0"/>
              </a:spcAft>
            </a:pPr>
            <a:r>
              <a:rPr sz="2000" b="1" i="0">
                <a:solidFill>
                  <a:srgbClr val="1A1A1A"/>
                </a:solidFill>
                <a:latin typeface="Arial"/>
              </a:rPr>
              <a:t>Measure</a:t>
            </a:r>
          </a:p>
        </p:txBody>
      </p:sp>
      <p:pic>
        <p:nvPicPr>
          <p:cNvPr id="17" name="Icon messages-square" descr="messages-square-green.png"/>
          <p:cNvPicPr>
            <a:picLocks noChangeAspect="1"/>
          </p:cNvPicPr>
          <p:nvPr/>
        </p:nvPicPr>
        <p:blipFill>
          <a:blip r:embed="rId3"/>
          <a:stretch>
            <a:fillRect/>
          </a:stretch>
        </p:blipFill>
        <p:spPr>
          <a:xfrm>
            <a:off x="3078784" y="3383280"/>
            <a:ext cx="457200" cy="457200"/>
          </a:xfrm>
          <a:prstGeom prst="rect">
            <a:avLst/>
          </a:prstGeom>
        </p:spPr>
      </p:pic>
      <p:sp>
        <p:nvSpPr>
          <p:cNvPr id="18" name="Text"/>
          <p:cNvSpPr txBox="1"/>
          <p:nvPr/>
        </p:nvSpPr>
        <p:spPr>
          <a:xfrm>
            <a:off x="2484424" y="3904487"/>
            <a:ext cx="1645920" cy="548640"/>
          </a:xfrm>
          <a:prstGeom prst="rect">
            <a:avLst/>
          </a:prstGeom>
          <a:noFill/>
        </p:spPr>
        <p:txBody>
          <a:bodyPr wrap="square" lIns="0" rIns="0" tIns="0" bIns="0" anchor="t">
            <a:noAutofit/>
          </a:bodyPr>
          <a:lstStyle/>
          <a:p>
            <a:pPr algn="ctr">
              <a:lnSpc>
                <a:spcPct val="100000"/>
              </a:lnSpc>
              <a:spcAft>
                <a:spcPts val="0"/>
              </a:spcAft>
            </a:pPr>
            <a:r>
              <a:rPr sz="1600" b="1" i="0">
                <a:solidFill>
                  <a:srgbClr val="1A1A1A"/>
                </a:solidFill>
                <a:latin typeface="Arial"/>
              </a:rPr>
              <a:t>1:1 AI</a:t>
            </a:r>
          </a:p>
          <a:p>
            <a:pPr algn="ctr">
              <a:lnSpc>
                <a:spcPct val="100000"/>
              </a:lnSpc>
              <a:spcAft>
                <a:spcPts val="0"/>
              </a:spcAft>
            </a:pPr>
            <a:r>
              <a:rPr sz="1600" b="1" i="0">
                <a:solidFill>
                  <a:srgbClr val="1A1A1A"/>
                </a:solidFill>
                <a:latin typeface="Arial"/>
              </a:rPr>
              <a:t>conversations</a:t>
            </a:r>
          </a:p>
        </p:txBody>
      </p:sp>
      <p:sp>
        <p:nvSpPr>
          <p:cNvPr id="19" name="Number ring"/>
          <p:cNvSpPr/>
          <p:nvPr/>
        </p:nvSpPr>
        <p:spPr>
          <a:xfrm>
            <a:off x="6393027" y="2057400"/>
            <a:ext cx="457200" cy="457200"/>
          </a:xfrm>
          <a:prstGeom prst="ellipse">
            <a:avLst/>
          </a:prstGeom>
          <a:solidFill>
            <a:srgbClr val="FFFFFF"/>
          </a:solidFill>
          <a:ln w="22225">
            <a:solidFill>
              <a:srgbClr val="28A019"/>
            </a:solidFill>
          </a:ln>
          <a:effectLst/>
        </p:spPr>
        <p:txBody>
          <a:bodyPr rtlCol="0" anchor="ctr" wrap="square" lIns="0" rIns="0" tIns="0" bIns="0">
            <a:noAutofit/>
          </a:bodyPr>
          <a:lstStyle/>
          <a:p>
            <a:pPr algn="ctr">
              <a:lnSpc>
                <a:spcPct val="100000"/>
              </a:lnSpc>
              <a:spcAft>
                <a:spcPts val="0"/>
              </a:spcAft>
            </a:pPr>
            <a:r>
              <a:rPr sz="1600" b="1" i="0">
                <a:solidFill>
                  <a:srgbClr val="1E7A13"/>
                </a:solidFill>
                <a:latin typeface="Arial"/>
              </a:rPr>
              <a:t>01</a:t>
            </a:r>
          </a:p>
        </p:txBody>
      </p:sp>
      <p:sp>
        <p:nvSpPr>
          <p:cNvPr id="20" name="Text"/>
          <p:cNvSpPr txBox="1"/>
          <p:nvPr/>
        </p:nvSpPr>
        <p:spPr>
          <a:xfrm>
            <a:off x="7033107" y="2039112"/>
            <a:ext cx="4548682" cy="365760"/>
          </a:xfrm>
          <a:prstGeom prst="rect">
            <a:avLst/>
          </a:prstGeom>
          <a:noFill/>
        </p:spPr>
        <p:txBody>
          <a:bodyPr wrap="square" lIns="0" rIns="0" tIns="0" bIns="0" anchor="t">
            <a:noAutofit/>
          </a:bodyPr>
          <a:lstStyle/>
          <a:p>
            <a:pPr algn="l">
              <a:lnSpc>
                <a:spcPct val="110000"/>
              </a:lnSpc>
              <a:spcAft>
                <a:spcPts val="0"/>
              </a:spcAft>
            </a:pPr>
            <a:r>
              <a:rPr sz="2000" b="1" i="0">
                <a:solidFill>
                  <a:srgbClr val="1A1A1A"/>
                </a:solidFill>
                <a:latin typeface="Arial"/>
              </a:rPr>
              <a:t>Diagnose</a:t>
            </a:r>
          </a:p>
        </p:txBody>
      </p:sp>
      <p:sp>
        <p:nvSpPr>
          <p:cNvPr id="21" name="Label"/>
          <p:cNvSpPr txBox="1"/>
          <p:nvPr/>
        </p:nvSpPr>
        <p:spPr>
          <a:xfrm>
            <a:off x="7033107" y="2404872"/>
            <a:ext cx="4548682"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1E7A13"/>
                </a:solidFill>
                <a:latin typeface="Arial"/>
              </a:rPr>
              <a:t>MAPPING AND DIAGNOSING</a:t>
            </a:r>
          </a:p>
        </p:txBody>
      </p:sp>
      <p:sp>
        <p:nvSpPr>
          <p:cNvPr id="22" name="Text"/>
          <p:cNvSpPr txBox="1"/>
          <p:nvPr/>
        </p:nvSpPr>
        <p:spPr>
          <a:xfrm>
            <a:off x="7033107" y="2660904"/>
            <a:ext cx="4548682" cy="731520"/>
          </a:xfrm>
          <a:prstGeom prst="rect">
            <a:avLst/>
          </a:prstGeom>
          <a:noFill/>
        </p:spPr>
        <p:txBody>
          <a:bodyPr wrap="square" lIns="0" rIns="0" tIns="0" bIns="0" anchor="t">
            <a:noAutofit/>
          </a:bodyPr>
          <a:lstStyle/>
          <a:p>
            <a:pPr algn="l">
              <a:lnSpc>
                <a:spcPct val="110000"/>
              </a:lnSpc>
              <a:spcAft>
                <a:spcPts val="0"/>
              </a:spcAft>
            </a:pPr>
            <a:r>
              <a:rPr sz="1600" b="0" i="0">
                <a:solidFill>
                  <a:srgbClr val="434343"/>
                </a:solidFill>
                <a:latin typeface="Arial"/>
              </a:rPr>
              <a:t>Maps readiness and friction by cohort, so every intervention is targeted, not broadcast.</a:t>
            </a:r>
          </a:p>
        </p:txBody>
      </p:sp>
      <p:sp>
        <p:nvSpPr>
          <p:cNvPr id="23" name="Number ring"/>
          <p:cNvSpPr/>
          <p:nvPr/>
        </p:nvSpPr>
        <p:spPr>
          <a:xfrm>
            <a:off x="6393027" y="3429000"/>
            <a:ext cx="457200" cy="457200"/>
          </a:xfrm>
          <a:prstGeom prst="ellipse">
            <a:avLst/>
          </a:prstGeom>
          <a:solidFill>
            <a:srgbClr val="FFFFFF"/>
          </a:solidFill>
          <a:ln w="22225">
            <a:solidFill>
              <a:srgbClr val="28A019"/>
            </a:solidFill>
          </a:ln>
          <a:effectLst/>
        </p:spPr>
        <p:txBody>
          <a:bodyPr rtlCol="0" anchor="ctr" wrap="square" lIns="0" rIns="0" tIns="0" bIns="0">
            <a:noAutofit/>
          </a:bodyPr>
          <a:lstStyle/>
          <a:p>
            <a:pPr algn="ctr">
              <a:lnSpc>
                <a:spcPct val="100000"/>
              </a:lnSpc>
              <a:spcAft>
                <a:spcPts val="0"/>
              </a:spcAft>
            </a:pPr>
            <a:r>
              <a:rPr sz="1600" b="1" i="0">
                <a:solidFill>
                  <a:srgbClr val="1E7A13"/>
                </a:solidFill>
                <a:latin typeface="Arial"/>
              </a:rPr>
              <a:t>02</a:t>
            </a:r>
          </a:p>
        </p:txBody>
      </p:sp>
      <p:sp>
        <p:nvSpPr>
          <p:cNvPr id="24" name="Text"/>
          <p:cNvSpPr txBox="1"/>
          <p:nvPr/>
        </p:nvSpPr>
        <p:spPr>
          <a:xfrm>
            <a:off x="7033107" y="3410712"/>
            <a:ext cx="4548682" cy="365760"/>
          </a:xfrm>
          <a:prstGeom prst="rect">
            <a:avLst/>
          </a:prstGeom>
          <a:noFill/>
        </p:spPr>
        <p:txBody>
          <a:bodyPr wrap="square" lIns="0" rIns="0" tIns="0" bIns="0" anchor="t">
            <a:noAutofit/>
          </a:bodyPr>
          <a:lstStyle/>
          <a:p>
            <a:pPr algn="l">
              <a:lnSpc>
                <a:spcPct val="110000"/>
              </a:lnSpc>
              <a:spcAft>
                <a:spcPts val="0"/>
              </a:spcAft>
            </a:pPr>
            <a:r>
              <a:rPr sz="2000" b="1" i="0">
                <a:solidFill>
                  <a:srgbClr val="1A1A1A"/>
                </a:solidFill>
                <a:latin typeface="Arial"/>
              </a:rPr>
              <a:t>Activate</a:t>
            </a:r>
          </a:p>
        </p:txBody>
      </p:sp>
      <p:sp>
        <p:nvSpPr>
          <p:cNvPr id="25" name="Label"/>
          <p:cNvSpPr txBox="1"/>
          <p:nvPr/>
        </p:nvSpPr>
        <p:spPr>
          <a:xfrm>
            <a:off x="7033107" y="3776472"/>
            <a:ext cx="4548682"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1E7A13"/>
                </a:solidFill>
                <a:latin typeface="Arial"/>
              </a:rPr>
              <a:t>CHANGE ACTIVATION</a:t>
            </a:r>
          </a:p>
        </p:txBody>
      </p:sp>
      <p:sp>
        <p:nvSpPr>
          <p:cNvPr id="26" name="Text"/>
          <p:cNvSpPr txBox="1"/>
          <p:nvPr/>
        </p:nvSpPr>
        <p:spPr>
          <a:xfrm>
            <a:off x="7033107" y="4032504"/>
            <a:ext cx="4548682" cy="731520"/>
          </a:xfrm>
          <a:prstGeom prst="rect">
            <a:avLst/>
          </a:prstGeom>
          <a:noFill/>
        </p:spPr>
        <p:txBody>
          <a:bodyPr wrap="square" lIns="0" rIns="0" tIns="0" bIns="0" anchor="t">
            <a:noAutofit/>
          </a:bodyPr>
          <a:lstStyle/>
          <a:p>
            <a:pPr algn="l">
              <a:lnSpc>
                <a:spcPct val="110000"/>
              </a:lnSpc>
              <a:spcAft>
                <a:spcPts val="0"/>
              </a:spcAft>
            </a:pPr>
            <a:r>
              <a:rPr sz="1600" b="0" i="0">
                <a:solidFill>
                  <a:srgbClr val="434343"/>
                </a:solidFill>
                <a:latin typeface="Arial"/>
              </a:rPr>
              <a:t>Weekly 1:1 AI conversations move each person from confusion to committed action.</a:t>
            </a:r>
          </a:p>
        </p:txBody>
      </p:sp>
      <p:sp>
        <p:nvSpPr>
          <p:cNvPr id="27" name="Number ring"/>
          <p:cNvSpPr/>
          <p:nvPr/>
        </p:nvSpPr>
        <p:spPr>
          <a:xfrm>
            <a:off x="6393027" y="4800600"/>
            <a:ext cx="457200" cy="457200"/>
          </a:xfrm>
          <a:prstGeom prst="ellipse">
            <a:avLst/>
          </a:prstGeom>
          <a:solidFill>
            <a:srgbClr val="FFFFFF"/>
          </a:solidFill>
          <a:ln w="22225">
            <a:solidFill>
              <a:srgbClr val="28A019"/>
            </a:solidFill>
          </a:ln>
          <a:effectLst/>
        </p:spPr>
        <p:txBody>
          <a:bodyPr rtlCol="0" anchor="ctr" wrap="square" lIns="0" rIns="0" tIns="0" bIns="0">
            <a:noAutofit/>
          </a:bodyPr>
          <a:lstStyle/>
          <a:p>
            <a:pPr algn="ctr">
              <a:lnSpc>
                <a:spcPct val="100000"/>
              </a:lnSpc>
              <a:spcAft>
                <a:spcPts val="0"/>
              </a:spcAft>
            </a:pPr>
            <a:r>
              <a:rPr sz="1600" b="1" i="0">
                <a:solidFill>
                  <a:srgbClr val="1E7A13"/>
                </a:solidFill>
                <a:latin typeface="Arial"/>
              </a:rPr>
              <a:t>03</a:t>
            </a:r>
          </a:p>
        </p:txBody>
      </p:sp>
      <p:sp>
        <p:nvSpPr>
          <p:cNvPr id="28" name="Text"/>
          <p:cNvSpPr txBox="1"/>
          <p:nvPr/>
        </p:nvSpPr>
        <p:spPr>
          <a:xfrm>
            <a:off x="7033107" y="4782312"/>
            <a:ext cx="4548682" cy="365760"/>
          </a:xfrm>
          <a:prstGeom prst="rect">
            <a:avLst/>
          </a:prstGeom>
          <a:noFill/>
        </p:spPr>
        <p:txBody>
          <a:bodyPr wrap="square" lIns="0" rIns="0" tIns="0" bIns="0" anchor="t">
            <a:noAutofit/>
          </a:bodyPr>
          <a:lstStyle/>
          <a:p>
            <a:pPr algn="l">
              <a:lnSpc>
                <a:spcPct val="110000"/>
              </a:lnSpc>
              <a:spcAft>
                <a:spcPts val="0"/>
              </a:spcAft>
            </a:pPr>
            <a:r>
              <a:rPr sz="2000" b="1" i="0">
                <a:solidFill>
                  <a:srgbClr val="1A1A1A"/>
                </a:solidFill>
                <a:latin typeface="Arial"/>
              </a:rPr>
              <a:t>Measure</a:t>
            </a:r>
          </a:p>
        </p:txBody>
      </p:sp>
      <p:sp>
        <p:nvSpPr>
          <p:cNvPr id="29" name="Label"/>
          <p:cNvSpPr txBox="1"/>
          <p:nvPr/>
        </p:nvSpPr>
        <p:spPr>
          <a:xfrm>
            <a:off x="7033107" y="5148072"/>
            <a:ext cx="4548682"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1E7A13"/>
                </a:solidFill>
                <a:latin typeface="Arial"/>
              </a:rPr>
              <a:t>EXECUTION INTELLIGENCE</a:t>
            </a:r>
          </a:p>
        </p:txBody>
      </p:sp>
      <p:sp>
        <p:nvSpPr>
          <p:cNvPr id="30" name="Text"/>
          <p:cNvSpPr txBox="1"/>
          <p:nvPr/>
        </p:nvSpPr>
        <p:spPr>
          <a:xfrm>
            <a:off x="7033107" y="5404104"/>
            <a:ext cx="4548682" cy="731520"/>
          </a:xfrm>
          <a:prstGeom prst="rect">
            <a:avLst/>
          </a:prstGeom>
          <a:noFill/>
        </p:spPr>
        <p:txBody>
          <a:bodyPr wrap="square" lIns="0" rIns="0" tIns="0" bIns="0" anchor="t">
            <a:noAutofit/>
          </a:bodyPr>
          <a:lstStyle/>
          <a:p>
            <a:pPr algn="l">
              <a:lnSpc>
                <a:spcPct val="110000"/>
              </a:lnSpc>
              <a:spcAft>
                <a:spcPts val="0"/>
              </a:spcAft>
            </a:pPr>
            <a:r>
              <a:rPr sz="1600" b="0" i="0">
                <a:solidFill>
                  <a:srgbClr val="434343"/>
                </a:solidFill>
                <a:latin typeface="Arial"/>
              </a:rPr>
              <a:t>A weekly signal on adoption, friction and emerging risk, while there is still time to act.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609904" y="457200"/>
            <a:ext cx="8171764"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1E7A13"/>
                </a:solidFill>
                <a:latin typeface="Arial"/>
              </a:rPr>
              <a:t>LAYER 01 · DIAGNOSE</a:t>
            </a:r>
          </a:p>
        </p:txBody>
      </p:sp>
      <p:sp>
        <p:nvSpPr>
          <p:cNvPr id="3" name="Headline"/>
          <p:cNvSpPr txBox="1"/>
          <p:nvPr/>
        </p:nvSpPr>
        <p:spPr>
          <a:xfrm>
            <a:off x="609904" y="731520"/>
            <a:ext cx="10038511" cy="960120"/>
          </a:xfrm>
          <a:prstGeom prst="rect">
            <a:avLst/>
          </a:prstGeom>
          <a:noFill/>
        </p:spPr>
        <p:txBody>
          <a:bodyPr wrap="square" lIns="0" rIns="0" tIns="0" bIns="0" anchor="t">
            <a:noAutofit/>
          </a:bodyPr>
          <a:lstStyle/>
          <a:p>
            <a:pPr algn="l">
              <a:lnSpc>
                <a:spcPct val="100000"/>
              </a:lnSpc>
              <a:spcAft>
                <a:spcPts val="0"/>
              </a:spcAft>
            </a:pPr>
            <a:r>
              <a:rPr sz="3000" b="1" i="0">
                <a:solidFill>
                  <a:srgbClr val="1A1A1A"/>
                </a:solidFill>
                <a:latin typeface="Arial"/>
              </a:rPr>
              <a:t>Diagnose gives leaders four views of where execution will stall.</a:t>
            </a:r>
          </a:p>
        </p:txBody>
      </p:sp>
      <p:pic>
        <p:nvPicPr>
          <p:cNvPr id="4" name="Picture 3" descr="logo-icon.png"/>
          <p:cNvPicPr>
            <a:picLocks noChangeAspect="1"/>
          </p:cNvPicPr>
          <p:nvPr/>
        </p:nvPicPr>
        <p:blipFill>
          <a:blip r:embed="rId2"/>
          <a:stretch>
            <a:fillRect/>
          </a:stretch>
        </p:blipFill>
        <p:spPr>
          <a:xfrm>
            <a:off x="609904" y="6382512"/>
            <a:ext cx="201168" cy="201168"/>
          </a:xfrm>
          <a:prstGeom prst="rect">
            <a:avLst/>
          </a:prstGeom>
        </p:spPr>
      </p:pic>
      <p:sp>
        <p:nvSpPr>
          <p:cNvPr id="5" name="Footer"/>
          <p:cNvSpPr txBox="1"/>
          <p:nvPr/>
        </p:nvSpPr>
        <p:spPr>
          <a:xfrm>
            <a:off x="902512" y="6382512"/>
            <a:ext cx="3657600" cy="201168"/>
          </a:xfrm>
          <a:prstGeom prst="rect">
            <a:avLst/>
          </a:prstGeom>
          <a:noFill/>
        </p:spPr>
        <p:txBody>
          <a:bodyPr wrap="square" lIns="0" rIns="0" tIns="0" bIns="0" anchor="ctr">
            <a:noAutofit/>
          </a:bodyPr>
          <a:lstStyle/>
          <a:p>
            <a:pPr algn="l">
              <a:lnSpc>
                <a:spcPct val="110000"/>
              </a:lnSpc>
              <a:spcAft>
                <a:spcPts val="0"/>
              </a:spcAft>
            </a:pPr>
            <a:r>
              <a:rPr sz="1100" b="0" i="0">
                <a:solidFill>
                  <a:srgbClr val="6B6B6B"/>
                </a:solidFill>
                <a:latin typeface="Arial"/>
              </a:rPr>
              <a:t>The Diagnose Conversation</a:t>
            </a:r>
          </a:p>
        </p:txBody>
      </p:sp>
      <p:sp>
        <p:nvSpPr>
          <p:cNvPr id="6" name="Page number"/>
          <p:cNvSpPr txBox="1"/>
          <p:nvPr/>
        </p:nvSpPr>
        <p:spPr>
          <a:xfrm>
            <a:off x="10210190" y="6382512"/>
            <a:ext cx="1371600" cy="201168"/>
          </a:xfrm>
          <a:prstGeom prst="rect">
            <a:avLst/>
          </a:prstGeom>
          <a:noFill/>
        </p:spPr>
        <p:txBody>
          <a:bodyPr wrap="square" lIns="0" rIns="0" tIns="0" bIns="0" anchor="ctr">
            <a:noAutofit/>
          </a:bodyPr>
          <a:lstStyle/>
          <a:p>
            <a:pPr algn="r">
              <a:lnSpc>
                <a:spcPct val="110000"/>
              </a:lnSpc>
              <a:spcAft>
                <a:spcPts val="0"/>
              </a:spcAft>
            </a:pPr>
            <a:r>
              <a:rPr sz="1100" b="0" i="0">
                <a:solidFill>
                  <a:srgbClr val="6B6B6B"/>
                </a:solidFill>
                <a:latin typeface="Arial"/>
              </a:rPr>
              <a:t>09 / 14</a:t>
            </a:r>
          </a:p>
        </p:txBody>
      </p:sp>
      <p:sp>
        <p:nvSpPr>
          <p:cNvPr id="7" name="Card"/>
          <p:cNvSpPr/>
          <p:nvPr/>
        </p:nvSpPr>
        <p:spPr>
          <a:xfrm>
            <a:off x="609904" y="2011680"/>
            <a:ext cx="2571521" cy="1600200"/>
          </a:xfrm>
          <a:prstGeom prst="roundRect">
            <a:avLst>
              <a:gd name="adj" fmla="val 6857"/>
            </a:avLst>
          </a:prstGeom>
          <a:solidFill>
            <a:srgbClr val="F4F4F4"/>
          </a:solidFill>
          <a:ln>
            <a:noFill/>
          </a:ln>
          <a:effectLst/>
        </p:spPr>
        <p:txBody>
          <a:bodyPr rtlCol="0" anchor="ctr"/>
          <a:lstStyle/>
          <a:p>
            <a:pPr algn="ctr"/>
          </a:p>
        </p:txBody>
      </p:sp>
      <p:sp>
        <p:nvSpPr>
          <p:cNvPr id="8" name="Heat cell"/>
          <p:cNvSpPr/>
          <p:nvPr/>
        </p:nvSpPr>
        <p:spPr>
          <a:xfrm>
            <a:off x="838504" y="2240280"/>
            <a:ext cx="265469" cy="249174"/>
          </a:xfrm>
          <a:prstGeom prst="rect">
            <a:avLst/>
          </a:prstGeom>
          <a:solidFill>
            <a:srgbClr val="7CBB6E"/>
          </a:solidFill>
          <a:ln>
            <a:noFill/>
          </a:ln>
          <a:effectLst/>
        </p:spPr>
        <p:txBody>
          <a:bodyPr rtlCol="0" anchor="ctr"/>
          <a:lstStyle/>
          <a:p>
            <a:pPr algn="ctr"/>
          </a:p>
        </p:txBody>
      </p:sp>
      <p:sp>
        <p:nvSpPr>
          <p:cNvPr id="9" name="Heat cell"/>
          <p:cNvSpPr/>
          <p:nvPr/>
        </p:nvSpPr>
        <p:spPr>
          <a:xfrm>
            <a:off x="1140550" y="2240280"/>
            <a:ext cx="265469" cy="249174"/>
          </a:xfrm>
          <a:prstGeom prst="rect">
            <a:avLst/>
          </a:prstGeom>
          <a:solidFill>
            <a:srgbClr val="28A019"/>
          </a:solidFill>
          <a:ln>
            <a:noFill/>
          </a:ln>
          <a:effectLst/>
        </p:spPr>
        <p:txBody>
          <a:bodyPr rtlCol="0" anchor="ctr"/>
          <a:lstStyle/>
          <a:p>
            <a:pPr algn="ctr"/>
          </a:p>
        </p:txBody>
      </p:sp>
      <p:sp>
        <p:nvSpPr>
          <p:cNvPr id="10" name="Heat cell"/>
          <p:cNvSpPr/>
          <p:nvPr/>
        </p:nvSpPr>
        <p:spPr>
          <a:xfrm>
            <a:off x="1442596" y="2240280"/>
            <a:ext cx="265469" cy="249174"/>
          </a:xfrm>
          <a:prstGeom prst="rect">
            <a:avLst/>
          </a:prstGeom>
          <a:solidFill>
            <a:srgbClr val="BFE9B2"/>
          </a:solidFill>
          <a:ln>
            <a:noFill/>
          </a:ln>
          <a:effectLst/>
        </p:spPr>
        <p:txBody>
          <a:bodyPr rtlCol="0" anchor="ctr"/>
          <a:lstStyle/>
          <a:p>
            <a:pPr algn="ctr"/>
          </a:p>
        </p:txBody>
      </p:sp>
      <p:sp>
        <p:nvSpPr>
          <p:cNvPr id="11" name="Heat cell"/>
          <p:cNvSpPr/>
          <p:nvPr/>
        </p:nvSpPr>
        <p:spPr>
          <a:xfrm>
            <a:off x="1744642" y="2240280"/>
            <a:ext cx="265469" cy="249174"/>
          </a:xfrm>
          <a:prstGeom prst="rect">
            <a:avLst/>
          </a:prstGeom>
          <a:solidFill>
            <a:srgbClr val="28A019"/>
          </a:solidFill>
          <a:ln>
            <a:noFill/>
          </a:ln>
          <a:effectLst/>
        </p:spPr>
        <p:txBody>
          <a:bodyPr rtlCol="0" anchor="ctr"/>
          <a:lstStyle/>
          <a:p>
            <a:pPr algn="ctr"/>
          </a:p>
        </p:txBody>
      </p:sp>
      <p:sp>
        <p:nvSpPr>
          <p:cNvPr id="12" name="Heat cell"/>
          <p:cNvSpPr/>
          <p:nvPr/>
        </p:nvSpPr>
        <p:spPr>
          <a:xfrm>
            <a:off x="2046688" y="2240280"/>
            <a:ext cx="265469" cy="249174"/>
          </a:xfrm>
          <a:prstGeom prst="rect">
            <a:avLst/>
          </a:prstGeom>
          <a:solidFill>
            <a:srgbClr val="7CBB6E"/>
          </a:solidFill>
          <a:ln>
            <a:noFill/>
          </a:ln>
          <a:effectLst/>
        </p:spPr>
        <p:txBody>
          <a:bodyPr rtlCol="0" anchor="ctr"/>
          <a:lstStyle/>
          <a:p>
            <a:pPr algn="ctr"/>
          </a:p>
        </p:txBody>
      </p:sp>
      <p:sp>
        <p:nvSpPr>
          <p:cNvPr id="13" name="Heat cell"/>
          <p:cNvSpPr/>
          <p:nvPr/>
        </p:nvSpPr>
        <p:spPr>
          <a:xfrm>
            <a:off x="2348734" y="2240280"/>
            <a:ext cx="265469" cy="249174"/>
          </a:xfrm>
          <a:prstGeom prst="rect">
            <a:avLst/>
          </a:prstGeom>
          <a:solidFill>
            <a:srgbClr val="7CBB6E"/>
          </a:solidFill>
          <a:ln>
            <a:noFill/>
          </a:ln>
          <a:effectLst/>
        </p:spPr>
        <p:txBody>
          <a:bodyPr rtlCol="0" anchor="ctr"/>
          <a:lstStyle/>
          <a:p>
            <a:pPr algn="ctr"/>
          </a:p>
        </p:txBody>
      </p:sp>
      <p:sp>
        <p:nvSpPr>
          <p:cNvPr id="14" name="Heat cell"/>
          <p:cNvSpPr/>
          <p:nvPr/>
        </p:nvSpPr>
        <p:spPr>
          <a:xfrm>
            <a:off x="2650780" y="2240280"/>
            <a:ext cx="265469" cy="249174"/>
          </a:xfrm>
          <a:prstGeom prst="rect">
            <a:avLst/>
          </a:prstGeom>
          <a:solidFill>
            <a:srgbClr val="1E7A13"/>
          </a:solidFill>
          <a:ln>
            <a:noFill/>
          </a:ln>
          <a:effectLst/>
        </p:spPr>
        <p:txBody>
          <a:bodyPr rtlCol="0" anchor="ctr"/>
          <a:lstStyle/>
          <a:p>
            <a:pPr algn="ctr"/>
          </a:p>
        </p:txBody>
      </p:sp>
      <p:sp>
        <p:nvSpPr>
          <p:cNvPr id="15" name="Heat cell"/>
          <p:cNvSpPr/>
          <p:nvPr/>
        </p:nvSpPr>
        <p:spPr>
          <a:xfrm>
            <a:off x="838504" y="2526030"/>
            <a:ext cx="265469" cy="249174"/>
          </a:xfrm>
          <a:prstGeom prst="rect">
            <a:avLst/>
          </a:prstGeom>
          <a:solidFill>
            <a:srgbClr val="7CBB6E"/>
          </a:solidFill>
          <a:ln>
            <a:noFill/>
          </a:ln>
          <a:effectLst/>
        </p:spPr>
        <p:txBody>
          <a:bodyPr rtlCol="0" anchor="ctr"/>
          <a:lstStyle/>
          <a:p>
            <a:pPr algn="ctr"/>
          </a:p>
        </p:txBody>
      </p:sp>
      <p:sp>
        <p:nvSpPr>
          <p:cNvPr id="16" name="Heat cell"/>
          <p:cNvSpPr/>
          <p:nvPr/>
        </p:nvSpPr>
        <p:spPr>
          <a:xfrm>
            <a:off x="1140550" y="2526030"/>
            <a:ext cx="265469" cy="249174"/>
          </a:xfrm>
          <a:prstGeom prst="rect">
            <a:avLst/>
          </a:prstGeom>
          <a:solidFill>
            <a:srgbClr val="7CBB6E"/>
          </a:solidFill>
          <a:ln>
            <a:noFill/>
          </a:ln>
          <a:effectLst/>
        </p:spPr>
        <p:txBody>
          <a:bodyPr rtlCol="0" anchor="ctr"/>
          <a:lstStyle/>
          <a:p>
            <a:pPr algn="ctr"/>
          </a:p>
        </p:txBody>
      </p:sp>
      <p:sp>
        <p:nvSpPr>
          <p:cNvPr id="17" name="Heat cell"/>
          <p:cNvSpPr/>
          <p:nvPr/>
        </p:nvSpPr>
        <p:spPr>
          <a:xfrm>
            <a:off x="1442596" y="2526030"/>
            <a:ext cx="265469" cy="249174"/>
          </a:xfrm>
          <a:prstGeom prst="rect">
            <a:avLst/>
          </a:prstGeom>
          <a:solidFill>
            <a:srgbClr val="7CBB6E"/>
          </a:solidFill>
          <a:ln>
            <a:noFill/>
          </a:ln>
          <a:effectLst/>
        </p:spPr>
        <p:txBody>
          <a:bodyPr rtlCol="0" anchor="ctr"/>
          <a:lstStyle/>
          <a:p>
            <a:pPr algn="ctr"/>
          </a:p>
        </p:txBody>
      </p:sp>
      <p:sp>
        <p:nvSpPr>
          <p:cNvPr id="18" name="Heat cell"/>
          <p:cNvSpPr/>
          <p:nvPr/>
        </p:nvSpPr>
        <p:spPr>
          <a:xfrm>
            <a:off x="1744642" y="2526030"/>
            <a:ext cx="265469" cy="249174"/>
          </a:xfrm>
          <a:prstGeom prst="rect">
            <a:avLst/>
          </a:prstGeom>
          <a:solidFill>
            <a:srgbClr val="28A019"/>
          </a:solidFill>
          <a:ln>
            <a:noFill/>
          </a:ln>
          <a:effectLst/>
        </p:spPr>
        <p:txBody>
          <a:bodyPr rtlCol="0" anchor="ctr"/>
          <a:lstStyle/>
          <a:p>
            <a:pPr algn="ctr"/>
          </a:p>
        </p:txBody>
      </p:sp>
      <p:sp>
        <p:nvSpPr>
          <p:cNvPr id="19" name="Heat cell"/>
          <p:cNvSpPr/>
          <p:nvPr/>
        </p:nvSpPr>
        <p:spPr>
          <a:xfrm>
            <a:off x="2046688" y="2526030"/>
            <a:ext cx="265469" cy="249174"/>
          </a:xfrm>
          <a:prstGeom prst="rect">
            <a:avLst/>
          </a:prstGeom>
          <a:solidFill>
            <a:srgbClr val="7CBB6E"/>
          </a:solidFill>
          <a:ln>
            <a:noFill/>
          </a:ln>
          <a:effectLst/>
        </p:spPr>
        <p:txBody>
          <a:bodyPr rtlCol="0" anchor="ctr"/>
          <a:lstStyle/>
          <a:p>
            <a:pPr algn="ctr"/>
          </a:p>
        </p:txBody>
      </p:sp>
      <p:sp>
        <p:nvSpPr>
          <p:cNvPr id="20" name="Heat cell"/>
          <p:cNvSpPr/>
          <p:nvPr/>
        </p:nvSpPr>
        <p:spPr>
          <a:xfrm>
            <a:off x="2348734" y="2526030"/>
            <a:ext cx="265469" cy="249174"/>
          </a:xfrm>
          <a:prstGeom prst="rect">
            <a:avLst/>
          </a:prstGeom>
          <a:solidFill>
            <a:srgbClr val="28A019"/>
          </a:solidFill>
          <a:ln>
            <a:noFill/>
          </a:ln>
          <a:effectLst/>
        </p:spPr>
        <p:txBody>
          <a:bodyPr rtlCol="0" anchor="ctr"/>
          <a:lstStyle/>
          <a:p>
            <a:pPr algn="ctr"/>
          </a:p>
        </p:txBody>
      </p:sp>
      <p:sp>
        <p:nvSpPr>
          <p:cNvPr id="21" name="Heat cell"/>
          <p:cNvSpPr/>
          <p:nvPr/>
        </p:nvSpPr>
        <p:spPr>
          <a:xfrm>
            <a:off x="2650780" y="2526030"/>
            <a:ext cx="265469" cy="249174"/>
          </a:xfrm>
          <a:prstGeom prst="rect">
            <a:avLst/>
          </a:prstGeom>
          <a:solidFill>
            <a:srgbClr val="BFE9B2"/>
          </a:solidFill>
          <a:ln>
            <a:noFill/>
          </a:ln>
          <a:effectLst/>
        </p:spPr>
        <p:txBody>
          <a:bodyPr rtlCol="0" anchor="ctr"/>
          <a:lstStyle/>
          <a:p>
            <a:pPr algn="ctr"/>
          </a:p>
        </p:txBody>
      </p:sp>
      <p:sp>
        <p:nvSpPr>
          <p:cNvPr id="22" name="Heat cell"/>
          <p:cNvSpPr/>
          <p:nvPr/>
        </p:nvSpPr>
        <p:spPr>
          <a:xfrm>
            <a:off x="838504" y="2811780"/>
            <a:ext cx="265469" cy="249174"/>
          </a:xfrm>
          <a:prstGeom prst="rect">
            <a:avLst/>
          </a:prstGeom>
          <a:solidFill>
            <a:srgbClr val="BFE9B2"/>
          </a:solidFill>
          <a:ln>
            <a:noFill/>
          </a:ln>
          <a:effectLst/>
        </p:spPr>
        <p:txBody>
          <a:bodyPr rtlCol="0" anchor="ctr"/>
          <a:lstStyle/>
          <a:p>
            <a:pPr algn="ctr"/>
          </a:p>
        </p:txBody>
      </p:sp>
      <p:sp>
        <p:nvSpPr>
          <p:cNvPr id="23" name="Heat cell"/>
          <p:cNvSpPr/>
          <p:nvPr/>
        </p:nvSpPr>
        <p:spPr>
          <a:xfrm>
            <a:off x="1140550" y="2811780"/>
            <a:ext cx="265469" cy="249174"/>
          </a:xfrm>
          <a:prstGeom prst="rect">
            <a:avLst/>
          </a:prstGeom>
          <a:solidFill>
            <a:srgbClr val="BFE9B2"/>
          </a:solidFill>
          <a:ln>
            <a:noFill/>
          </a:ln>
          <a:effectLst/>
        </p:spPr>
        <p:txBody>
          <a:bodyPr rtlCol="0" anchor="ctr"/>
          <a:lstStyle/>
          <a:p>
            <a:pPr algn="ctr"/>
          </a:p>
        </p:txBody>
      </p:sp>
      <p:sp>
        <p:nvSpPr>
          <p:cNvPr id="24" name="Heat cell"/>
          <p:cNvSpPr/>
          <p:nvPr/>
        </p:nvSpPr>
        <p:spPr>
          <a:xfrm>
            <a:off x="1442596" y="2811780"/>
            <a:ext cx="265469" cy="249174"/>
          </a:xfrm>
          <a:prstGeom prst="rect">
            <a:avLst/>
          </a:prstGeom>
          <a:solidFill>
            <a:srgbClr val="D4D4D4"/>
          </a:solidFill>
          <a:ln>
            <a:noFill/>
          </a:ln>
          <a:effectLst/>
        </p:spPr>
        <p:txBody>
          <a:bodyPr rtlCol="0" anchor="ctr"/>
          <a:lstStyle/>
          <a:p>
            <a:pPr algn="ctr"/>
          </a:p>
        </p:txBody>
      </p:sp>
      <p:sp>
        <p:nvSpPr>
          <p:cNvPr id="25" name="Heat cell"/>
          <p:cNvSpPr/>
          <p:nvPr/>
        </p:nvSpPr>
        <p:spPr>
          <a:xfrm>
            <a:off x="1744642" y="2811780"/>
            <a:ext cx="265469" cy="249174"/>
          </a:xfrm>
          <a:prstGeom prst="rect">
            <a:avLst/>
          </a:prstGeom>
          <a:solidFill>
            <a:srgbClr val="D4D4D4"/>
          </a:solidFill>
          <a:ln>
            <a:noFill/>
          </a:ln>
          <a:effectLst/>
        </p:spPr>
        <p:txBody>
          <a:bodyPr rtlCol="0" anchor="ctr"/>
          <a:lstStyle/>
          <a:p>
            <a:pPr algn="ctr"/>
          </a:p>
        </p:txBody>
      </p:sp>
      <p:sp>
        <p:nvSpPr>
          <p:cNvPr id="26" name="Heat cell"/>
          <p:cNvSpPr/>
          <p:nvPr/>
        </p:nvSpPr>
        <p:spPr>
          <a:xfrm>
            <a:off x="2046688" y="2811780"/>
            <a:ext cx="265469" cy="249174"/>
          </a:xfrm>
          <a:prstGeom prst="rect">
            <a:avLst/>
          </a:prstGeom>
          <a:solidFill>
            <a:srgbClr val="D4D4D4"/>
          </a:solidFill>
          <a:ln>
            <a:noFill/>
          </a:ln>
          <a:effectLst/>
        </p:spPr>
        <p:txBody>
          <a:bodyPr rtlCol="0" anchor="ctr"/>
          <a:lstStyle/>
          <a:p>
            <a:pPr algn="ctr"/>
          </a:p>
        </p:txBody>
      </p:sp>
      <p:sp>
        <p:nvSpPr>
          <p:cNvPr id="27" name="Heat cell"/>
          <p:cNvSpPr/>
          <p:nvPr/>
        </p:nvSpPr>
        <p:spPr>
          <a:xfrm>
            <a:off x="2348734" y="2811780"/>
            <a:ext cx="265469" cy="249174"/>
          </a:xfrm>
          <a:prstGeom prst="rect">
            <a:avLst/>
          </a:prstGeom>
          <a:solidFill>
            <a:srgbClr val="BFE9B2"/>
          </a:solidFill>
          <a:ln>
            <a:noFill/>
          </a:ln>
          <a:effectLst/>
        </p:spPr>
        <p:txBody>
          <a:bodyPr rtlCol="0" anchor="ctr"/>
          <a:lstStyle/>
          <a:p>
            <a:pPr algn="ctr"/>
          </a:p>
        </p:txBody>
      </p:sp>
      <p:sp>
        <p:nvSpPr>
          <p:cNvPr id="28" name="Heat cell"/>
          <p:cNvSpPr/>
          <p:nvPr/>
        </p:nvSpPr>
        <p:spPr>
          <a:xfrm>
            <a:off x="2650780" y="2811780"/>
            <a:ext cx="265469" cy="249174"/>
          </a:xfrm>
          <a:prstGeom prst="rect">
            <a:avLst/>
          </a:prstGeom>
          <a:solidFill>
            <a:srgbClr val="7CBB6E"/>
          </a:solidFill>
          <a:ln>
            <a:noFill/>
          </a:ln>
          <a:effectLst/>
        </p:spPr>
        <p:txBody>
          <a:bodyPr rtlCol="0" anchor="ctr"/>
          <a:lstStyle/>
          <a:p>
            <a:pPr algn="ctr"/>
          </a:p>
        </p:txBody>
      </p:sp>
      <p:sp>
        <p:nvSpPr>
          <p:cNvPr id="29" name="Heat cell"/>
          <p:cNvSpPr/>
          <p:nvPr/>
        </p:nvSpPr>
        <p:spPr>
          <a:xfrm>
            <a:off x="838504" y="3097530"/>
            <a:ext cx="265469" cy="249174"/>
          </a:xfrm>
          <a:prstGeom prst="rect">
            <a:avLst/>
          </a:prstGeom>
          <a:solidFill>
            <a:srgbClr val="D4D4D4"/>
          </a:solidFill>
          <a:ln>
            <a:noFill/>
          </a:ln>
          <a:effectLst/>
        </p:spPr>
        <p:txBody>
          <a:bodyPr rtlCol="0" anchor="ctr"/>
          <a:lstStyle/>
          <a:p>
            <a:pPr algn="ctr"/>
          </a:p>
        </p:txBody>
      </p:sp>
      <p:sp>
        <p:nvSpPr>
          <p:cNvPr id="30" name="Heat cell"/>
          <p:cNvSpPr/>
          <p:nvPr/>
        </p:nvSpPr>
        <p:spPr>
          <a:xfrm>
            <a:off x="1140550" y="3097530"/>
            <a:ext cx="265469" cy="249174"/>
          </a:xfrm>
          <a:prstGeom prst="rect">
            <a:avLst/>
          </a:prstGeom>
          <a:solidFill>
            <a:srgbClr val="BFE9B2"/>
          </a:solidFill>
          <a:ln>
            <a:noFill/>
          </a:ln>
          <a:effectLst/>
        </p:spPr>
        <p:txBody>
          <a:bodyPr rtlCol="0" anchor="ctr"/>
          <a:lstStyle/>
          <a:p>
            <a:pPr algn="ctr"/>
          </a:p>
        </p:txBody>
      </p:sp>
      <p:sp>
        <p:nvSpPr>
          <p:cNvPr id="31" name="Heat cell"/>
          <p:cNvSpPr/>
          <p:nvPr/>
        </p:nvSpPr>
        <p:spPr>
          <a:xfrm>
            <a:off x="1442596" y="3097530"/>
            <a:ext cx="265469" cy="249174"/>
          </a:xfrm>
          <a:prstGeom prst="rect">
            <a:avLst/>
          </a:prstGeom>
          <a:solidFill>
            <a:srgbClr val="D4D4D4"/>
          </a:solidFill>
          <a:ln>
            <a:noFill/>
          </a:ln>
          <a:effectLst/>
        </p:spPr>
        <p:txBody>
          <a:bodyPr rtlCol="0" anchor="ctr"/>
          <a:lstStyle/>
          <a:p>
            <a:pPr algn="ctr"/>
          </a:p>
        </p:txBody>
      </p:sp>
      <p:sp>
        <p:nvSpPr>
          <p:cNvPr id="32" name="Heat cell"/>
          <p:cNvSpPr/>
          <p:nvPr/>
        </p:nvSpPr>
        <p:spPr>
          <a:xfrm>
            <a:off x="1744642" y="3097530"/>
            <a:ext cx="265469" cy="249174"/>
          </a:xfrm>
          <a:prstGeom prst="rect">
            <a:avLst/>
          </a:prstGeom>
          <a:solidFill>
            <a:srgbClr val="BFE9B2"/>
          </a:solidFill>
          <a:ln>
            <a:noFill/>
          </a:ln>
          <a:effectLst/>
        </p:spPr>
        <p:txBody>
          <a:bodyPr rtlCol="0" anchor="ctr"/>
          <a:lstStyle/>
          <a:p>
            <a:pPr algn="ctr"/>
          </a:p>
        </p:txBody>
      </p:sp>
      <p:sp>
        <p:nvSpPr>
          <p:cNvPr id="33" name="Heat cell"/>
          <p:cNvSpPr/>
          <p:nvPr/>
        </p:nvSpPr>
        <p:spPr>
          <a:xfrm>
            <a:off x="2046688" y="3097530"/>
            <a:ext cx="265469" cy="249174"/>
          </a:xfrm>
          <a:prstGeom prst="rect">
            <a:avLst/>
          </a:prstGeom>
          <a:solidFill>
            <a:srgbClr val="BFE9B2"/>
          </a:solidFill>
          <a:ln>
            <a:noFill/>
          </a:ln>
          <a:effectLst/>
        </p:spPr>
        <p:txBody>
          <a:bodyPr rtlCol="0" anchor="ctr"/>
          <a:lstStyle/>
          <a:p>
            <a:pPr algn="ctr"/>
          </a:p>
        </p:txBody>
      </p:sp>
      <p:sp>
        <p:nvSpPr>
          <p:cNvPr id="34" name="Heat cell"/>
          <p:cNvSpPr/>
          <p:nvPr/>
        </p:nvSpPr>
        <p:spPr>
          <a:xfrm>
            <a:off x="2348734" y="3097530"/>
            <a:ext cx="265469" cy="249174"/>
          </a:xfrm>
          <a:prstGeom prst="rect">
            <a:avLst/>
          </a:prstGeom>
          <a:solidFill>
            <a:srgbClr val="7CBB6E"/>
          </a:solidFill>
          <a:ln>
            <a:noFill/>
          </a:ln>
          <a:effectLst/>
        </p:spPr>
        <p:txBody>
          <a:bodyPr rtlCol="0" anchor="ctr"/>
          <a:lstStyle/>
          <a:p>
            <a:pPr algn="ctr"/>
          </a:p>
        </p:txBody>
      </p:sp>
      <p:sp>
        <p:nvSpPr>
          <p:cNvPr id="35" name="Heat cell"/>
          <p:cNvSpPr/>
          <p:nvPr/>
        </p:nvSpPr>
        <p:spPr>
          <a:xfrm>
            <a:off x="2650780" y="3097530"/>
            <a:ext cx="265469" cy="249174"/>
          </a:xfrm>
          <a:prstGeom prst="rect">
            <a:avLst/>
          </a:prstGeom>
          <a:solidFill>
            <a:srgbClr val="D4D4D4"/>
          </a:solidFill>
          <a:ln>
            <a:noFill/>
          </a:ln>
          <a:effectLst/>
        </p:spPr>
        <p:txBody>
          <a:bodyPr rtlCol="0" anchor="ctr"/>
          <a:lstStyle/>
          <a:p>
            <a:pPr algn="ctr"/>
          </a:p>
        </p:txBody>
      </p:sp>
      <p:sp>
        <p:nvSpPr>
          <p:cNvPr id="36" name="Text"/>
          <p:cNvSpPr txBox="1"/>
          <p:nvPr/>
        </p:nvSpPr>
        <p:spPr>
          <a:xfrm>
            <a:off x="609904" y="3794760"/>
            <a:ext cx="2571521" cy="685800"/>
          </a:xfrm>
          <a:prstGeom prst="rect">
            <a:avLst/>
          </a:prstGeom>
          <a:noFill/>
        </p:spPr>
        <p:txBody>
          <a:bodyPr wrap="square" lIns="0" rIns="0" tIns="0" bIns="0" anchor="t">
            <a:noAutofit/>
          </a:bodyPr>
          <a:lstStyle/>
          <a:p>
            <a:pPr algn="l">
              <a:lnSpc>
                <a:spcPct val="100000"/>
              </a:lnSpc>
              <a:spcAft>
                <a:spcPts val="0"/>
              </a:spcAft>
            </a:pPr>
            <a:r>
              <a:rPr sz="2000" b="1" i="0">
                <a:solidFill>
                  <a:srgbClr val="1A1A1A"/>
                </a:solidFill>
                <a:latin typeface="Arial"/>
              </a:rPr>
              <a:t>Readiness Map</a:t>
            </a:r>
          </a:p>
        </p:txBody>
      </p:sp>
      <p:sp>
        <p:nvSpPr>
          <p:cNvPr id="37" name="Text"/>
          <p:cNvSpPr txBox="1"/>
          <p:nvPr/>
        </p:nvSpPr>
        <p:spPr>
          <a:xfrm>
            <a:off x="609904" y="4480560"/>
            <a:ext cx="2571521" cy="1005840"/>
          </a:xfrm>
          <a:prstGeom prst="rect">
            <a:avLst/>
          </a:prstGeom>
          <a:noFill/>
        </p:spPr>
        <p:txBody>
          <a:bodyPr wrap="square" lIns="0" rIns="0" tIns="0" bIns="0" anchor="t">
            <a:noAutofit/>
          </a:bodyPr>
          <a:lstStyle/>
          <a:p>
            <a:pPr algn="l">
              <a:lnSpc>
                <a:spcPct val="112000"/>
              </a:lnSpc>
              <a:spcAft>
                <a:spcPts val="0"/>
              </a:spcAft>
            </a:pPr>
            <a:r>
              <a:rPr sz="1600" b="0" i="0">
                <a:solidFill>
                  <a:srgbClr val="434343"/>
                </a:solidFill>
                <a:latin typeface="Arial"/>
              </a:rPr>
              <a:t>Readiness by cohort and component, so interventions land in the right place.</a:t>
            </a:r>
          </a:p>
        </p:txBody>
      </p:sp>
      <p:sp>
        <p:nvSpPr>
          <p:cNvPr id="38" name="Card"/>
          <p:cNvSpPr/>
          <p:nvPr/>
        </p:nvSpPr>
        <p:spPr>
          <a:xfrm>
            <a:off x="3410026" y="2011680"/>
            <a:ext cx="2571521" cy="1600200"/>
          </a:xfrm>
          <a:prstGeom prst="roundRect">
            <a:avLst>
              <a:gd name="adj" fmla="val 6857"/>
            </a:avLst>
          </a:prstGeom>
          <a:solidFill>
            <a:srgbClr val="F4F4F4"/>
          </a:solidFill>
          <a:ln>
            <a:noFill/>
          </a:ln>
          <a:effectLst/>
        </p:spPr>
        <p:txBody>
          <a:bodyPr rtlCol="0" anchor="ctr"/>
          <a:lstStyle/>
          <a:p>
            <a:pPr algn="ctr"/>
          </a:p>
        </p:txBody>
      </p:sp>
      <p:sp>
        <p:nvSpPr>
          <p:cNvPr id="39" name="Friction bar"/>
          <p:cNvSpPr/>
          <p:nvPr/>
        </p:nvSpPr>
        <p:spPr>
          <a:xfrm>
            <a:off x="3734918" y="2240280"/>
            <a:ext cx="960868" cy="155448"/>
          </a:xfrm>
          <a:prstGeom prst="rect">
            <a:avLst/>
          </a:prstGeom>
          <a:solidFill>
            <a:srgbClr val="8A8A8A"/>
          </a:solidFill>
          <a:ln>
            <a:noFill/>
          </a:ln>
          <a:effectLst/>
        </p:spPr>
        <p:txBody>
          <a:bodyPr rtlCol="0" anchor="ctr"/>
          <a:lstStyle/>
          <a:p>
            <a:pPr algn="ctr"/>
          </a:p>
        </p:txBody>
      </p:sp>
      <p:sp>
        <p:nvSpPr>
          <p:cNvPr id="40" name="Flow bar"/>
          <p:cNvSpPr/>
          <p:nvPr/>
        </p:nvSpPr>
        <p:spPr>
          <a:xfrm>
            <a:off x="4695786" y="2240280"/>
            <a:ext cx="354004" cy="155448"/>
          </a:xfrm>
          <a:prstGeom prst="rect">
            <a:avLst/>
          </a:prstGeom>
          <a:solidFill>
            <a:srgbClr val="28A019"/>
          </a:solidFill>
          <a:ln>
            <a:noFill/>
          </a:ln>
          <a:effectLst/>
        </p:spPr>
        <p:txBody>
          <a:bodyPr rtlCol="0" anchor="ctr"/>
          <a:lstStyle/>
          <a:p>
            <a:pPr algn="ctr"/>
          </a:p>
        </p:txBody>
      </p:sp>
      <p:sp>
        <p:nvSpPr>
          <p:cNvPr id="41" name="Friction bar"/>
          <p:cNvSpPr/>
          <p:nvPr/>
        </p:nvSpPr>
        <p:spPr>
          <a:xfrm>
            <a:off x="3937206" y="2468880"/>
            <a:ext cx="758580" cy="155448"/>
          </a:xfrm>
          <a:prstGeom prst="rect">
            <a:avLst/>
          </a:prstGeom>
          <a:solidFill>
            <a:srgbClr val="8A8A8A"/>
          </a:solidFill>
          <a:ln>
            <a:noFill/>
          </a:ln>
          <a:effectLst/>
        </p:spPr>
        <p:txBody>
          <a:bodyPr rtlCol="0" anchor="ctr"/>
          <a:lstStyle/>
          <a:p>
            <a:pPr algn="ctr"/>
          </a:p>
        </p:txBody>
      </p:sp>
      <p:sp>
        <p:nvSpPr>
          <p:cNvPr id="42" name="Flow bar"/>
          <p:cNvSpPr/>
          <p:nvPr/>
        </p:nvSpPr>
        <p:spPr>
          <a:xfrm>
            <a:off x="4695786" y="2468880"/>
            <a:ext cx="556292" cy="155448"/>
          </a:xfrm>
          <a:prstGeom prst="rect">
            <a:avLst/>
          </a:prstGeom>
          <a:solidFill>
            <a:srgbClr val="28A019"/>
          </a:solidFill>
          <a:ln>
            <a:noFill/>
          </a:ln>
          <a:effectLst/>
        </p:spPr>
        <p:txBody>
          <a:bodyPr rtlCol="0" anchor="ctr"/>
          <a:lstStyle/>
          <a:p>
            <a:pPr algn="ctr"/>
          </a:p>
        </p:txBody>
      </p:sp>
      <p:sp>
        <p:nvSpPr>
          <p:cNvPr id="43" name="Friction bar"/>
          <p:cNvSpPr/>
          <p:nvPr/>
        </p:nvSpPr>
        <p:spPr>
          <a:xfrm>
            <a:off x="4088922" y="2697480"/>
            <a:ext cx="606864" cy="155448"/>
          </a:xfrm>
          <a:prstGeom prst="rect">
            <a:avLst/>
          </a:prstGeom>
          <a:solidFill>
            <a:srgbClr val="8A8A8A"/>
          </a:solidFill>
          <a:ln>
            <a:noFill/>
          </a:ln>
          <a:effectLst/>
        </p:spPr>
        <p:txBody>
          <a:bodyPr rtlCol="0" anchor="ctr"/>
          <a:lstStyle/>
          <a:p>
            <a:pPr algn="ctr"/>
          </a:p>
        </p:txBody>
      </p:sp>
      <p:sp>
        <p:nvSpPr>
          <p:cNvPr id="44" name="Flow bar"/>
          <p:cNvSpPr/>
          <p:nvPr/>
        </p:nvSpPr>
        <p:spPr>
          <a:xfrm>
            <a:off x="4695786" y="2697480"/>
            <a:ext cx="708008" cy="155448"/>
          </a:xfrm>
          <a:prstGeom prst="rect">
            <a:avLst/>
          </a:prstGeom>
          <a:solidFill>
            <a:srgbClr val="28A019"/>
          </a:solidFill>
          <a:ln>
            <a:noFill/>
          </a:ln>
          <a:effectLst/>
        </p:spPr>
        <p:txBody>
          <a:bodyPr rtlCol="0" anchor="ctr"/>
          <a:lstStyle/>
          <a:p>
            <a:pPr algn="ctr"/>
          </a:p>
        </p:txBody>
      </p:sp>
      <p:sp>
        <p:nvSpPr>
          <p:cNvPr id="45" name="Friction bar"/>
          <p:cNvSpPr/>
          <p:nvPr/>
        </p:nvSpPr>
        <p:spPr>
          <a:xfrm>
            <a:off x="4240638" y="2926080"/>
            <a:ext cx="455148" cy="155448"/>
          </a:xfrm>
          <a:prstGeom prst="rect">
            <a:avLst/>
          </a:prstGeom>
          <a:solidFill>
            <a:srgbClr val="8A8A8A"/>
          </a:solidFill>
          <a:ln>
            <a:noFill/>
          </a:ln>
          <a:effectLst/>
        </p:spPr>
        <p:txBody>
          <a:bodyPr rtlCol="0" anchor="ctr"/>
          <a:lstStyle/>
          <a:p>
            <a:pPr algn="ctr"/>
          </a:p>
        </p:txBody>
      </p:sp>
      <p:sp>
        <p:nvSpPr>
          <p:cNvPr id="46" name="Flow bar"/>
          <p:cNvSpPr/>
          <p:nvPr/>
        </p:nvSpPr>
        <p:spPr>
          <a:xfrm>
            <a:off x="4695786" y="2926080"/>
            <a:ext cx="910296" cy="155448"/>
          </a:xfrm>
          <a:prstGeom prst="rect">
            <a:avLst/>
          </a:prstGeom>
          <a:solidFill>
            <a:srgbClr val="28A019"/>
          </a:solidFill>
          <a:ln>
            <a:noFill/>
          </a:ln>
          <a:effectLst/>
        </p:spPr>
        <p:txBody>
          <a:bodyPr rtlCol="0" anchor="ctr"/>
          <a:lstStyle/>
          <a:p>
            <a:pPr algn="ctr"/>
          </a:p>
        </p:txBody>
      </p:sp>
      <p:sp>
        <p:nvSpPr>
          <p:cNvPr id="47" name="Friction bar"/>
          <p:cNvSpPr/>
          <p:nvPr/>
        </p:nvSpPr>
        <p:spPr>
          <a:xfrm>
            <a:off x="4392354" y="3154680"/>
            <a:ext cx="303432" cy="155448"/>
          </a:xfrm>
          <a:prstGeom prst="rect">
            <a:avLst/>
          </a:prstGeom>
          <a:solidFill>
            <a:srgbClr val="8A8A8A"/>
          </a:solidFill>
          <a:ln>
            <a:noFill/>
          </a:ln>
          <a:effectLst/>
        </p:spPr>
        <p:txBody>
          <a:bodyPr rtlCol="0" anchor="ctr"/>
          <a:lstStyle/>
          <a:p>
            <a:pPr algn="ctr"/>
          </a:p>
        </p:txBody>
      </p:sp>
      <p:sp>
        <p:nvSpPr>
          <p:cNvPr id="48" name="Flow bar"/>
          <p:cNvSpPr/>
          <p:nvPr/>
        </p:nvSpPr>
        <p:spPr>
          <a:xfrm>
            <a:off x="4695786" y="3154680"/>
            <a:ext cx="1011440" cy="155448"/>
          </a:xfrm>
          <a:prstGeom prst="rect">
            <a:avLst/>
          </a:prstGeom>
          <a:solidFill>
            <a:srgbClr val="28A019"/>
          </a:solidFill>
          <a:ln>
            <a:noFill/>
          </a:ln>
          <a:effectLst/>
        </p:spPr>
        <p:txBody>
          <a:bodyPr rtlCol="0" anchor="ctr"/>
          <a:lstStyle/>
          <a:p>
            <a:pPr algn="ctr"/>
          </a:p>
        </p:txBody>
      </p:sp>
      <p:cxnSp>
        <p:nvCxnSpPr>
          <p:cNvPr id="49" name="Line"/>
          <p:cNvCxnSpPr/>
          <p:nvPr/>
        </p:nvCxnSpPr>
        <p:spPr>
          <a:xfrm>
            <a:off x="4695786" y="2176272"/>
            <a:ext cx="0" cy="1271016"/>
          </a:xfrm>
          <a:prstGeom prst="line">
            <a:avLst/>
          </a:prstGeom>
          <a:ln w="12700">
            <a:solidFill>
              <a:srgbClr val="434343"/>
            </a:solidFill>
          </a:ln>
        </p:spPr>
      </p:cxnSp>
      <p:sp>
        <p:nvSpPr>
          <p:cNvPr id="50" name="Text"/>
          <p:cNvSpPr txBox="1"/>
          <p:nvPr/>
        </p:nvSpPr>
        <p:spPr>
          <a:xfrm>
            <a:off x="3410026" y="3794760"/>
            <a:ext cx="2571521" cy="685800"/>
          </a:xfrm>
          <a:prstGeom prst="rect">
            <a:avLst/>
          </a:prstGeom>
          <a:noFill/>
        </p:spPr>
        <p:txBody>
          <a:bodyPr wrap="square" lIns="0" rIns="0" tIns="0" bIns="0" anchor="t">
            <a:noAutofit/>
          </a:bodyPr>
          <a:lstStyle/>
          <a:p>
            <a:pPr algn="l">
              <a:lnSpc>
                <a:spcPct val="100000"/>
              </a:lnSpc>
              <a:spcAft>
                <a:spcPts val="0"/>
              </a:spcAft>
            </a:pPr>
            <a:r>
              <a:rPr sz="2000" b="1" i="0">
                <a:solidFill>
                  <a:srgbClr val="1A1A1A"/>
                </a:solidFill>
                <a:latin typeface="Arial"/>
              </a:rPr>
              <a:t>Risk and Reward Profiles</a:t>
            </a:r>
          </a:p>
        </p:txBody>
      </p:sp>
      <p:sp>
        <p:nvSpPr>
          <p:cNvPr id="51" name="Text"/>
          <p:cNvSpPr txBox="1"/>
          <p:nvPr/>
        </p:nvSpPr>
        <p:spPr>
          <a:xfrm>
            <a:off x="3410026" y="4480560"/>
            <a:ext cx="2571521" cy="1005840"/>
          </a:xfrm>
          <a:prstGeom prst="rect">
            <a:avLst/>
          </a:prstGeom>
          <a:noFill/>
        </p:spPr>
        <p:txBody>
          <a:bodyPr wrap="square" lIns="0" rIns="0" tIns="0" bIns="0" anchor="t">
            <a:noAutofit/>
          </a:bodyPr>
          <a:lstStyle/>
          <a:p>
            <a:pPr algn="l">
              <a:lnSpc>
                <a:spcPct val="112000"/>
              </a:lnSpc>
              <a:spcAft>
                <a:spcPts val="0"/>
              </a:spcAft>
            </a:pPr>
            <a:r>
              <a:rPr sz="1600" b="0" i="0">
                <a:solidFill>
                  <a:srgbClr val="434343"/>
                </a:solidFill>
                <a:latin typeface="Arial"/>
              </a:rPr>
              <a:t>Friction and flow factors, ranked by likely impact on timelines.</a:t>
            </a:r>
          </a:p>
        </p:txBody>
      </p:sp>
      <p:sp>
        <p:nvSpPr>
          <p:cNvPr id="52" name="Card"/>
          <p:cNvSpPr/>
          <p:nvPr/>
        </p:nvSpPr>
        <p:spPr>
          <a:xfrm>
            <a:off x="6210147" y="2011680"/>
            <a:ext cx="2571521" cy="1600200"/>
          </a:xfrm>
          <a:prstGeom prst="roundRect">
            <a:avLst>
              <a:gd name="adj" fmla="val 6857"/>
            </a:avLst>
          </a:prstGeom>
          <a:solidFill>
            <a:srgbClr val="F4F4F4"/>
          </a:solidFill>
          <a:ln>
            <a:noFill/>
          </a:ln>
          <a:effectLst/>
        </p:spPr>
        <p:txBody>
          <a:bodyPr rtlCol="0" anchor="ctr"/>
          <a:lstStyle/>
          <a:p>
            <a:pPr algn="ctr"/>
          </a:p>
        </p:txBody>
      </p:sp>
      <p:cxnSp>
        <p:nvCxnSpPr>
          <p:cNvPr id="53" name="Line"/>
          <p:cNvCxnSpPr/>
          <p:nvPr/>
        </p:nvCxnSpPr>
        <p:spPr>
          <a:xfrm>
            <a:off x="6484467" y="2383155"/>
            <a:ext cx="2022882" cy="0"/>
          </a:xfrm>
          <a:prstGeom prst="line">
            <a:avLst/>
          </a:prstGeom>
          <a:ln w="12700">
            <a:solidFill>
              <a:srgbClr val="E0E0E0"/>
            </a:solidFill>
          </a:ln>
        </p:spPr>
      </p:cxnSp>
      <p:cxnSp>
        <p:nvCxnSpPr>
          <p:cNvPr id="54" name="Line"/>
          <p:cNvCxnSpPr/>
          <p:nvPr/>
        </p:nvCxnSpPr>
        <p:spPr>
          <a:xfrm>
            <a:off x="7091332" y="2383155"/>
            <a:ext cx="161830" cy="0"/>
          </a:xfrm>
          <a:prstGeom prst="line">
            <a:avLst/>
          </a:prstGeom>
          <a:ln w="19050">
            <a:solidFill>
              <a:srgbClr val="8A8A8A"/>
            </a:solidFill>
          </a:ln>
        </p:spPr>
      </p:cxnSp>
      <p:sp>
        <p:nvSpPr>
          <p:cNvPr id="55" name="Dot"/>
          <p:cNvSpPr/>
          <p:nvPr/>
        </p:nvSpPr>
        <p:spPr>
          <a:xfrm>
            <a:off x="7027324" y="2319147"/>
            <a:ext cx="128016" cy="128016"/>
          </a:xfrm>
          <a:prstGeom prst="ellipse">
            <a:avLst/>
          </a:prstGeom>
          <a:solidFill>
            <a:srgbClr val="434343"/>
          </a:solidFill>
          <a:ln>
            <a:noFill/>
          </a:ln>
          <a:effectLst/>
        </p:spPr>
        <p:txBody>
          <a:bodyPr rtlCol="0" anchor="ctr"/>
          <a:lstStyle/>
          <a:p>
            <a:pPr algn="ctr"/>
          </a:p>
        </p:txBody>
      </p:sp>
      <p:sp>
        <p:nvSpPr>
          <p:cNvPr id="56" name="Dot"/>
          <p:cNvSpPr/>
          <p:nvPr/>
        </p:nvSpPr>
        <p:spPr>
          <a:xfrm>
            <a:off x="7189154" y="2319147"/>
            <a:ext cx="128016" cy="128016"/>
          </a:xfrm>
          <a:prstGeom prst="ellipse">
            <a:avLst/>
          </a:prstGeom>
          <a:solidFill>
            <a:srgbClr val="28A019"/>
          </a:solidFill>
          <a:ln>
            <a:noFill/>
          </a:ln>
          <a:effectLst/>
        </p:spPr>
        <p:txBody>
          <a:bodyPr rtlCol="0" anchor="ctr"/>
          <a:lstStyle/>
          <a:p>
            <a:pPr algn="ctr"/>
          </a:p>
        </p:txBody>
      </p:sp>
      <p:cxnSp>
        <p:nvCxnSpPr>
          <p:cNvPr id="57" name="Line"/>
          <p:cNvCxnSpPr/>
          <p:nvPr/>
        </p:nvCxnSpPr>
        <p:spPr>
          <a:xfrm>
            <a:off x="6484467" y="2668905"/>
            <a:ext cx="2022882" cy="0"/>
          </a:xfrm>
          <a:prstGeom prst="line">
            <a:avLst/>
          </a:prstGeom>
          <a:ln w="12700">
            <a:solidFill>
              <a:srgbClr val="E0E0E0"/>
            </a:solidFill>
          </a:ln>
        </p:spPr>
      </p:cxnSp>
      <p:cxnSp>
        <p:nvCxnSpPr>
          <p:cNvPr id="58" name="Line"/>
          <p:cNvCxnSpPr/>
          <p:nvPr/>
        </p:nvCxnSpPr>
        <p:spPr>
          <a:xfrm>
            <a:off x="7394764" y="2668905"/>
            <a:ext cx="141601" cy="0"/>
          </a:xfrm>
          <a:prstGeom prst="line">
            <a:avLst/>
          </a:prstGeom>
          <a:ln w="19050">
            <a:solidFill>
              <a:srgbClr val="8A8A8A"/>
            </a:solidFill>
          </a:ln>
        </p:spPr>
      </p:cxnSp>
      <p:sp>
        <p:nvSpPr>
          <p:cNvPr id="59" name="Dot"/>
          <p:cNvSpPr/>
          <p:nvPr/>
        </p:nvSpPr>
        <p:spPr>
          <a:xfrm>
            <a:off x="7330756" y="2604897"/>
            <a:ext cx="128016" cy="128016"/>
          </a:xfrm>
          <a:prstGeom prst="ellipse">
            <a:avLst/>
          </a:prstGeom>
          <a:solidFill>
            <a:srgbClr val="434343"/>
          </a:solidFill>
          <a:ln>
            <a:noFill/>
          </a:ln>
          <a:effectLst/>
        </p:spPr>
        <p:txBody>
          <a:bodyPr rtlCol="0" anchor="ctr"/>
          <a:lstStyle/>
          <a:p>
            <a:pPr algn="ctr"/>
          </a:p>
        </p:txBody>
      </p:sp>
      <p:sp>
        <p:nvSpPr>
          <p:cNvPr id="60" name="Dot"/>
          <p:cNvSpPr/>
          <p:nvPr/>
        </p:nvSpPr>
        <p:spPr>
          <a:xfrm>
            <a:off x="7472357" y="2604897"/>
            <a:ext cx="128016" cy="128016"/>
          </a:xfrm>
          <a:prstGeom prst="ellipse">
            <a:avLst/>
          </a:prstGeom>
          <a:solidFill>
            <a:srgbClr val="28A019"/>
          </a:solidFill>
          <a:ln>
            <a:noFill/>
          </a:ln>
          <a:effectLst/>
        </p:spPr>
        <p:txBody>
          <a:bodyPr rtlCol="0" anchor="ctr"/>
          <a:lstStyle/>
          <a:p>
            <a:pPr algn="ctr"/>
          </a:p>
        </p:txBody>
      </p:sp>
      <p:cxnSp>
        <p:nvCxnSpPr>
          <p:cNvPr id="61" name="Line"/>
          <p:cNvCxnSpPr/>
          <p:nvPr/>
        </p:nvCxnSpPr>
        <p:spPr>
          <a:xfrm>
            <a:off x="6484467" y="2954655"/>
            <a:ext cx="2022882" cy="0"/>
          </a:xfrm>
          <a:prstGeom prst="line">
            <a:avLst/>
          </a:prstGeom>
          <a:ln w="12700">
            <a:solidFill>
              <a:srgbClr val="E0E0E0"/>
            </a:solidFill>
          </a:ln>
        </p:spPr>
      </p:cxnSp>
      <p:cxnSp>
        <p:nvCxnSpPr>
          <p:cNvPr id="62" name="Line"/>
          <p:cNvCxnSpPr/>
          <p:nvPr/>
        </p:nvCxnSpPr>
        <p:spPr>
          <a:xfrm>
            <a:off x="6889043" y="2954655"/>
            <a:ext cx="1254187" cy="0"/>
          </a:xfrm>
          <a:prstGeom prst="line">
            <a:avLst/>
          </a:prstGeom>
          <a:ln w="31750">
            <a:solidFill>
              <a:srgbClr val="28A019"/>
            </a:solidFill>
          </a:ln>
        </p:spPr>
      </p:cxnSp>
      <p:sp>
        <p:nvSpPr>
          <p:cNvPr id="63" name="Dot"/>
          <p:cNvSpPr/>
          <p:nvPr/>
        </p:nvSpPr>
        <p:spPr>
          <a:xfrm>
            <a:off x="6825035" y="2890647"/>
            <a:ext cx="128016" cy="128016"/>
          </a:xfrm>
          <a:prstGeom prst="ellipse">
            <a:avLst/>
          </a:prstGeom>
          <a:solidFill>
            <a:srgbClr val="434343"/>
          </a:solidFill>
          <a:ln>
            <a:noFill/>
          </a:ln>
          <a:effectLst/>
        </p:spPr>
        <p:txBody>
          <a:bodyPr rtlCol="0" anchor="ctr"/>
          <a:lstStyle/>
          <a:p>
            <a:pPr algn="ctr"/>
          </a:p>
        </p:txBody>
      </p:sp>
      <p:sp>
        <p:nvSpPr>
          <p:cNvPr id="64" name="Dot"/>
          <p:cNvSpPr/>
          <p:nvPr/>
        </p:nvSpPr>
        <p:spPr>
          <a:xfrm>
            <a:off x="8079222" y="2890647"/>
            <a:ext cx="128016" cy="128016"/>
          </a:xfrm>
          <a:prstGeom prst="ellipse">
            <a:avLst/>
          </a:prstGeom>
          <a:solidFill>
            <a:srgbClr val="28A019"/>
          </a:solidFill>
          <a:ln>
            <a:noFill/>
          </a:ln>
          <a:effectLst/>
        </p:spPr>
        <p:txBody>
          <a:bodyPr rtlCol="0" anchor="ctr"/>
          <a:lstStyle/>
          <a:p>
            <a:pPr algn="ctr"/>
          </a:p>
        </p:txBody>
      </p:sp>
      <p:cxnSp>
        <p:nvCxnSpPr>
          <p:cNvPr id="65" name="Line"/>
          <p:cNvCxnSpPr/>
          <p:nvPr/>
        </p:nvCxnSpPr>
        <p:spPr>
          <a:xfrm>
            <a:off x="6484467" y="3240405"/>
            <a:ext cx="2022882" cy="0"/>
          </a:xfrm>
          <a:prstGeom prst="line">
            <a:avLst/>
          </a:prstGeom>
          <a:ln w="12700">
            <a:solidFill>
              <a:srgbClr val="E0E0E0"/>
            </a:solidFill>
          </a:ln>
        </p:spPr>
      </p:cxnSp>
      <p:cxnSp>
        <p:nvCxnSpPr>
          <p:cNvPr id="66" name="Line"/>
          <p:cNvCxnSpPr/>
          <p:nvPr/>
        </p:nvCxnSpPr>
        <p:spPr>
          <a:xfrm>
            <a:off x="7597052" y="3240405"/>
            <a:ext cx="101144" cy="0"/>
          </a:xfrm>
          <a:prstGeom prst="line">
            <a:avLst/>
          </a:prstGeom>
          <a:ln w="19050">
            <a:solidFill>
              <a:srgbClr val="8A8A8A"/>
            </a:solidFill>
          </a:ln>
        </p:spPr>
      </p:cxnSp>
      <p:sp>
        <p:nvSpPr>
          <p:cNvPr id="67" name="Dot"/>
          <p:cNvSpPr/>
          <p:nvPr/>
        </p:nvSpPr>
        <p:spPr>
          <a:xfrm>
            <a:off x="7533044" y="3176397"/>
            <a:ext cx="128016" cy="128016"/>
          </a:xfrm>
          <a:prstGeom prst="ellipse">
            <a:avLst/>
          </a:prstGeom>
          <a:solidFill>
            <a:srgbClr val="434343"/>
          </a:solidFill>
          <a:ln>
            <a:noFill/>
          </a:ln>
          <a:effectLst/>
        </p:spPr>
        <p:txBody>
          <a:bodyPr rtlCol="0" anchor="ctr"/>
          <a:lstStyle/>
          <a:p>
            <a:pPr algn="ctr"/>
          </a:p>
        </p:txBody>
      </p:sp>
      <p:sp>
        <p:nvSpPr>
          <p:cNvPr id="68" name="Dot"/>
          <p:cNvSpPr/>
          <p:nvPr/>
        </p:nvSpPr>
        <p:spPr>
          <a:xfrm>
            <a:off x="7634188" y="3176397"/>
            <a:ext cx="128016" cy="128016"/>
          </a:xfrm>
          <a:prstGeom prst="ellipse">
            <a:avLst/>
          </a:prstGeom>
          <a:solidFill>
            <a:srgbClr val="28A019"/>
          </a:solidFill>
          <a:ln>
            <a:noFill/>
          </a:ln>
          <a:effectLst/>
        </p:spPr>
        <p:txBody>
          <a:bodyPr rtlCol="0" anchor="ctr"/>
          <a:lstStyle/>
          <a:p>
            <a:pPr algn="ctr"/>
          </a:p>
        </p:txBody>
      </p:sp>
      <p:sp>
        <p:nvSpPr>
          <p:cNvPr id="69" name="Text"/>
          <p:cNvSpPr txBox="1"/>
          <p:nvPr/>
        </p:nvSpPr>
        <p:spPr>
          <a:xfrm>
            <a:off x="6210147" y="3794760"/>
            <a:ext cx="2571521" cy="685800"/>
          </a:xfrm>
          <a:prstGeom prst="rect">
            <a:avLst/>
          </a:prstGeom>
          <a:noFill/>
        </p:spPr>
        <p:txBody>
          <a:bodyPr wrap="square" lIns="0" rIns="0" tIns="0" bIns="0" anchor="t">
            <a:noAutofit/>
          </a:bodyPr>
          <a:lstStyle/>
          <a:p>
            <a:pPr algn="l">
              <a:lnSpc>
                <a:spcPct val="100000"/>
              </a:lnSpc>
              <a:spcAft>
                <a:spcPts val="0"/>
              </a:spcAft>
            </a:pPr>
            <a:r>
              <a:rPr sz="2000" b="1" i="0">
                <a:solidFill>
                  <a:srgbClr val="1A1A1A"/>
                </a:solidFill>
                <a:latin typeface="Arial"/>
              </a:rPr>
              <a:t>Stakeholder Alignment</a:t>
            </a:r>
          </a:p>
        </p:txBody>
      </p:sp>
      <p:sp>
        <p:nvSpPr>
          <p:cNvPr id="70" name="Text"/>
          <p:cNvSpPr txBox="1"/>
          <p:nvPr/>
        </p:nvSpPr>
        <p:spPr>
          <a:xfrm>
            <a:off x="6210147" y="4480560"/>
            <a:ext cx="2571521" cy="1005840"/>
          </a:xfrm>
          <a:prstGeom prst="rect">
            <a:avLst/>
          </a:prstGeom>
          <a:noFill/>
        </p:spPr>
        <p:txBody>
          <a:bodyPr wrap="square" lIns="0" rIns="0" tIns="0" bIns="0" anchor="t">
            <a:noAutofit/>
          </a:bodyPr>
          <a:lstStyle/>
          <a:p>
            <a:pPr algn="l">
              <a:lnSpc>
                <a:spcPct val="112000"/>
              </a:lnSpc>
              <a:spcAft>
                <a:spcPts val="0"/>
              </a:spcAft>
            </a:pPr>
            <a:r>
              <a:rPr sz="1600" b="0" i="0">
                <a:solidFill>
                  <a:srgbClr val="434343"/>
                </a:solidFill>
                <a:latin typeface="Arial"/>
              </a:rPr>
              <a:t>Where leadership narratives diverge before the front line feels it.</a:t>
            </a:r>
          </a:p>
        </p:txBody>
      </p:sp>
      <p:sp>
        <p:nvSpPr>
          <p:cNvPr id="71" name="Card"/>
          <p:cNvSpPr/>
          <p:nvPr/>
        </p:nvSpPr>
        <p:spPr>
          <a:xfrm>
            <a:off x="9010269" y="2011680"/>
            <a:ext cx="2571521" cy="1600200"/>
          </a:xfrm>
          <a:prstGeom prst="roundRect">
            <a:avLst>
              <a:gd name="adj" fmla="val 6857"/>
            </a:avLst>
          </a:prstGeom>
          <a:solidFill>
            <a:srgbClr val="F4F4F4"/>
          </a:solidFill>
          <a:ln>
            <a:noFill/>
          </a:ln>
          <a:effectLst/>
        </p:spPr>
        <p:txBody>
          <a:bodyPr rtlCol="0" anchor="ctr"/>
          <a:lstStyle/>
          <a:p>
            <a:pPr algn="ctr"/>
          </a:p>
        </p:txBody>
      </p:sp>
      <p:sp>
        <p:nvSpPr>
          <p:cNvPr id="72" name="Profile seg"/>
          <p:cNvSpPr/>
          <p:nvPr/>
        </p:nvSpPr>
        <p:spPr>
          <a:xfrm>
            <a:off x="9238869" y="2240280"/>
            <a:ext cx="1271448" cy="194310"/>
          </a:xfrm>
          <a:prstGeom prst="rect">
            <a:avLst/>
          </a:prstGeom>
          <a:solidFill>
            <a:srgbClr val="1E7A13"/>
          </a:solidFill>
          <a:ln>
            <a:noFill/>
          </a:ln>
          <a:effectLst/>
        </p:spPr>
        <p:txBody>
          <a:bodyPr rtlCol="0" anchor="ctr"/>
          <a:lstStyle/>
          <a:p>
            <a:pPr algn="ctr"/>
          </a:p>
        </p:txBody>
      </p:sp>
      <p:sp>
        <p:nvSpPr>
          <p:cNvPr id="73" name="Profile seg"/>
          <p:cNvSpPr/>
          <p:nvPr/>
        </p:nvSpPr>
        <p:spPr>
          <a:xfrm>
            <a:off x="10528605" y="2240280"/>
            <a:ext cx="616008" cy="194310"/>
          </a:xfrm>
          <a:prstGeom prst="rect">
            <a:avLst/>
          </a:prstGeom>
          <a:solidFill>
            <a:srgbClr val="7CBB6E"/>
          </a:solidFill>
          <a:ln>
            <a:noFill/>
          </a:ln>
          <a:effectLst/>
        </p:spPr>
        <p:txBody>
          <a:bodyPr rtlCol="0" anchor="ctr"/>
          <a:lstStyle/>
          <a:p>
            <a:pPr algn="ctr"/>
          </a:p>
        </p:txBody>
      </p:sp>
      <p:sp>
        <p:nvSpPr>
          <p:cNvPr id="74" name="Profile seg"/>
          <p:cNvSpPr/>
          <p:nvPr/>
        </p:nvSpPr>
        <p:spPr>
          <a:xfrm>
            <a:off x="11162901" y="2240280"/>
            <a:ext cx="129714" cy="194310"/>
          </a:xfrm>
          <a:prstGeom prst="rect">
            <a:avLst/>
          </a:prstGeom>
          <a:solidFill>
            <a:srgbClr val="D4D4D4"/>
          </a:solidFill>
          <a:ln>
            <a:noFill/>
          </a:ln>
          <a:effectLst/>
        </p:spPr>
        <p:txBody>
          <a:bodyPr rtlCol="0" anchor="ctr"/>
          <a:lstStyle/>
          <a:p>
            <a:pPr algn="ctr"/>
          </a:p>
        </p:txBody>
      </p:sp>
      <p:sp>
        <p:nvSpPr>
          <p:cNvPr id="75" name="Profile seg"/>
          <p:cNvSpPr/>
          <p:nvPr/>
        </p:nvSpPr>
        <p:spPr>
          <a:xfrm>
            <a:off x="11310903" y="2240280"/>
            <a:ext cx="23998" cy="194310"/>
          </a:xfrm>
          <a:prstGeom prst="rect">
            <a:avLst/>
          </a:prstGeom>
          <a:solidFill>
            <a:srgbClr val="4A4A4A"/>
          </a:solidFill>
          <a:ln>
            <a:noFill/>
          </a:ln>
          <a:effectLst/>
        </p:spPr>
        <p:txBody>
          <a:bodyPr rtlCol="0" anchor="ctr"/>
          <a:lstStyle/>
          <a:p>
            <a:pPr algn="ctr"/>
          </a:p>
        </p:txBody>
      </p:sp>
      <p:sp>
        <p:nvSpPr>
          <p:cNvPr id="76" name="Profile seg"/>
          <p:cNvSpPr/>
          <p:nvPr/>
        </p:nvSpPr>
        <p:spPr>
          <a:xfrm>
            <a:off x="9238869" y="2526030"/>
            <a:ext cx="679438" cy="194310"/>
          </a:xfrm>
          <a:prstGeom prst="rect">
            <a:avLst/>
          </a:prstGeom>
          <a:solidFill>
            <a:srgbClr val="1E7A13"/>
          </a:solidFill>
          <a:ln>
            <a:noFill/>
          </a:ln>
          <a:effectLst/>
        </p:spPr>
        <p:txBody>
          <a:bodyPr rtlCol="0" anchor="ctr"/>
          <a:lstStyle/>
          <a:p>
            <a:pPr algn="ctr"/>
          </a:p>
        </p:txBody>
      </p:sp>
      <p:sp>
        <p:nvSpPr>
          <p:cNvPr id="77" name="Profile seg"/>
          <p:cNvSpPr/>
          <p:nvPr/>
        </p:nvSpPr>
        <p:spPr>
          <a:xfrm>
            <a:off x="9936595" y="2526030"/>
            <a:ext cx="848583" cy="194310"/>
          </a:xfrm>
          <a:prstGeom prst="rect">
            <a:avLst/>
          </a:prstGeom>
          <a:solidFill>
            <a:srgbClr val="7CBB6E"/>
          </a:solidFill>
          <a:ln>
            <a:noFill/>
          </a:ln>
          <a:effectLst/>
        </p:spPr>
        <p:txBody>
          <a:bodyPr rtlCol="0" anchor="ctr"/>
          <a:lstStyle/>
          <a:p>
            <a:pPr algn="ctr"/>
          </a:p>
        </p:txBody>
      </p:sp>
      <p:sp>
        <p:nvSpPr>
          <p:cNvPr id="78" name="Profile seg"/>
          <p:cNvSpPr/>
          <p:nvPr/>
        </p:nvSpPr>
        <p:spPr>
          <a:xfrm>
            <a:off x="10803466" y="2526030"/>
            <a:ext cx="404576" cy="194310"/>
          </a:xfrm>
          <a:prstGeom prst="rect">
            <a:avLst/>
          </a:prstGeom>
          <a:solidFill>
            <a:srgbClr val="D4D4D4"/>
          </a:solidFill>
          <a:ln>
            <a:noFill/>
          </a:ln>
          <a:effectLst/>
        </p:spPr>
        <p:txBody>
          <a:bodyPr rtlCol="0" anchor="ctr"/>
          <a:lstStyle/>
          <a:p>
            <a:pPr algn="ctr"/>
          </a:p>
        </p:txBody>
      </p:sp>
      <p:sp>
        <p:nvSpPr>
          <p:cNvPr id="79" name="Profile seg"/>
          <p:cNvSpPr/>
          <p:nvPr/>
        </p:nvSpPr>
        <p:spPr>
          <a:xfrm>
            <a:off x="11226331" y="2526030"/>
            <a:ext cx="108571" cy="194310"/>
          </a:xfrm>
          <a:prstGeom prst="rect">
            <a:avLst/>
          </a:prstGeom>
          <a:solidFill>
            <a:srgbClr val="4A4A4A"/>
          </a:solidFill>
          <a:ln>
            <a:noFill/>
          </a:ln>
          <a:effectLst/>
        </p:spPr>
        <p:txBody>
          <a:bodyPr rtlCol="0" anchor="ctr"/>
          <a:lstStyle/>
          <a:p>
            <a:pPr algn="ctr"/>
          </a:p>
        </p:txBody>
      </p:sp>
      <p:sp>
        <p:nvSpPr>
          <p:cNvPr id="80" name="Profile seg"/>
          <p:cNvSpPr/>
          <p:nvPr/>
        </p:nvSpPr>
        <p:spPr>
          <a:xfrm>
            <a:off x="9238869" y="2811780"/>
            <a:ext cx="552578" cy="194310"/>
          </a:xfrm>
          <a:prstGeom prst="rect">
            <a:avLst/>
          </a:prstGeom>
          <a:solidFill>
            <a:srgbClr val="1E7A13"/>
          </a:solidFill>
          <a:ln>
            <a:noFill/>
          </a:ln>
          <a:effectLst/>
        </p:spPr>
        <p:txBody>
          <a:bodyPr rtlCol="0" anchor="ctr"/>
          <a:lstStyle/>
          <a:p>
            <a:pPr algn="ctr"/>
          </a:p>
        </p:txBody>
      </p:sp>
      <p:sp>
        <p:nvSpPr>
          <p:cNvPr id="81" name="Profile seg"/>
          <p:cNvSpPr/>
          <p:nvPr/>
        </p:nvSpPr>
        <p:spPr>
          <a:xfrm>
            <a:off x="9809735" y="2811780"/>
            <a:ext cx="616008" cy="194310"/>
          </a:xfrm>
          <a:prstGeom prst="rect">
            <a:avLst/>
          </a:prstGeom>
          <a:solidFill>
            <a:srgbClr val="7CBB6E"/>
          </a:solidFill>
          <a:ln>
            <a:noFill/>
          </a:ln>
          <a:effectLst/>
        </p:spPr>
        <p:txBody>
          <a:bodyPr rtlCol="0" anchor="ctr"/>
          <a:lstStyle/>
          <a:p>
            <a:pPr algn="ctr"/>
          </a:p>
        </p:txBody>
      </p:sp>
      <p:sp>
        <p:nvSpPr>
          <p:cNvPr id="82" name="Profile seg"/>
          <p:cNvSpPr/>
          <p:nvPr/>
        </p:nvSpPr>
        <p:spPr>
          <a:xfrm>
            <a:off x="10444032" y="2811780"/>
            <a:ext cx="594865" cy="194310"/>
          </a:xfrm>
          <a:prstGeom prst="rect">
            <a:avLst/>
          </a:prstGeom>
          <a:solidFill>
            <a:srgbClr val="D4D4D4"/>
          </a:solidFill>
          <a:ln>
            <a:noFill/>
          </a:ln>
          <a:effectLst/>
        </p:spPr>
        <p:txBody>
          <a:bodyPr rtlCol="0" anchor="ctr"/>
          <a:lstStyle/>
          <a:p>
            <a:pPr algn="ctr"/>
          </a:p>
        </p:txBody>
      </p:sp>
      <p:sp>
        <p:nvSpPr>
          <p:cNvPr id="83" name="Profile seg"/>
          <p:cNvSpPr/>
          <p:nvPr/>
        </p:nvSpPr>
        <p:spPr>
          <a:xfrm>
            <a:off x="11057185" y="2811780"/>
            <a:ext cx="277716" cy="194310"/>
          </a:xfrm>
          <a:prstGeom prst="rect">
            <a:avLst/>
          </a:prstGeom>
          <a:solidFill>
            <a:srgbClr val="4A4A4A"/>
          </a:solidFill>
          <a:ln>
            <a:noFill/>
          </a:ln>
          <a:effectLst/>
        </p:spPr>
        <p:txBody>
          <a:bodyPr rtlCol="0" anchor="ctr"/>
          <a:lstStyle/>
          <a:p>
            <a:pPr algn="ctr"/>
          </a:p>
        </p:txBody>
      </p:sp>
      <p:sp>
        <p:nvSpPr>
          <p:cNvPr id="84" name="Profile seg"/>
          <p:cNvSpPr/>
          <p:nvPr/>
        </p:nvSpPr>
        <p:spPr>
          <a:xfrm>
            <a:off x="9238869" y="3097530"/>
            <a:ext cx="277716" cy="194310"/>
          </a:xfrm>
          <a:prstGeom prst="rect">
            <a:avLst/>
          </a:prstGeom>
          <a:solidFill>
            <a:srgbClr val="1E7A13"/>
          </a:solidFill>
          <a:ln>
            <a:noFill/>
          </a:ln>
          <a:effectLst/>
        </p:spPr>
        <p:txBody>
          <a:bodyPr rtlCol="0" anchor="ctr"/>
          <a:lstStyle/>
          <a:p>
            <a:pPr algn="ctr"/>
          </a:p>
        </p:txBody>
      </p:sp>
      <p:sp>
        <p:nvSpPr>
          <p:cNvPr id="85" name="Profile seg"/>
          <p:cNvSpPr/>
          <p:nvPr/>
        </p:nvSpPr>
        <p:spPr>
          <a:xfrm>
            <a:off x="9534873" y="3097530"/>
            <a:ext cx="637151" cy="194310"/>
          </a:xfrm>
          <a:prstGeom prst="rect">
            <a:avLst/>
          </a:prstGeom>
          <a:solidFill>
            <a:srgbClr val="7CBB6E"/>
          </a:solidFill>
          <a:ln>
            <a:noFill/>
          </a:ln>
          <a:effectLst/>
        </p:spPr>
        <p:txBody>
          <a:bodyPr rtlCol="0" anchor="ctr"/>
          <a:lstStyle/>
          <a:p>
            <a:pPr algn="ctr"/>
          </a:p>
        </p:txBody>
      </p:sp>
      <p:sp>
        <p:nvSpPr>
          <p:cNvPr id="86" name="Profile seg"/>
          <p:cNvSpPr/>
          <p:nvPr/>
        </p:nvSpPr>
        <p:spPr>
          <a:xfrm>
            <a:off x="10190313" y="3097530"/>
            <a:ext cx="742867" cy="194310"/>
          </a:xfrm>
          <a:prstGeom prst="rect">
            <a:avLst/>
          </a:prstGeom>
          <a:solidFill>
            <a:srgbClr val="D4D4D4"/>
          </a:solidFill>
          <a:ln>
            <a:noFill/>
          </a:ln>
          <a:effectLst/>
        </p:spPr>
        <p:txBody>
          <a:bodyPr rtlCol="0" anchor="ctr"/>
          <a:lstStyle/>
          <a:p>
            <a:pPr algn="ctr"/>
          </a:p>
        </p:txBody>
      </p:sp>
      <p:sp>
        <p:nvSpPr>
          <p:cNvPr id="87" name="Profile seg"/>
          <p:cNvSpPr/>
          <p:nvPr/>
        </p:nvSpPr>
        <p:spPr>
          <a:xfrm>
            <a:off x="10951469" y="3097530"/>
            <a:ext cx="383433" cy="194310"/>
          </a:xfrm>
          <a:prstGeom prst="rect">
            <a:avLst/>
          </a:prstGeom>
          <a:solidFill>
            <a:srgbClr val="4A4A4A"/>
          </a:solidFill>
          <a:ln>
            <a:noFill/>
          </a:ln>
          <a:effectLst/>
        </p:spPr>
        <p:txBody>
          <a:bodyPr rtlCol="0" anchor="ctr"/>
          <a:lstStyle/>
          <a:p>
            <a:pPr algn="ctr"/>
          </a:p>
        </p:txBody>
      </p:sp>
      <p:sp>
        <p:nvSpPr>
          <p:cNvPr id="88" name="Text"/>
          <p:cNvSpPr txBox="1"/>
          <p:nvPr/>
        </p:nvSpPr>
        <p:spPr>
          <a:xfrm>
            <a:off x="9010269" y="3794760"/>
            <a:ext cx="2571521" cy="685800"/>
          </a:xfrm>
          <a:prstGeom prst="rect">
            <a:avLst/>
          </a:prstGeom>
          <a:noFill/>
        </p:spPr>
        <p:txBody>
          <a:bodyPr wrap="square" lIns="0" rIns="0" tIns="0" bIns="0" anchor="t">
            <a:noAutofit/>
          </a:bodyPr>
          <a:lstStyle/>
          <a:p>
            <a:pPr algn="l">
              <a:lnSpc>
                <a:spcPct val="100000"/>
              </a:lnSpc>
              <a:spcAft>
                <a:spcPts val="0"/>
              </a:spcAft>
            </a:pPr>
            <a:r>
              <a:rPr sz="2000" b="1" i="0">
                <a:solidFill>
                  <a:srgbClr val="1A1A1A"/>
                </a:solidFill>
                <a:latin typeface="Arial"/>
              </a:rPr>
              <a:t>Change Readiness Profile</a:t>
            </a:r>
          </a:p>
        </p:txBody>
      </p:sp>
      <p:sp>
        <p:nvSpPr>
          <p:cNvPr id="89" name="Text"/>
          <p:cNvSpPr txBox="1"/>
          <p:nvPr/>
        </p:nvSpPr>
        <p:spPr>
          <a:xfrm>
            <a:off x="9010269" y="4480560"/>
            <a:ext cx="2571521" cy="1005840"/>
          </a:xfrm>
          <a:prstGeom prst="rect">
            <a:avLst/>
          </a:prstGeom>
          <a:noFill/>
        </p:spPr>
        <p:txBody>
          <a:bodyPr wrap="square" lIns="0" rIns="0" tIns="0" bIns="0" anchor="t">
            <a:noAutofit/>
          </a:bodyPr>
          <a:lstStyle/>
          <a:p>
            <a:pPr algn="l">
              <a:lnSpc>
                <a:spcPct val="112000"/>
              </a:lnSpc>
              <a:spcAft>
                <a:spcPts val="0"/>
              </a:spcAft>
            </a:pPr>
            <a:r>
              <a:rPr sz="1600" b="0" i="0">
                <a:solidFill>
                  <a:srgbClr val="434343"/>
                </a:solidFill>
                <a:latin typeface="Arial"/>
              </a:rPr>
              <a:t>The share of each cohort ready today, and the constraint holding the rest.</a:t>
            </a:r>
          </a:p>
        </p:txBody>
      </p:sp>
      <p:sp>
        <p:nvSpPr>
          <p:cNvPr id="90" name="Label"/>
          <p:cNvSpPr txBox="1"/>
          <p:nvPr/>
        </p:nvSpPr>
        <p:spPr>
          <a:xfrm>
            <a:off x="9010269" y="5504688"/>
            <a:ext cx="2571521"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1E7A13"/>
                </a:solidFill>
                <a:latin typeface="Arial"/>
              </a:rPr>
              <a:t>SHOWN NEXT</a:t>
            </a:r>
          </a:p>
        </p:txBody>
      </p:sp>
      <p:sp>
        <p:nvSpPr>
          <p:cNvPr id="91" name="Badge"/>
          <p:cNvSpPr/>
          <p:nvPr/>
        </p:nvSpPr>
        <p:spPr>
          <a:xfrm>
            <a:off x="10164470" y="1755648"/>
            <a:ext cx="1417320" cy="237744"/>
          </a:xfrm>
          <a:prstGeom prst="roundRect">
            <a:avLst>
              <a:gd name="adj" fmla="val 50000"/>
            </a:avLst>
          </a:prstGeom>
          <a:solidFill>
            <a:srgbClr val="FFFFFF"/>
          </a:solidFill>
          <a:ln w="12700">
            <a:solidFill>
              <a:srgbClr val="6B6B6B"/>
            </a:solidFill>
          </a:ln>
          <a:effectLst/>
        </p:spPr>
        <p:txBody>
          <a:bodyPr rtlCol="0" anchor="ctr" wrap="square" lIns="0" rIns="0" tIns="0" bIns="0">
            <a:noAutofit/>
          </a:bodyPr>
          <a:lstStyle/>
          <a:p>
            <a:pPr algn="ctr">
              <a:lnSpc>
                <a:spcPct val="100000"/>
              </a:lnSpc>
              <a:spcAft>
                <a:spcPts val="0"/>
              </a:spcAft>
            </a:pPr>
            <a:r>
              <a:rPr sz="900" b="1" i="0" spc="100">
                <a:solidFill>
                  <a:srgbClr val="6B6B6B"/>
                </a:solidFill>
                <a:latin typeface="Arial"/>
              </a:rPr>
              <a:t>ILLUSTRATIVE</a:t>
            </a:r>
          </a:p>
        </p:txBody>
      </p:sp>
      <p:sp>
        <p:nvSpPr>
          <p:cNvPr id="92" name="Text"/>
          <p:cNvSpPr txBox="1"/>
          <p:nvPr/>
        </p:nvSpPr>
        <p:spPr>
          <a:xfrm>
            <a:off x="609904" y="5852160"/>
            <a:ext cx="10971885" cy="292608"/>
          </a:xfrm>
          <a:prstGeom prst="rect">
            <a:avLst/>
          </a:prstGeom>
          <a:noFill/>
        </p:spPr>
        <p:txBody>
          <a:bodyPr wrap="square" lIns="0" rIns="0" tIns="0" bIns="0" anchor="t">
            <a:noAutofit/>
          </a:bodyPr>
          <a:lstStyle/>
          <a:p>
            <a:pPr algn="l">
              <a:lnSpc>
                <a:spcPct val="110000"/>
              </a:lnSpc>
              <a:spcAft>
                <a:spcPts val="0"/>
              </a:spcAft>
            </a:pPr>
            <a:r>
              <a:rPr sz="1600" b="1" i="0">
                <a:solidFill>
                  <a:srgbClr val="1A1A1A"/>
                </a:solidFill>
                <a:latin typeface="Arial"/>
              </a:rPr>
              <a:t>One map for leadership: where we will lose execution velocity, why, and what to change.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609904" y="457200"/>
            <a:ext cx="8171764"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1E7A13"/>
                </a:solidFill>
                <a:latin typeface="Arial"/>
              </a:rPr>
              <a:t>LAYER 01 · CHANGE READINESS PROFILE</a:t>
            </a:r>
          </a:p>
        </p:txBody>
      </p:sp>
      <p:sp>
        <p:nvSpPr>
          <p:cNvPr id="3" name="Headline"/>
          <p:cNvSpPr txBox="1"/>
          <p:nvPr/>
        </p:nvSpPr>
        <p:spPr>
          <a:xfrm>
            <a:off x="609904" y="731520"/>
            <a:ext cx="10038511" cy="960120"/>
          </a:xfrm>
          <a:prstGeom prst="rect">
            <a:avLst/>
          </a:prstGeom>
          <a:noFill/>
        </p:spPr>
        <p:txBody>
          <a:bodyPr wrap="square" lIns="0" rIns="0" tIns="0" bIns="0" anchor="t">
            <a:noAutofit/>
          </a:bodyPr>
          <a:lstStyle/>
          <a:p>
            <a:pPr algn="l">
              <a:lnSpc>
                <a:spcPct val="100000"/>
              </a:lnSpc>
              <a:spcAft>
                <a:spcPts val="0"/>
              </a:spcAft>
            </a:pPr>
            <a:r>
              <a:rPr sz="3000" b="1" i="0">
                <a:solidFill>
                  <a:srgbClr val="1A1A1A"/>
                </a:solidFill>
                <a:latin typeface="Arial"/>
              </a:rPr>
              <a:t>In three cohorts, readiness is already there. Incentives are holding it back.</a:t>
            </a:r>
          </a:p>
        </p:txBody>
      </p:sp>
      <p:pic>
        <p:nvPicPr>
          <p:cNvPr id="4" name="Picture 3" descr="logo-icon.png"/>
          <p:cNvPicPr>
            <a:picLocks noChangeAspect="1"/>
          </p:cNvPicPr>
          <p:nvPr/>
        </p:nvPicPr>
        <p:blipFill>
          <a:blip r:embed="rId2"/>
          <a:stretch>
            <a:fillRect/>
          </a:stretch>
        </p:blipFill>
        <p:spPr>
          <a:xfrm>
            <a:off x="609904" y="6382512"/>
            <a:ext cx="201168" cy="201168"/>
          </a:xfrm>
          <a:prstGeom prst="rect">
            <a:avLst/>
          </a:prstGeom>
        </p:spPr>
      </p:pic>
      <p:sp>
        <p:nvSpPr>
          <p:cNvPr id="5" name="Footer"/>
          <p:cNvSpPr txBox="1"/>
          <p:nvPr/>
        </p:nvSpPr>
        <p:spPr>
          <a:xfrm>
            <a:off x="902512" y="6382512"/>
            <a:ext cx="3657600" cy="201168"/>
          </a:xfrm>
          <a:prstGeom prst="rect">
            <a:avLst/>
          </a:prstGeom>
          <a:noFill/>
        </p:spPr>
        <p:txBody>
          <a:bodyPr wrap="square" lIns="0" rIns="0" tIns="0" bIns="0" anchor="ctr">
            <a:noAutofit/>
          </a:bodyPr>
          <a:lstStyle/>
          <a:p>
            <a:pPr algn="l">
              <a:lnSpc>
                <a:spcPct val="110000"/>
              </a:lnSpc>
              <a:spcAft>
                <a:spcPts val="0"/>
              </a:spcAft>
            </a:pPr>
            <a:r>
              <a:rPr sz="1100" b="0" i="0">
                <a:solidFill>
                  <a:srgbClr val="6B6B6B"/>
                </a:solidFill>
                <a:latin typeface="Arial"/>
              </a:rPr>
              <a:t>The Diagnose Conversation</a:t>
            </a:r>
          </a:p>
        </p:txBody>
      </p:sp>
      <p:sp>
        <p:nvSpPr>
          <p:cNvPr id="6" name="Page number"/>
          <p:cNvSpPr txBox="1"/>
          <p:nvPr/>
        </p:nvSpPr>
        <p:spPr>
          <a:xfrm>
            <a:off x="10210190" y="6382512"/>
            <a:ext cx="1371600" cy="201168"/>
          </a:xfrm>
          <a:prstGeom prst="rect">
            <a:avLst/>
          </a:prstGeom>
          <a:noFill/>
        </p:spPr>
        <p:txBody>
          <a:bodyPr wrap="square" lIns="0" rIns="0" tIns="0" bIns="0" anchor="ctr">
            <a:noAutofit/>
          </a:bodyPr>
          <a:lstStyle/>
          <a:p>
            <a:pPr algn="r">
              <a:lnSpc>
                <a:spcPct val="110000"/>
              </a:lnSpc>
              <a:spcAft>
                <a:spcPts val="0"/>
              </a:spcAft>
            </a:pPr>
            <a:r>
              <a:rPr sz="1100" b="0" i="0">
                <a:solidFill>
                  <a:srgbClr val="6B6B6B"/>
                </a:solidFill>
                <a:latin typeface="Arial"/>
              </a:rPr>
              <a:t>10 / 14</a:t>
            </a:r>
          </a:p>
        </p:txBody>
      </p:sp>
      <p:sp>
        <p:nvSpPr>
          <p:cNvPr id="7" name="Label"/>
          <p:cNvSpPr txBox="1"/>
          <p:nvPr/>
        </p:nvSpPr>
        <p:spPr>
          <a:xfrm>
            <a:off x="609904" y="1901952"/>
            <a:ext cx="2571521"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6B6B6B"/>
                </a:solidFill>
                <a:latin typeface="Arial"/>
              </a:rPr>
              <a:t>COHORT  ·  RESPONDENTS</a:t>
            </a:r>
          </a:p>
        </p:txBody>
      </p:sp>
      <p:sp>
        <p:nvSpPr>
          <p:cNvPr id="8" name="Label"/>
          <p:cNvSpPr txBox="1"/>
          <p:nvPr/>
        </p:nvSpPr>
        <p:spPr>
          <a:xfrm>
            <a:off x="7143521" y="1901952"/>
            <a:ext cx="2571521"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6B6B6B"/>
                </a:solidFill>
                <a:latin typeface="Arial"/>
              </a:rPr>
              <a:t>BINDING CONSTRAINT</a:t>
            </a:r>
          </a:p>
        </p:txBody>
      </p:sp>
      <p:sp>
        <p:nvSpPr>
          <p:cNvPr id="9" name="Legend swatch"/>
          <p:cNvSpPr/>
          <p:nvPr/>
        </p:nvSpPr>
        <p:spPr>
          <a:xfrm>
            <a:off x="3410026" y="2121408"/>
            <a:ext cx="146304" cy="146304"/>
          </a:xfrm>
          <a:prstGeom prst="rect">
            <a:avLst/>
          </a:prstGeom>
          <a:solidFill>
            <a:srgbClr val="1E7A13"/>
          </a:solidFill>
          <a:ln>
            <a:noFill/>
          </a:ln>
          <a:effectLst/>
        </p:spPr>
        <p:txBody>
          <a:bodyPr rtlCol="0" anchor="ctr"/>
          <a:lstStyle/>
          <a:p>
            <a:pPr algn="ctr"/>
          </a:p>
        </p:txBody>
      </p:sp>
      <p:sp>
        <p:nvSpPr>
          <p:cNvPr id="10" name="Text"/>
          <p:cNvSpPr txBox="1"/>
          <p:nvPr/>
        </p:nvSpPr>
        <p:spPr>
          <a:xfrm>
            <a:off x="3611194" y="2075688"/>
            <a:ext cx="914400" cy="237744"/>
          </a:xfrm>
          <a:prstGeom prst="rect">
            <a:avLst/>
          </a:prstGeom>
          <a:noFill/>
        </p:spPr>
        <p:txBody>
          <a:bodyPr wrap="square" lIns="0" rIns="0" tIns="0" bIns="0" anchor="ctr">
            <a:noAutofit/>
          </a:bodyPr>
          <a:lstStyle/>
          <a:p>
            <a:pPr algn="l">
              <a:lnSpc>
                <a:spcPct val="110000"/>
              </a:lnSpc>
              <a:spcAft>
                <a:spcPts val="0"/>
              </a:spcAft>
            </a:pPr>
            <a:r>
              <a:rPr sz="1100" b="0" i="0">
                <a:solidFill>
                  <a:srgbClr val="434343"/>
                </a:solidFill>
                <a:latin typeface="Arial"/>
              </a:rPr>
              <a:t>Champion</a:t>
            </a:r>
          </a:p>
        </p:txBody>
      </p:sp>
      <p:sp>
        <p:nvSpPr>
          <p:cNvPr id="11" name="Legend swatch"/>
          <p:cNvSpPr/>
          <p:nvPr/>
        </p:nvSpPr>
        <p:spPr>
          <a:xfrm>
            <a:off x="4357344" y="2121408"/>
            <a:ext cx="146304" cy="146304"/>
          </a:xfrm>
          <a:prstGeom prst="rect">
            <a:avLst/>
          </a:prstGeom>
          <a:solidFill>
            <a:srgbClr val="7CBB6E"/>
          </a:solidFill>
          <a:ln>
            <a:noFill/>
          </a:ln>
          <a:effectLst/>
        </p:spPr>
        <p:txBody>
          <a:bodyPr rtlCol="0" anchor="ctr"/>
          <a:lstStyle/>
          <a:p>
            <a:pPr algn="ctr"/>
          </a:p>
        </p:txBody>
      </p:sp>
      <p:sp>
        <p:nvSpPr>
          <p:cNvPr id="12" name="Text"/>
          <p:cNvSpPr txBox="1"/>
          <p:nvPr/>
        </p:nvSpPr>
        <p:spPr>
          <a:xfrm>
            <a:off x="4558512" y="2075688"/>
            <a:ext cx="914400" cy="237744"/>
          </a:xfrm>
          <a:prstGeom prst="rect">
            <a:avLst/>
          </a:prstGeom>
          <a:noFill/>
        </p:spPr>
        <p:txBody>
          <a:bodyPr wrap="square" lIns="0" rIns="0" tIns="0" bIns="0" anchor="ctr">
            <a:noAutofit/>
          </a:bodyPr>
          <a:lstStyle/>
          <a:p>
            <a:pPr algn="l">
              <a:lnSpc>
                <a:spcPct val="110000"/>
              </a:lnSpc>
              <a:spcAft>
                <a:spcPts val="0"/>
              </a:spcAft>
            </a:pPr>
            <a:r>
              <a:rPr sz="1100" b="0" i="0">
                <a:solidFill>
                  <a:srgbClr val="434343"/>
                </a:solidFill>
                <a:latin typeface="Arial"/>
              </a:rPr>
              <a:t>Ready</a:t>
            </a:r>
          </a:p>
        </p:txBody>
      </p:sp>
      <p:sp>
        <p:nvSpPr>
          <p:cNvPr id="13" name="Legend swatch"/>
          <p:cNvSpPr/>
          <p:nvPr/>
        </p:nvSpPr>
        <p:spPr>
          <a:xfrm>
            <a:off x="5107152" y="2121408"/>
            <a:ext cx="146304" cy="146304"/>
          </a:xfrm>
          <a:prstGeom prst="rect">
            <a:avLst/>
          </a:prstGeom>
          <a:solidFill>
            <a:srgbClr val="D4D4D4"/>
          </a:solidFill>
          <a:ln>
            <a:noFill/>
          </a:ln>
          <a:effectLst/>
        </p:spPr>
        <p:txBody>
          <a:bodyPr rtlCol="0" anchor="ctr"/>
          <a:lstStyle/>
          <a:p>
            <a:pPr algn="ctr"/>
          </a:p>
        </p:txBody>
      </p:sp>
      <p:sp>
        <p:nvSpPr>
          <p:cNvPr id="14" name="Text"/>
          <p:cNvSpPr txBox="1"/>
          <p:nvPr/>
        </p:nvSpPr>
        <p:spPr>
          <a:xfrm>
            <a:off x="5308320" y="2075688"/>
            <a:ext cx="914400" cy="237744"/>
          </a:xfrm>
          <a:prstGeom prst="rect">
            <a:avLst/>
          </a:prstGeom>
          <a:noFill/>
        </p:spPr>
        <p:txBody>
          <a:bodyPr wrap="square" lIns="0" rIns="0" tIns="0" bIns="0" anchor="ctr">
            <a:noAutofit/>
          </a:bodyPr>
          <a:lstStyle/>
          <a:p>
            <a:pPr algn="l">
              <a:lnSpc>
                <a:spcPct val="110000"/>
              </a:lnSpc>
              <a:spcAft>
                <a:spcPts val="0"/>
              </a:spcAft>
            </a:pPr>
            <a:r>
              <a:rPr sz="1100" b="0" i="0">
                <a:solidFill>
                  <a:srgbClr val="434343"/>
                </a:solidFill>
                <a:latin typeface="Arial"/>
              </a:rPr>
              <a:t>Hesitant</a:t>
            </a:r>
          </a:p>
        </p:txBody>
      </p:sp>
      <p:sp>
        <p:nvSpPr>
          <p:cNvPr id="15" name="Legend swatch"/>
          <p:cNvSpPr/>
          <p:nvPr/>
        </p:nvSpPr>
        <p:spPr>
          <a:xfrm>
            <a:off x="6054471" y="2121408"/>
            <a:ext cx="146304" cy="146304"/>
          </a:xfrm>
          <a:prstGeom prst="rect">
            <a:avLst/>
          </a:prstGeom>
          <a:solidFill>
            <a:srgbClr val="4A4A4A"/>
          </a:solidFill>
          <a:ln>
            <a:noFill/>
          </a:ln>
          <a:effectLst/>
        </p:spPr>
        <p:txBody>
          <a:bodyPr rtlCol="0" anchor="ctr"/>
          <a:lstStyle/>
          <a:p>
            <a:pPr algn="ctr"/>
          </a:p>
        </p:txBody>
      </p:sp>
      <p:sp>
        <p:nvSpPr>
          <p:cNvPr id="16" name="Text"/>
          <p:cNvSpPr txBox="1"/>
          <p:nvPr/>
        </p:nvSpPr>
        <p:spPr>
          <a:xfrm>
            <a:off x="6255639" y="2075688"/>
            <a:ext cx="914400" cy="237744"/>
          </a:xfrm>
          <a:prstGeom prst="rect">
            <a:avLst/>
          </a:prstGeom>
          <a:noFill/>
        </p:spPr>
        <p:txBody>
          <a:bodyPr wrap="square" lIns="0" rIns="0" tIns="0" bIns="0" anchor="ctr">
            <a:noAutofit/>
          </a:bodyPr>
          <a:lstStyle/>
          <a:p>
            <a:pPr algn="l">
              <a:lnSpc>
                <a:spcPct val="110000"/>
              </a:lnSpc>
              <a:spcAft>
                <a:spcPts val="0"/>
              </a:spcAft>
            </a:pPr>
            <a:r>
              <a:rPr sz="1100" b="0" i="0">
                <a:solidFill>
                  <a:srgbClr val="434343"/>
                </a:solidFill>
                <a:latin typeface="Arial"/>
              </a:rPr>
              <a:t>Resistant</a:t>
            </a:r>
          </a:p>
        </p:txBody>
      </p:sp>
      <p:graphicFrame>
        <p:nvGraphicFramePr>
          <p:cNvPr id="17" name="Chart readiness profile"/>
          <p:cNvGraphicFramePr>
            <a:graphicFrameLocks noGrp="1"/>
          </p:cNvGraphicFramePr>
          <p:nvPr/>
        </p:nvGraphicFramePr>
        <p:xfrm>
          <a:off x="3410026" y="2395728"/>
          <a:ext cx="3504895" cy="2816352"/>
        </p:xfrm>
        <a:graphic>
          <a:graphicData uri="http://schemas.openxmlformats.org/drawingml/2006/chart">
            <c:chart xmlns:c="http://schemas.openxmlformats.org/drawingml/2006/chart" r:id="rId3"/>
          </a:graphicData>
        </a:graphic>
      </p:graphicFrame>
      <p:sp>
        <p:nvSpPr>
          <p:cNvPr id="18" name="Text"/>
          <p:cNvSpPr txBox="1"/>
          <p:nvPr/>
        </p:nvSpPr>
        <p:spPr>
          <a:xfrm>
            <a:off x="609904" y="2395728"/>
            <a:ext cx="2571521" cy="402336"/>
          </a:xfrm>
          <a:prstGeom prst="rect">
            <a:avLst/>
          </a:prstGeom>
          <a:noFill/>
        </p:spPr>
        <p:txBody>
          <a:bodyPr wrap="square" lIns="0" rIns="0" tIns="0" bIns="0" anchor="ctr">
            <a:noAutofit/>
          </a:bodyPr>
          <a:lstStyle/>
          <a:p>
            <a:pPr algn="l">
              <a:lnSpc>
                <a:spcPct val="110000"/>
              </a:lnSpc>
              <a:spcAft>
                <a:spcPts val="0"/>
              </a:spcAft>
            </a:pPr>
            <a:r>
              <a:rPr sz="1600" b="1" i="0">
                <a:solidFill>
                  <a:srgbClr val="1A1A1A"/>
                </a:solidFill>
                <a:latin typeface="Arial"/>
              </a:rPr>
              <a:t>Technology &amp; Data</a:t>
            </a:r>
            <a:r>
              <a:rPr sz="1100" b="0" i="0">
                <a:solidFill>
                  <a:srgbClr val="6B6B6B"/>
                </a:solidFill>
                <a:latin typeface="Arial"/>
              </a:rPr>
              <a:t>   n = 88</a:t>
            </a:r>
          </a:p>
        </p:txBody>
      </p:sp>
      <p:sp>
        <p:nvSpPr>
          <p:cNvPr id="19" name="Pill"/>
          <p:cNvSpPr/>
          <p:nvPr/>
        </p:nvSpPr>
        <p:spPr>
          <a:xfrm>
            <a:off x="7143521" y="2459736"/>
            <a:ext cx="574243" cy="274320"/>
          </a:xfrm>
          <a:prstGeom prst="roundRect">
            <a:avLst>
              <a:gd name="adj" fmla="val 50000"/>
            </a:avLst>
          </a:prstGeom>
          <a:solidFill>
            <a:srgbClr val="FFFFFF"/>
          </a:solidFill>
          <a:ln w="12700">
            <a:solidFill>
              <a:srgbClr val="E0E0E0"/>
            </a:solidFill>
          </a:ln>
          <a:effectLst/>
        </p:spPr>
        <p:txBody>
          <a:bodyPr rtlCol="0" anchor="ctr" wrap="square" lIns="0" rIns="0" tIns="0" bIns="0">
            <a:noAutofit/>
          </a:bodyPr>
          <a:lstStyle/>
          <a:p>
            <a:pPr algn="ctr">
              <a:lnSpc>
                <a:spcPct val="100000"/>
              </a:lnSpc>
              <a:spcAft>
                <a:spcPts val="0"/>
              </a:spcAft>
            </a:pPr>
            <a:r>
              <a:rPr sz="1100" b="0" i="0">
                <a:solidFill>
                  <a:srgbClr val="434343"/>
                </a:solidFill>
                <a:latin typeface="Arial"/>
              </a:rPr>
              <a:t>None</a:t>
            </a:r>
          </a:p>
        </p:txBody>
      </p:sp>
      <p:sp>
        <p:nvSpPr>
          <p:cNvPr id="20" name="Text"/>
          <p:cNvSpPr txBox="1"/>
          <p:nvPr/>
        </p:nvSpPr>
        <p:spPr>
          <a:xfrm>
            <a:off x="609904" y="2798064"/>
            <a:ext cx="2571521" cy="402336"/>
          </a:xfrm>
          <a:prstGeom prst="rect">
            <a:avLst/>
          </a:prstGeom>
          <a:noFill/>
        </p:spPr>
        <p:txBody>
          <a:bodyPr wrap="square" lIns="0" rIns="0" tIns="0" bIns="0" anchor="ctr">
            <a:noAutofit/>
          </a:bodyPr>
          <a:lstStyle/>
          <a:p>
            <a:pPr algn="l">
              <a:lnSpc>
                <a:spcPct val="110000"/>
              </a:lnSpc>
              <a:spcAft>
                <a:spcPts val="0"/>
              </a:spcAft>
            </a:pPr>
            <a:r>
              <a:rPr sz="1600" b="1" i="0">
                <a:solidFill>
                  <a:srgbClr val="1A1A1A"/>
                </a:solidFill>
                <a:latin typeface="Arial"/>
              </a:rPr>
              <a:t>Marketing</a:t>
            </a:r>
            <a:r>
              <a:rPr sz="1100" b="0" i="0">
                <a:solidFill>
                  <a:srgbClr val="6B6B6B"/>
                </a:solidFill>
                <a:latin typeface="Arial"/>
              </a:rPr>
              <a:t>   n = 62</a:t>
            </a:r>
          </a:p>
        </p:txBody>
      </p:sp>
      <p:sp>
        <p:nvSpPr>
          <p:cNvPr id="21" name="Pill"/>
          <p:cNvSpPr/>
          <p:nvPr/>
        </p:nvSpPr>
        <p:spPr>
          <a:xfrm>
            <a:off x="7143521" y="2862072"/>
            <a:ext cx="574243" cy="274320"/>
          </a:xfrm>
          <a:prstGeom prst="roundRect">
            <a:avLst>
              <a:gd name="adj" fmla="val 50000"/>
            </a:avLst>
          </a:prstGeom>
          <a:solidFill>
            <a:srgbClr val="FFFFFF"/>
          </a:solidFill>
          <a:ln w="12700">
            <a:solidFill>
              <a:srgbClr val="E0E0E0"/>
            </a:solidFill>
          </a:ln>
          <a:effectLst/>
        </p:spPr>
        <p:txBody>
          <a:bodyPr rtlCol="0" anchor="ctr" wrap="square" lIns="0" rIns="0" tIns="0" bIns="0">
            <a:noAutofit/>
          </a:bodyPr>
          <a:lstStyle/>
          <a:p>
            <a:pPr algn="ctr">
              <a:lnSpc>
                <a:spcPct val="100000"/>
              </a:lnSpc>
              <a:spcAft>
                <a:spcPts val="0"/>
              </a:spcAft>
            </a:pPr>
            <a:r>
              <a:rPr sz="1100" b="0" i="0">
                <a:solidFill>
                  <a:srgbClr val="434343"/>
                </a:solidFill>
                <a:latin typeface="Arial"/>
              </a:rPr>
              <a:t>None</a:t>
            </a:r>
          </a:p>
        </p:txBody>
      </p:sp>
      <p:sp>
        <p:nvSpPr>
          <p:cNvPr id="22" name="Text"/>
          <p:cNvSpPr txBox="1"/>
          <p:nvPr/>
        </p:nvSpPr>
        <p:spPr>
          <a:xfrm>
            <a:off x="609904" y="3200400"/>
            <a:ext cx="2571521" cy="402336"/>
          </a:xfrm>
          <a:prstGeom prst="rect">
            <a:avLst/>
          </a:prstGeom>
          <a:noFill/>
        </p:spPr>
        <p:txBody>
          <a:bodyPr wrap="square" lIns="0" rIns="0" tIns="0" bIns="0" anchor="ctr">
            <a:noAutofit/>
          </a:bodyPr>
          <a:lstStyle/>
          <a:p>
            <a:pPr algn="l">
              <a:lnSpc>
                <a:spcPct val="110000"/>
              </a:lnSpc>
              <a:spcAft>
                <a:spcPts val="0"/>
              </a:spcAft>
            </a:pPr>
            <a:r>
              <a:rPr sz="1600" b="1" i="0">
                <a:solidFill>
                  <a:srgbClr val="1A1A1A"/>
                </a:solidFill>
                <a:latin typeface="Arial"/>
              </a:rPr>
              <a:t>Sales &amp; Distribution</a:t>
            </a:r>
            <a:r>
              <a:rPr sz="1100" b="0" i="0">
                <a:solidFill>
                  <a:srgbClr val="6B6B6B"/>
                </a:solidFill>
                <a:latin typeface="Arial"/>
              </a:rPr>
              <a:t>   n = 110</a:t>
            </a:r>
          </a:p>
        </p:txBody>
      </p:sp>
      <p:sp>
        <p:nvSpPr>
          <p:cNvPr id="23" name="Pill"/>
          <p:cNvSpPr/>
          <p:nvPr/>
        </p:nvSpPr>
        <p:spPr>
          <a:xfrm>
            <a:off x="7143521" y="3264408"/>
            <a:ext cx="1324051" cy="274320"/>
          </a:xfrm>
          <a:prstGeom prst="roundRect">
            <a:avLst>
              <a:gd name="adj" fmla="val 50000"/>
            </a:avLst>
          </a:prstGeom>
          <a:solidFill>
            <a:srgbClr val="FFFFFF"/>
          </a:solidFill>
          <a:ln w="12700">
            <a:solidFill>
              <a:srgbClr val="E0E0E0"/>
            </a:solidFill>
          </a:ln>
          <a:effectLst/>
        </p:spPr>
        <p:txBody>
          <a:bodyPr rtlCol="0" anchor="ctr" wrap="square" lIns="0" rIns="0" tIns="0" bIns="0">
            <a:noAutofit/>
          </a:bodyPr>
          <a:lstStyle/>
          <a:p>
            <a:pPr algn="ctr">
              <a:lnSpc>
                <a:spcPct val="100000"/>
              </a:lnSpc>
              <a:spcAft>
                <a:spcPts val="0"/>
              </a:spcAft>
            </a:pPr>
            <a:r>
              <a:rPr sz="1100" b="0" i="0">
                <a:solidFill>
                  <a:srgbClr val="434343"/>
                </a:solidFill>
                <a:latin typeface="Arial"/>
              </a:rPr>
              <a:t>Support (mild)</a:t>
            </a:r>
          </a:p>
        </p:txBody>
      </p:sp>
      <p:sp>
        <p:nvSpPr>
          <p:cNvPr id="24" name="Text"/>
          <p:cNvSpPr txBox="1"/>
          <p:nvPr/>
        </p:nvSpPr>
        <p:spPr>
          <a:xfrm>
            <a:off x="609904" y="3602736"/>
            <a:ext cx="2571521" cy="402336"/>
          </a:xfrm>
          <a:prstGeom prst="rect">
            <a:avLst/>
          </a:prstGeom>
          <a:noFill/>
        </p:spPr>
        <p:txBody>
          <a:bodyPr wrap="square" lIns="0" rIns="0" tIns="0" bIns="0" anchor="ctr">
            <a:noAutofit/>
          </a:bodyPr>
          <a:lstStyle/>
          <a:p>
            <a:pPr algn="l">
              <a:lnSpc>
                <a:spcPct val="110000"/>
              </a:lnSpc>
              <a:spcAft>
                <a:spcPts val="0"/>
              </a:spcAft>
            </a:pPr>
            <a:r>
              <a:rPr sz="1600" b="1" i="0">
                <a:solidFill>
                  <a:srgbClr val="1A1A1A"/>
                </a:solidFill>
                <a:latin typeface="Arial"/>
              </a:rPr>
              <a:t>Claims</a:t>
            </a:r>
            <a:r>
              <a:rPr sz="1100" b="0" i="0">
                <a:solidFill>
                  <a:srgbClr val="6B6B6B"/>
                </a:solidFill>
                <a:latin typeface="Arial"/>
              </a:rPr>
              <a:t>   n = 141</a:t>
            </a:r>
          </a:p>
        </p:txBody>
      </p:sp>
      <p:sp>
        <p:nvSpPr>
          <p:cNvPr id="25" name="Pill"/>
          <p:cNvSpPr/>
          <p:nvPr/>
        </p:nvSpPr>
        <p:spPr>
          <a:xfrm>
            <a:off x="7143521" y="3666744"/>
            <a:ext cx="949147" cy="274320"/>
          </a:xfrm>
          <a:prstGeom prst="roundRect">
            <a:avLst>
              <a:gd name="adj" fmla="val 50000"/>
            </a:avLst>
          </a:prstGeom>
          <a:solidFill>
            <a:srgbClr val="1A1A1A"/>
          </a:solidFill>
          <a:ln>
            <a:noFill/>
          </a:ln>
          <a:effectLst/>
        </p:spPr>
        <p:txBody>
          <a:bodyPr rtlCol="0" anchor="ctr" wrap="square" lIns="0" rIns="0" tIns="0" bIns="0">
            <a:noAutofit/>
          </a:bodyPr>
          <a:lstStyle/>
          <a:p>
            <a:pPr algn="ctr">
              <a:lnSpc>
                <a:spcPct val="100000"/>
              </a:lnSpc>
              <a:spcAft>
                <a:spcPts val="0"/>
              </a:spcAft>
            </a:pPr>
            <a:r>
              <a:rPr sz="1100" b="1" i="0">
                <a:solidFill>
                  <a:srgbClr val="FFFFFF"/>
                </a:solidFill>
                <a:latin typeface="Arial"/>
              </a:rPr>
              <a:t>Incentive</a:t>
            </a:r>
          </a:p>
        </p:txBody>
      </p:sp>
      <p:sp>
        <p:nvSpPr>
          <p:cNvPr id="26" name="Text"/>
          <p:cNvSpPr txBox="1"/>
          <p:nvPr/>
        </p:nvSpPr>
        <p:spPr>
          <a:xfrm>
            <a:off x="609904" y="4005072"/>
            <a:ext cx="2571521" cy="402336"/>
          </a:xfrm>
          <a:prstGeom prst="rect">
            <a:avLst/>
          </a:prstGeom>
          <a:noFill/>
        </p:spPr>
        <p:txBody>
          <a:bodyPr wrap="square" lIns="0" rIns="0" tIns="0" bIns="0" anchor="ctr">
            <a:noAutofit/>
          </a:bodyPr>
          <a:lstStyle/>
          <a:p>
            <a:pPr algn="l">
              <a:lnSpc>
                <a:spcPct val="110000"/>
              </a:lnSpc>
              <a:spcAft>
                <a:spcPts val="0"/>
              </a:spcAft>
            </a:pPr>
            <a:r>
              <a:rPr sz="1600" b="1" i="0">
                <a:solidFill>
                  <a:srgbClr val="1A1A1A"/>
                </a:solidFill>
                <a:latin typeface="Arial"/>
              </a:rPr>
              <a:t>Underwriting</a:t>
            </a:r>
            <a:r>
              <a:rPr sz="1100" b="0" i="0">
                <a:solidFill>
                  <a:srgbClr val="6B6B6B"/>
                </a:solidFill>
                <a:latin typeface="Arial"/>
              </a:rPr>
              <a:t>   n = 96</a:t>
            </a:r>
          </a:p>
        </p:txBody>
      </p:sp>
      <p:sp>
        <p:nvSpPr>
          <p:cNvPr id="27" name="Pill"/>
          <p:cNvSpPr/>
          <p:nvPr/>
        </p:nvSpPr>
        <p:spPr>
          <a:xfrm>
            <a:off x="7143521" y="4069080"/>
            <a:ext cx="949147" cy="274320"/>
          </a:xfrm>
          <a:prstGeom prst="roundRect">
            <a:avLst>
              <a:gd name="adj" fmla="val 50000"/>
            </a:avLst>
          </a:prstGeom>
          <a:solidFill>
            <a:srgbClr val="1A1A1A"/>
          </a:solidFill>
          <a:ln>
            <a:noFill/>
          </a:ln>
          <a:effectLst/>
        </p:spPr>
        <p:txBody>
          <a:bodyPr rtlCol="0" anchor="ctr" wrap="square" lIns="0" rIns="0" tIns="0" bIns="0">
            <a:noAutofit/>
          </a:bodyPr>
          <a:lstStyle/>
          <a:p>
            <a:pPr algn="ctr">
              <a:lnSpc>
                <a:spcPct val="100000"/>
              </a:lnSpc>
              <a:spcAft>
                <a:spcPts val="0"/>
              </a:spcAft>
            </a:pPr>
            <a:r>
              <a:rPr sz="1100" b="1" i="0">
                <a:solidFill>
                  <a:srgbClr val="FFFFFF"/>
                </a:solidFill>
                <a:latin typeface="Arial"/>
              </a:rPr>
              <a:t>Incentive</a:t>
            </a:r>
          </a:p>
        </p:txBody>
      </p:sp>
      <p:sp>
        <p:nvSpPr>
          <p:cNvPr id="28" name="Text"/>
          <p:cNvSpPr txBox="1"/>
          <p:nvPr/>
        </p:nvSpPr>
        <p:spPr>
          <a:xfrm>
            <a:off x="609904" y="4407408"/>
            <a:ext cx="2571521" cy="402336"/>
          </a:xfrm>
          <a:prstGeom prst="rect">
            <a:avLst/>
          </a:prstGeom>
          <a:noFill/>
        </p:spPr>
        <p:txBody>
          <a:bodyPr wrap="square" lIns="0" rIns="0" tIns="0" bIns="0" anchor="ctr">
            <a:noAutofit/>
          </a:bodyPr>
          <a:lstStyle/>
          <a:p>
            <a:pPr algn="l">
              <a:lnSpc>
                <a:spcPct val="110000"/>
              </a:lnSpc>
              <a:spcAft>
                <a:spcPts val="0"/>
              </a:spcAft>
            </a:pPr>
            <a:r>
              <a:rPr sz="1600" b="1" i="0">
                <a:solidFill>
                  <a:srgbClr val="1A1A1A"/>
                </a:solidFill>
                <a:latin typeface="Arial"/>
              </a:rPr>
              <a:t>Legal &amp; Compliance</a:t>
            </a:r>
            <a:r>
              <a:rPr sz="1100" b="0" i="0">
                <a:solidFill>
                  <a:srgbClr val="6B6B6B"/>
                </a:solidFill>
                <a:latin typeface="Arial"/>
              </a:rPr>
              <a:t>   n = 61</a:t>
            </a:r>
          </a:p>
        </p:txBody>
      </p:sp>
      <p:sp>
        <p:nvSpPr>
          <p:cNvPr id="29" name="Pill"/>
          <p:cNvSpPr/>
          <p:nvPr/>
        </p:nvSpPr>
        <p:spPr>
          <a:xfrm>
            <a:off x="7143521" y="4471416"/>
            <a:ext cx="949147" cy="274320"/>
          </a:xfrm>
          <a:prstGeom prst="roundRect">
            <a:avLst>
              <a:gd name="adj" fmla="val 50000"/>
            </a:avLst>
          </a:prstGeom>
          <a:solidFill>
            <a:srgbClr val="1A1A1A"/>
          </a:solidFill>
          <a:ln>
            <a:noFill/>
          </a:ln>
          <a:effectLst/>
        </p:spPr>
        <p:txBody>
          <a:bodyPr rtlCol="0" anchor="ctr" wrap="square" lIns="0" rIns="0" tIns="0" bIns="0">
            <a:noAutofit/>
          </a:bodyPr>
          <a:lstStyle/>
          <a:p>
            <a:pPr algn="ctr">
              <a:lnSpc>
                <a:spcPct val="100000"/>
              </a:lnSpc>
              <a:spcAft>
                <a:spcPts val="0"/>
              </a:spcAft>
            </a:pPr>
            <a:r>
              <a:rPr sz="1100" b="1" i="0">
                <a:solidFill>
                  <a:srgbClr val="FFFFFF"/>
                </a:solidFill>
                <a:latin typeface="Arial"/>
              </a:rPr>
              <a:t>Incentive</a:t>
            </a:r>
          </a:p>
        </p:txBody>
      </p:sp>
      <p:sp>
        <p:nvSpPr>
          <p:cNvPr id="30" name="Text"/>
          <p:cNvSpPr txBox="1"/>
          <p:nvPr/>
        </p:nvSpPr>
        <p:spPr>
          <a:xfrm>
            <a:off x="609904" y="4809744"/>
            <a:ext cx="2571521" cy="402336"/>
          </a:xfrm>
          <a:prstGeom prst="rect">
            <a:avLst/>
          </a:prstGeom>
          <a:noFill/>
        </p:spPr>
        <p:txBody>
          <a:bodyPr wrap="square" lIns="0" rIns="0" tIns="0" bIns="0" anchor="ctr">
            <a:noAutofit/>
          </a:bodyPr>
          <a:lstStyle/>
          <a:p>
            <a:pPr algn="l">
              <a:lnSpc>
                <a:spcPct val="110000"/>
              </a:lnSpc>
              <a:spcAft>
                <a:spcPts val="0"/>
              </a:spcAft>
            </a:pPr>
            <a:r>
              <a:rPr sz="1600" b="1" i="0">
                <a:solidFill>
                  <a:srgbClr val="1A1A1A"/>
                </a:solidFill>
                <a:latin typeface="Arial"/>
              </a:rPr>
              <a:t>Customer Service</a:t>
            </a:r>
            <a:r>
              <a:rPr sz="1100" b="0" i="0">
                <a:solidFill>
                  <a:srgbClr val="6B6B6B"/>
                </a:solidFill>
                <a:latin typeface="Arial"/>
              </a:rPr>
              <a:t>   n = 127</a:t>
            </a:r>
          </a:p>
        </p:txBody>
      </p:sp>
      <p:sp>
        <p:nvSpPr>
          <p:cNvPr id="31" name="Pill"/>
          <p:cNvSpPr/>
          <p:nvPr/>
        </p:nvSpPr>
        <p:spPr>
          <a:xfrm>
            <a:off x="7143521" y="4873752"/>
            <a:ext cx="1698955" cy="274320"/>
          </a:xfrm>
          <a:prstGeom prst="roundRect">
            <a:avLst>
              <a:gd name="adj" fmla="val 50000"/>
            </a:avLst>
          </a:prstGeom>
          <a:solidFill>
            <a:srgbClr val="FFFFFF"/>
          </a:solidFill>
          <a:ln w="12700">
            <a:solidFill>
              <a:srgbClr val="E0E0E0"/>
            </a:solidFill>
          </a:ln>
          <a:effectLst/>
        </p:spPr>
        <p:txBody>
          <a:bodyPr rtlCol="0" anchor="ctr" wrap="square" lIns="0" rIns="0" tIns="0" bIns="0">
            <a:noAutofit/>
          </a:bodyPr>
          <a:lstStyle/>
          <a:p>
            <a:pPr algn="ctr">
              <a:lnSpc>
                <a:spcPct val="100000"/>
              </a:lnSpc>
              <a:spcAft>
                <a:spcPts val="0"/>
              </a:spcAft>
            </a:pPr>
            <a:r>
              <a:rPr sz="1100" b="0" i="0">
                <a:solidFill>
                  <a:srgbClr val="434343"/>
                </a:solidFill>
                <a:latin typeface="Arial"/>
              </a:rPr>
              <a:t>Value (credibility)</a:t>
            </a:r>
          </a:p>
        </p:txBody>
      </p:sp>
      <p:cxnSp>
        <p:nvCxnSpPr>
          <p:cNvPr id="32" name="Line"/>
          <p:cNvCxnSpPr/>
          <p:nvPr/>
        </p:nvCxnSpPr>
        <p:spPr>
          <a:xfrm>
            <a:off x="8918829" y="3657600"/>
            <a:ext cx="0" cy="1097280"/>
          </a:xfrm>
          <a:prstGeom prst="line">
            <a:avLst/>
          </a:prstGeom>
          <a:ln w="25400">
            <a:solidFill>
              <a:srgbClr val="28A019"/>
            </a:solidFill>
          </a:ln>
        </p:spPr>
      </p:cxnSp>
      <p:cxnSp>
        <p:nvCxnSpPr>
          <p:cNvPr id="33" name="Line"/>
          <p:cNvCxnSpPr/>
          <p:nvPr/>
        </p:nvCxnSpPr>
        <p:spPr>
          <a:xfrm>
            <a:off x="8827389" y="3657600"/>
            <a:ext cx="91440" cy="0"/>
          </a:xfrm>
          <a:prstGeom prst="line">
            <a:avLst/>
          </a:prstGeom>
          <a:ln w="25400">
            <a:solidFill>
              <a:srgbClr val="28A019"/>
            </a:solidFill>
          </a:ln>
        </p:spPr>
      </p:cxnSp>
      <p:cxnSp>
        <p:nvCxnSpPr>
          <p:cNvPr id="34" name="Line"/>
          <p:cNvCxnSpPr/>
          <p:nvPr/>
        </p:nvCxnSpPr>
        <p:spPr>
          <a:xfrm>
            <a:off x="8827389" y="4754880"/>
            <a:ext cx="91440" cy="0"/>
          </a:xfrm>
          <a:prstGeom prst="line">
            <a:avLst/>
          </a:prstGeom>
          <a:ln w="25400">
            <a:solidFill>
              <a:srgbClr val="28A019"/>
            </a:solidFill>
          </a:ln>
        </p:spPr>
      </p:cxnSp>
      <p:sp>
        <p:nvSpPr>
          <p:cNvPr id="35" name="Text"/>
          <p:cNvSpPr txBox="1"/>
          <p:nvPr/>
        </p:nvSpPr>
        <p:spPr>
          <a:xfrm>
            <a:off x="9119997" y="3154680"/>
            <a:ext cx="2480081" cy="1828800"/>
          </a:xfrm>
          <a:prstGeom prst="rect">
            <a:avLst/>
          </a:prstGeom>
          <a:noFill/>
        </p:spPr>
        <p:txBody>
          <a:bodyPr wrap="square" lIns="0" rIns="0" tIns="0" bIns="0" anchor="ctr">
            <a:noAutofit/>
          </a:bodyPr>
          <a:lstStyle/>
          <a:p>
            <a:pPr algn="l">
              <a:lnSpc>
                <a:spcPct val="112000"/>
              </a:lnSpc>
              <a:spcAft>
                <a:spcPts val="400"/>
              </a:spcAft>
            </a:pPr>
            <a:r>
              <a:rPr sz="1600" b="1" i="0">
                <a:solidFill>
                  <a:srgbClr val="1E7A13"/>
                </a:solidFill>
                <a:latin typeface="Arial"/>
              </a:rPr>
              <a:t>Readiness is there.</a:t>
            </a:r>
          </a:p>
          <a:p>
            <a:pPr algn="l">
              <a:lnSpc>
                <a:spcPct val="112000"/>
              </a:lnSpc>
              <a:spcAft>
                <a:spcPts val="400"/>
              </a:spcAft>
            </a:pPr>
            <a:r>
              <a:rPr sz="1600" b="0" i="0">
                <a:solidFill>
                  <a:srgbClr val="1A1A1A"/>
                </a:solidFill>
                <a:latin typeface="Arial"/>
              </a:rPr>
              <a:t>48 to 57% of Claims, Underwriting and Legal already score Ready or Champion. Fix the incentive before adding training.</a:t>
            </a:r>
          </a:p>
        </p:txBody>
      </p:sp>
      <p:pic>
        <p:nvPicPr>
          <p:cNvPr id="36" name="Icon lock" descr="lock-ink2.png"/>
          <p:cNvPicPr>
            <a:picLocks noChangeAspect="1"/>
          </p:cNvPicPr>
          <p:nvPr/>
        </p:nvPicPr>
        <p:blipFill>
          <a:blip r:embed="rId4"/>
          <a:stretch>
            <a:fillRect/>
          </a:stretch>
        </p:blipFill>
        <p:spPr>
          <a:xfrm>
            <a:off x="609904" y="5431536"/>
            <a:ext cx="256032" cy="256032"/>
          </a:xfrm>
          <a:prstGeom prst="rect">
            <a:avLst/>
          </a:prstGeom>
        </p:spPr>
      </p:pic>
      <p:sp>
        <p:nvSpPr>
          <p:cNvPr id="37" name="Text"/>
          <p:cNvSpPr txBox="1"/>
          <p:nvPr/>
        </p:nvSpPr>
        <p:spPr>
          <a:xfrm>
            <a:off x="993952" y="5413248"/>
            <a:ext cx="10587837" cy="292608"/>
          </a:xfrm>
          <a:prstGeom prst="rect">
            <a:avLst/>
          </a:prstGeom>
          <a:noFill/>
        </p:spPr>
        <p:txBody>
          <a:bodyPr wrap="square" lIns="0" rIns="0" tIns="0" bIns="0" anchor="ctr">
            <a:noAutofit/>
          </a:bodyPr>
          <a:lstStyle/>
          <a:p>
            <a:pPr algn="l">
              <a:lnSpc>
                <a:spcPct val="110000"/>
              </a:lnSpc>
              <a:spcAft>
                <a:spcPts val="0"/>
              </a:spcAft>
            </a:pPr>
            <a:r>
              <a:rPr sz="1600" b="1" i="0">
                <a:solidFill>
                  <a:srgbClr val="434343"/>
                </a:solidFill>
                <a:latin typeface="Arial"/>
              </a:rPr>
              <a:t>Shares, never names. </a:t>
            </a:r>
            <a:r>
              <a:rPr sz="1600" b="0" i="0">
                <a:solidFill>
                  <a:srgbClr val="434343"/>
                </a:solidFill>
                <a:latin typeface="Arial"/>
              </a:rPr>
              <a:t>Groups under 50 people are never reported, so Senior Leaders is not shown.</a:t>
            </a:r>
          </a:p>
        </p:txBody>
      </p:sp>
      <p:sp>
        <p:nvSpPr>
          <p:cNvPr id="38" name="Text"/>
          <p:cNvSpPr txBox="1"/>
          <p:nvPr/>
        </p:nvSpPr>
        <p:spPr>
          <a:xfrm>
            <a:off x="609904" y="5852160"/>
            <a:ext cx="10971885" cy="365760"/>
          </a:xfrm>
          <a:prstGeom prst="rect">
            <a:avLst/>
          </a:prstGeom>
          <a:noFill/>
        </p:spPr>
        <p:txBody>
          <a:bodyPr wrap="square" lIns="0" rIns="0" tIns="0" bIns="0" anchor="t">
            <a:noAutofit/>
          </a:bodyPr>
          <a:lstStyle/>
          <a:p>
            <a:pPr algn="l">
              <a:lnSpc>
                <a:spcPct val="115000"/>
              </a:lnSpc>
              <a:spcAft>
                <a:spcPts val="0"/>
              </a:spcAft>
            </a:pPr>
            <a:r>
              <a:rPr sz="1100" b="0" i="0">
                <a:solidFill>
                  <a:srgbClr val="6B6B6B"/>
                </a:solidFill>
                <a:latin typeface="Arial"/>
              </a:rPr>
              <a:t>Real client readout, anonymized. Enterprise AI adoption program. n = 685 across the 7 cohorts shown. Champion = CCI score of 4 or higher. Bands use the five confidence components. Value and Incentive are scored separately. No cohort mean is reported: an average describes none of them.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609904" y="457200"/>
            <a:ext cx="8171764"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1E7A13"/>
                </a:solidFill>
                <a:latin typeface="Arial"/>
              </a:rPr>
              <a:t>LAYER 01 · HOW READINESS IS MEASURED</a:t>
            </a:r>
          </a:p>
        </p:txBody>
      </p:sp>
      <p:sp>
        <p:nvSpPr>
          <p:cNvPr id="3" name="Headline"/>
          <p:cNvSpPr txBox="1"/>
          <p:nvPr/>
        </p:nvSpPr>
        <p:spPr>
          <a:xfrm>
            <a:off x="609904" y="731520"/>
            <a:ext cx="10038511" cy="960120"/>
          </a:xfrm>
          <a:prstGeom prst="rect">
            <a:avLst/>
          </a:prstGeom>
          <a:noFill/>
        </p:spPr>
        <p:txBody>
          <a:bodyPr wrap="square" lIns="0" rIns="0" tIns="0" bIns="0" anchor="t">
            <a:noAutofit/>
          </a:bodyPr>
          <a:lstStyle/>
          <a:p>
            <a:pPr algn="l">
              <a:lnSpc>
                <a:spcPct val="100000"/>
              </a:lnSpc>
              <a:spcAft>
                <a:spcPts val="0"/>
              </a:spcAft>
            </a:pPr>
            <a:r>
              <a:rPr sz="3000" b="1" i="0">
                <a:solidFill>
                  <a:srgbClr val="1A1A1A"/>
                </a:solidFill>
                <a:latin typeface="Arial"/>
              </a:rPr>
              <a:t>Confidence sets readiness. Value amplifies it. Incentive decides whether anyone moves.</a:t>
            </a:r>
          </a:p>
        </p:txBody>
      </p:sp>
      <p:pic>
        <p:nvPicPr>
          <p:cNvPr id="4" name="Picture 3" descr="logo-icon.png"/>
          <p:cNvPicPr>
            <a:picLocks noChangeAspect="1"/>
          </p:cNvPicPr>
          <p:nvPr/>
        </p:nvPicPr>
        <p:blipFill>
          <a:blip r:embed="rId2"/>
          <a:stretch>
            <a:fillRect/>
          </a:stretch>
        </p:blipFill>
        <p:spPr>
          <a:xfrm>
            <a:off x="609904" y="6382512"/>
            <a:ext cx="201168" cy="201168"/>
          </a:xfrm>
          <a:prstGeom prst="rect">
            <a:avLst/>
          </a:prstGeom>
        </p:spPr>
      </p:pic>
      <p:sp>
        <p:nvSpPr>
          <p:cNvPr id="5" name="Footer"/>
          <p:cNvSpPr txBox="1"/>
          <p:nvPr/>
        </p:nvSpPr>
        <p:spPr>
          <a:xfrm>
            <a:off x="902512" y="6382512"/>
            <a:ext cx="3657600" cy="201168"/>
          </a:xfrm>
          <a:prstGeom prst="rect">
            <a:avLst/>
          </a:prstGeom>
          <a:noFill/>
        </p:spPr>
        <p:txBody>
          <a:bodyPr wrap="square" lIns="0" rIns="0" tIns="0" bIns="0" anchor="ctr">
            <a:noAutofit/>
          </a:bodyPr>
          <a:lstStyle/>
          <a:p>
            <a:pPr algn="l">
              <a:lnSpc>
                <a:spcPct val="110000"/>
              </a:lnSpc>
              <a:spcAft>
                <a:spcPts val="0"/>
              </a:spcAft>
            </a:pPr>
            <a:r>
              <a:rPr sz="1100" b="0" i="0">
                <a:solidFill>
                  <a:srgbClr val="6B6B6B"/>
                </a:solidFill>
                <a:latin typeface="Arial"/>
              </a:rPr>
              <a:t>The Diagnose Conversation</a:t>
            </a:r>
          </a:p>
        </p:txBody>
      </p:sp>
      <p:sp>
        <p:nvSpPr>
          <p:cNvPr id="6" name="Page number"/>
          <p:cNvSpPr txBox="1"/>
          <p:nvPr/>
        </p:nvSpPr>
        <p:spPr>
          <a:xfrm>
            <a:off x="10210190" y="6382512"/>
            <a:ext cx="1371600" cy="201168"/>
          </a:xfrm>
          <a:prstGeom prst="rect">
            <a:avLst/>
          </a:prstGeom>
          <a:noFill/>
        </p:spPr>
        <p:txBody>
          <a:bodyPr wrap="square" lIns="0" rIns="0" tIns="0" bIns="0" anchor="ctr">
            <a:noAutofit/>
          </a:bodyPr>
          <a:lstStyle/>
          <a:p>
            <a:pPr algn="r">
              <a:lnSpc>
                <a:spcPct val="110000"/>
              </a:lnSpc>
              <a:spcAft>
                <a:spcPts val="0"/>
              </a:spcAft>
            </a:pPr>
            <a:r>
              <a:rPr sz="1100" b="0" i="0">
                <a:solidFill>
                  <a:srgbClr val="6B6B6B"/>
                </a:solidFill>
                <a:latin typeface="Arial"/>
              </a:rPr>
              <a:t>11 / 14</a:t>
            </a:r>
          </a:p>
        </p:txBody>
      </p:sp>
      <p:sp>
        <p:nvSpPr>
          <p:cNvPr id="7" name="Label"/>
          <p:cNvSpPr txBox="1"/>
          <p:nvPr/>
        </p:nvSpPr>
        <p:spPr>
          <a:xfrm>
            <a:off x="609904" y="1828800"/>
            <a:ext cx="4438269"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1E7A13"/>
                </a:solidFill>
                <a:latin typeface="Arial"/>
              </a:rPr>
              <a:t>CHANGE CONFIDENCE INDEX · FIVE COMPONENTS</a:t>
            </a:r>
          </a:p>
        </p:txBody>
      </p:sp>
      <p:sp>
        <p:nvSpPr>
          <p:cNvPr id="8" name="Card"/>
          <p:cNvSpPr/>
          <p:nvPr/>
        </p:nvSpPr>
        <p:spPr>
          <a:xfrm>
            <a:off x="609904" y="2103120"/>
            <a:ext cx="3824935" cy="566928"/>
          </a:xfrm>
          <a:prstGeom prst="roundRect">
            <a:avLst>
              <a:gd name="adj" fmla="val 50000"/>
            </a:avLst>
          </a:prstGeom>
          <a:solidFill>
            <a:srgbClr val="F4F4F4"/>
          </a:solidFill>
          <a:ln>
            <a:noFill/>
          </a:ln>
          <a:effectLst/>
        </p:spPr>
        <p:txBody>
          <a:bodyPr rtlCol="0" anchor="ctr"/>
          <a:lstStyle/>
          <a:p>
            <a:pPr algn="ctr"/>
          </a:p>
        </p:txBody>
      </p:sp>
      <p:sp>
        <p:nvSpPr>
          <p:cNvPr id="9" name="Component dot"/>
          <p:cNvSpPr/>
          <p:nvPr/>
        </p:nvSpPr>
        <p:spPr>
          <a:xfrm>
            <a:off x="792784" y="2304288"/>
            <a:ext cx="164592" cy="164592"/>
          </a:xfrm>
          <a:prstGeom prst="ellipse">
            <a:avLst/>
          </a:prstGeom>
          <a:solidFill>
            <a:srgbClr val="28A019"/>
          </a:solidFill>
          <a:ln>
            <a:noFill/>
          </a:ln>
          <a:effectLst/>
        </p:spPr>
        <p:txBody>
          <a:bodyPr rtlCol="0" anchor="ctr"/>
          <a:lstStyle/>
          <a:p>
            <a:pPr algn="ctr"/>
          </a:p>
        </p:txBody>
      </p:sp>
      <p:sp>
        <p:nvSpPr>
          <p:cNvPr id="10" name="Text"/>
          <p:cNvSpPr txBox="1"/>
          <p:nvPr/>
        </p:nvSpPr>
        <p:spPr>
          <a:xfrm>
            <a:off x="1085392" y="2103120"/>
            <a:ext cx="1325880" cy="566928"/>
          </a:xfrm>
          <a:prstGeom prst="rect">
            <a:avLst/>
          </a:prstGeom>
          <a:noFill/>
        </p:spPr>
        <p:txBody>
          <a:bodyPr wrap="square" lIns="0" rIns="0" tIns="0" bIns="0" anchor="ctr">
            <a:noAutofit/>
          </a:bodyPr>
          <a:lstStyle/>
          <a:p>
            <a:pPr algn="l">
              <a:lnSpc>
                <a:spcPct val="110000"/>
              </a:lnSpc>
              <a:spcAft>
                <a:spcPts val="0"/>
              </a:spcAft>
            </a:pPr>
            <a:r>
              <a:rPr sz="1600" b="1" i="0">
                <a:solidFill>
                  <a:srgbClr val="1A1A1A"/>
                </a:solidFill>
                <a:latin typeface="Arial"/>
              </a:rPr>
              <a:t>Support</a:t>
            </a:r>
          </a:p>
        </p:txBody>
      </p:sp>
      <p:sp>
        <p:nvSpPr>
          <p:cNvPr id="11" name="Text"/>
          <p:cNvSpPr txBox="1"/>
          <p:nvPr/>
        </p:nvSpPr>
        <p:spPr>
          <a:xfrm>
            <a:off x="2392984" y="2103120"/>
            <a:ext cx="1950415" cy="566928"/>
          </a:xfrm>
          <a:prstGeom prst="rect">
            <a:avLst/>
          </a:prstGeom>
          <a:noFill/>
        </p:spPr>
        <p:txBody>
          <a:bodyPr wrap="square" lIns="0" rIns="0" tIns="0" bIns="0" anchor="ctr">
            <a:noAutofit/>
          </a:bodyPr>
          <a:lstStyle/>
          <a:p>
            <a:pPr algn="l">
              <a:lnSpc>
                <a:spcPct val="100000"/>
              </a:lnSpc>
              <a:spcAft>
                <a:spcPts val="0"/>
              </a:spcAft>
            </a:pPr>
            <a:r>
              <a:rPr sz="1600" b="0" i="0">
                <a:solidFill>
                  <a:srgbClr val="434343"/>
                </a:solidFill>
                <a:latin typeface="Arial"/>
              </a:rPr>
              <a:t>Does my world give me what I need?</a:t>
            </a:r>
          </a:p>
        </p:txBody>
      </p:sp>
      <p:cxnSp>
        <p:nvCxnSpPr>
          <p:cNvPr id="12" name="Line"/>
          <p:cNvCxnSpPr/>
          <p:nvPr/>
        </p:nvCxnSpPr>
        <p:spPr>
          <a:xfrm>
            <a:off x="4453127" y="2386584"/>
            <a:ext cx="384049" cy="1316736"/>
          </a:xfrm>
          <a:prstGeom prst="line">
            <a:avLst/>
          </a:prstGeom>
          <a:ln w="15875">
            <a:solidFill>
              <a:srgbClr val="D4D4D4"/>
            </a:solidFill>
          </a:ln>
        </p:spPr>
      </p:cxnSp>
      <p:sp>
        <p:nvSpPr>
          <p:cNvPr id="13" name="Card"/>
          <p:cNvSpPr/>
          <p:nvPr/>
        </p:nvSpPr>
        <p:spPr>
          <a:xfrm>
            <a:off x="609904" y="2761487"/>
            <a:ext cx="3824935" cy="566928"/>
          </a:xfrm>
          <a:prstGeom prst="roundRect">
            <a:avLst>
              <a:gd name="adj" fmla="val 50000"/>
            </a:avLst>
          </a:prstGeom>
          <a:solidFill>
            <a:srgbClr val="F4F4F4"/>
          </a:solidFill>
          <a:ln>
            <a:noFill/>
          </a:ln>
          <a:effectLst/>
        </p:spPr>
        <p:txBody>
          <a:bodyPr rtlCol="0" anchor="ctr"/>
          <a:lstStyle/>
          <a:p>
            <a:pPr algn="ctr"/>
          </a:p>
        </p:txBody>
      </p:sp>
      <p:sp>
        <p:nvSpPr>
          <p:cNvPr id="14" name="Component dot"/>
          <p:cNvSpPr/>
          <p:nvPr/>
        </p:nvSpPr>
        <p:spPr>
          <a:xfrm>
            <a:off x="792784" y="2962656"/>
            <a:ext cx="164592" cy="164592"/>
          </a:xfrm>
          <a:prstGeom prst="ellipse">
            <a:avLst/>
          </a:prstGeom>
          <a:solidFill>
            <a:srgbClr val="28A019"/>
          </a:solidFill>
          <a:ln>
            <a:noFill/>
          </a:ln>
          <a:effectLst/>
        </p:spPr>
        <p:txBody>
          <a:bodyPr rtlCol="0" anchor="ctr"/>
          <a:lstStyle/>
          <a:p>
            <a:pPr algn="ctr"/>
          </a:p>
        </p:txBody>
      </p:sp>
      <p:sp>
        <p:nvSpPr>
          <p:cNvPr id="15" name="Text"/>
          <p:cNvSpPr txBox="1"/>
          <p:nvPr/>
        </p:nvSpPr>
        <p:spPr>
          <a:xfrm>
            <a:off x="1085392" y="2761487"/>
            <a:ext cx="1325880" cy="566928"/>
          </a:xfrm>
          <a:prstGeom prst="rect">
            <a:avLst/>
          </a:prstGeom>
          <a:noFill/>
        </p:spPr>
        <p:txBody>
          <a:bodyPr wrap="square" lIns="0" rIns="0" tIns="0" bIns="0" anchor="ctr">
            <a:noAutofit/>
          </a:bodyPr>
          <a:lstStyle/>
          <a:p>
            <a:pPr algn="l">
              <a:lnSpc>
                <a:spcPct val="110000"/>
              </a:lnSpc>
              <a:spcAft>
                <a:spcPts val="0"/>
              </a:spcAft>
            </a:pPr>
            <a:r>
              <a:rPr sz="1600" b="1" i="0">
                <a:solidFill>
                  <a:srgbClr val="1A1A1A"/>
                </a:solidFill>
                <a:latin typeface="Arial"/>
              </a:rPr>
              <a:t>Openness</a:t>
            </a:r>
          </a:p>
        </p:txBody>
      </p:sp>
      <p:sp>
        <p:nvSpPr>
          <p:cNvPr id="16" name="Text"/>
          <p:cNvSpPr txBox="1"/>
          <p:nvPr/>
        </p:nvSpPr>
        <p:spPr>
          <a:xfrm>
            <a:off x="2392984" y="2761487"/>
            <a:ext cx="1950415" cy="566928"/>
          </a:xfrm>
          <a:prstGeom prst="rect">
            <a:avLst/>
          </a:prstGeom>
          <a:noFill/>
        </p:spPr>
        <p:txBody>
          <a:bodyPr wrap="square" lIns="0" rIns="0" tIns="0" bIns="0" anchor="ctr">
            <a:noAutofit/>
          </a:bodyPr>
          <a:lstStyle/>
          <a:p>
            <a:pPr algn="l">
              <a:lnSpc>
                <a:spcPct val="100000"/>
              </a:lnSpc>
              <a:spcAft>
                <a:spcPts val="0"/>
              </a:spcAft>
            </a:pPr>
            <a:r>
              <a:rPr sz="1600" b="0" i="0">
                <a:solidFill>
                  <a:srgbClr val="434343"/>
                </a:solidFill>
                <a:latin typeface="Arial"/>
              </a:rPr>
              <a:t>Am I looking ahead?</a:t>
            </a:r>
          </a:p>
        </p:txBody>
      </p:sp>
      <p:cxnSp>
        <p:nvCxnSpPr>
          <p:cNvPr id="17" name="Line"/>
          <p:cNvCxnSpPr/>
          <p:nvPr/>
        </p:nvCxnSpPr>
        <p:spPr>
          <a:xfrm>
            <a:off x="4453127" y="3044951"/>
            <a:ext cx="384049" cy="658369"/>
          </a:xfrm>
          <a:prstGeom prst="line">
            <a:avLst/>
          </a:prstGeom>
          <a:ln w="15875">
            <a:solidFill>
              <a:srgbClr val="D4D4D4"/>
            </a:solidFill>
          </a:ln>
        </p:spPr>
      </p:cxnSp>
      <p:sp>
        <p:nvSpPr>
          <p:cNvPr id="18" name="Card"/>
          <p:cNvSpPr/>
          <p:nvPr/>
        </p:nvSpPr>
        <p:spPr>
          <a:xfrm>
            <a:off x="609904" y="3419856"/>
            <a:ext cx="3824935" cy="566928"/>
          </a:xfrm>
          <a:prstGeom prst="roundRect">
            <a:avLst>
              <a:gd name="adj" fmla="val 50000"/>
            </a:avLst>
          </a:prstGeom>
          <a:solidFill>
            <a:srgbClr val="F4F4F4"/>
          </a:solidFill>
          <a:ln>
            <a:noFill/>
          </a:ln>
          <a:effectLst/>
        </p:spPr>
        <p:txBody>
          <a:bodyPr rtlCol="0" anchor="ctr"/>
          <a:lstStyle/>
          <a:p>
            <a:pPr algn="ctr"/>
          </a:p>
        </p:txBody>
      </p:sp>
      <p:sp>
        <p:nvSpPr>
          <p:cNvPr id="19" name="Component dot"/>
          <p:cNvSpPr/>
          <p:nvPr/>
        </p:nvSpPr>
        <p:spPr>
          <a:xfrm>
            <a:off x="792784" y="3621024"/>
            <a:ext cx="164592" cy="164592"/>
          </a:xfrm>
          <a:prstGeom prst="ellipse">
            <a:avLst/>
          </a:prstGeom>
          <a:solidFill>
            <a:srgbClr val="28A019"/>
          </a:solidFill>
          <a:ln>
            <a:noFill/>
          </a:ln>
          <a:effectLst/>
        </p:spPr>
        <p:txBody>
          <a:bodyPr rtlCol="0" anchor="ctr"/>
          <a:lstStyle/>
          <a:p>
            <a:pPr algn="ctr"/>
          </a:p>
        </p:txBody>
      </p:sp>
      <p:sp>
        <p:nvSpPr>
          <p:cNvPr id="20" name="Text"/>
          <p:cNvSpPr txBox="1"/>
          <p:nvPr/>
        </p:nvSpPr>
        <p:spPr>
          <a:xfrm>
            <a:off x="1085392" y="3419856"/>
            <a:ext cx="1325880" cy="566928"/>
          </a:xfrm>
          <a:prstGeom prst="rect">
            <a:avLst/>
          </a:prstGeom>
          <a:noFill/>
        </p:spPr>
        <p:txBody>
          <a:bodyPr wrap="square" lIns="0" rIns="0" tIns="0" bIns="0" anchor="ctr">
            <a:noAutofit/>
          </a:bodyPr>
          <a:lstStyle/>
          <a:p>
            <a:pPr algn="l">
              <a:lnSpc>
                <a:spcPct val="110000"/>
              </a:lnSpc>
              <a:spcAft>
                <a:spcPts val="0"/>
              </a:spcAft>
            </a:pPr>
            <a:r>
              <a:rPr sz="1600" b="1" i="0">
                <a:solidFill>
                  <a:srgbClr val="1A1A1A"/>
                </a:solidFill>
                <a:latin typeface="Arial"/>
              </a:rPr>
              <a:t>Proactive</a:t>
            </a:r>
          </a:p>
        </p:txBody>
      </p:sp>
      <p:sp>
        <p:nvSpPr>
          <p:cNvPr id="21" name="Text"/>
          <p:cNvSpPr txBox="1"/>
          <p:nvPr/>
        </p:nvSpPr>
        <p:spPr>
          <a:xfrm>
            <a:off x="2392984" y="3419856"/>
            <a:ext cx="1950415" cy="566928"/>
          </a:xfrm>
          <a:prstGeom prst="rect">
            <a:avLst/>
          </a:prstGeom>
          <a:noFill/>
        </p:spPr>
        <p:txBody>
          <a:bodyPr wrap="square" lIns="0" rIns="0" tIns="0" bIns="0" anchor="ctr">
            <a:noAutofit/>
          </a:bodyPr>
          <a:lstStyle/>
          <a:p>
            <a:pPr algn="l">
              <a:lnSpc>
                <a:spcPct val="100000"/>
              </a:lnSpc>
              <a:spcAft>
                <a:spcPts val="0"/>
              </a:spcAft>
            </a:pPr>
            <a:r>
              <a:rPr sz="1600" b="0" i="0">
                <a:solidFill>
                  <a:srgbClr val="434343"/>
                </a:solidFill>
                <a:latin typeface="Arial"/>
              </a:rPr>
              <a:t>Am I initiating?</a:t>
            </a:r>
          </a:p>
        </p:txBody>
      </p:sp>
      <p:cxnSp>
        <p:nvCxnSpPr>
          <p:cNvPr id="22" name="Line"/>
          <p:cNvCxnSpPr/>
          <p:nvPr/>
        </p:nvCxnSpPr>
        <p:spPr>
          <a:xfrm>
            <a:off x="4453127" y="3703320"/>
            <a:ext cx="384049" cy="0"/>
          </a:xfrm>
          <a:prstGeom prst="line">
            <a:avLst/>
          </a:prstGeom>
          <a:ln w="15875">
            <a:solidFill>
              <a:srgbClr val="D4D4D4"/>
            </a:solidFill>
          </a:ln>
        </p:spPr>
      </p:cxnSp>
      <p:sp>
        <p:nvSpPr>
          <p:cNvPr id="23" name="Card"/>
          <p:cNvSpPr/>
          <p:nvPr/>
        </p:nvSpPr>
        <p:spPr>
          <a:xfrm>
            <a:off x="609904" y="4078224"/>
            <a:ext cx="3824935" cy="566928"/>
          </a:xfrm>
          <a:prstGeom prst="roundRect">
            <a:avLst>
              <a:gd name="adj" fmla="val 50000"/>
            </a:avLst>
          </a:prstGeom>
          <a:solidFill>
            <a:srgbClr val="F4F4F4"/>
          </a:solidFill>
          <a:ln>
            <a:noFill/>
          </a:ln>
          <a:effectLst/>
        </p:spPr>
        <p:txBody>
          <a:bodyPr rtlCol="0" anchor="ctr"/>
          <a:lstStyle/>
          <a:p>
            <a:pPr algn="ctr"/>
          </a:p>
        </p:txBody>
      </p:sp>
      <p:sp>
        <p:nvSpPr>
          <p:cNvPr id="24" name="Component dot"/>
          <p:cNvSpPr/>
          <p:nvPr/>
        </p:nvSpPr>
        <p:spPr>
          <a:xfrm>
            <a:off x="792784" y="4279392"/>
            <a:ext cx="164592" cy="164592"/>
          </a:xfrm>
          <a:prstGeom prst="ellipse">
            <a:avLst/>
          </a:prstGeom>
          <a:solidFill>
            <a:srgbClr val="28A019"/>
          </a:solidFill>
          <a:ln>
            <a:noFill/>
          </a:ln>
          <a:effectLst/>
        </p:spPr>
        <p:txBody>
          <a:bodyPr rtlCol="0" anchor="ctr"/>
          <a:lstStyle/>
          <a:p>
            <a:pPr algn="ctr"/>
          </a:p>
        </p:txBody>
      </p:sp>
      <p:sp>
        <p:nvSpPr>
          <p:cNvPr id="25" name="Text"/>
          <p:cNvSpPr txBox="1"/>
          <p:nvPr/>
        </p:nvSpPr>
        <p:spPr>
          <a:xfrm>
            <a:off x="1085392" y="4078224"/>
            <a:ext cx="1325880" cy="566928"/>
          </a:xfrm>
          <a:prstGeom prst="rect">
            <a:avLst/>
          </a:prstGeom>
          <a:noFill/>
        </p:spPr>
        <p:txBody>
          <a:bodyPr wrap="square" lIns="0" rIns="0" tIns="0" bIns="0" anchor="ctr">
            <a:noAutofit/>
          </a:bodyPr>
          <a:lstStyle/>
          <a:p>
            <a:pPr algn="l">
              <a:lnSpc>
                <a:spcPct val="110000"/>
              </a:lnSpc>
              <a:spcAft>
                <a:spcPts val="0"/>
              </a:spcAft>
            </a:pPr>
            <a:r>
              <a:rPr sz="1600" b="1" i="0">
                <a:solidFill>
                  <a:srgbClr val="1A1A1A"/>
                </a:solidFill>
                <a:latin typeface="Arial"/>
              </a:rPr>
              <a:t>Adaptability</a:t>
            </a:r>
          </a:p>
        </p:txBody>
      </p:sp>
      <p:sp>
        <p:nvSpPr>
          <p:cNvPr id="26" name="Text"/>
          <p:cNvSpPr txBox="1"/>
          <p:nvPr/>
        </p:nvSpPr>
        <p:spPr>
          <a:xfrm>
            <a:off x="2392984" y="4078224"/>
            <a:ext cx="1950415" cy="566928"/>
          </a:xfrm>
          <a:prstGeom prst="rect">
            <a:avLst/>
          </a:prstGeom>
          <a:noFill/>
        </p:spPr>
        <p:txBody>
          <a:bodyPr wrap="square" lIns="0" rIns="0" tIns="0" bIns="0" anchor="ctr">
            <a:noAutofit/>
          </a:bodyPr>
          <a:lstStyle/>
          <a:p>
            <a:pPr algn="l">
              <a:lnSpc>
                <a:spcPct val="100000"/>
              </a:lnSpc>
              <a:spcAft>
                <a:spcPts val="0"/>
              </a:spcAft>
            </a:pPr>
            <a:r>
              <a:rPr sz="1600" b="0" i="0">
                <a:solidFill>
                  <a:srgbClr val="434343"/>
                </a:solidFill>
                <a:latin typeface="Arial"/>
              </a:rPr>
              <a:t>Can I handle what is changing now?</a:t>
            </a:r>
          </a:p>
        </p:txBody>
      </p:sp>
      <p:cxnSp>
        <p:nvCxnSpPr>
          <p:cNvPr id="27" name="Line"/>
          <p:cNvCxnSpPr/>
          <p:nvPr/>
        </p:nvCxnSpPr>
        <p:spPr>
          <a:xfrm flipV="1">
            <a:off x="4453127" y="3703320"/>
            <a:ext cx="384049" cy="658368"/>
          </a:xfrm>
          <a:prstGeom prst="line">
            <a:avLst/>
          </a:prstGeom>
          <a:ln w="15875">
            <a:solidFill>
              <a:srgbClr val="D4D4D4"/>
            </a:solidFill>
          </a:ln>
        </p:spPr>
      </p:cxnSp>
      <p:sp>
        <p:nvSpPr>
          <p:cNvPr id="28" name="Card"/>
          <p:cNvSpPr/>
          <p:nvPr/>
        </p:nvSpPr>
        <p:spPr>
          <a:xfrm>
            <a:off x="609904" y="4736592"/>
            <a:ext cx="3824935" cy="566928"/>
          </a:xfrm>
          <a:prstGeom prst="roundRect">
            <a:avLst>
              <a:gd name="adj" fmla="val 50000"/>
            </a:avLst>
          </a:prstGeom>
          <a:solidFill>
            <a:srgbClr val="F4F4F4"/>
          </a:solidFill>
          <a:ln>
            <a:noFill/>
          </a:ln>
          <a:effectLst/>
        </p:spPr>
        <p:txBody>
          <a:bodyPr rtlCol="0" anchor="ctr"/>
          <a:lstStyle/>
          <a:p>
            <a:pPr algn="ctr"/>
          </a:p>
        </p:txBody>
      </p:sp>
      <p:sp>
        <p:nvSpPr>
          <p:cNvPr id="29" name="Component dot"/>
          <p:cNvSpPr/>
          <p:nvPr/>
        </p:nvSpPr>
        <p:spPr>
          <a:xfrm>
            <a:off x="792784" y="4937759"/>
            <a:ext cx="164592" cy="164592"/>
          </a:xfrm>
          <a:prstGeom prst="ellipse">
            <a:avLst/>
          </a:prstGeom>
          <a:solidFill>
            <a:srgbClr val="28A019"/>
          </a:solidFill>
          <a:ln>
            <a:noFill/>
          </a:ln>
          <a:effectLst/>
        </p:spPr>
        <p:txBody>
          <a:bodyPr rtlCol="0" anchor="ctr"/>
          <a:lstStyle/>
          <a:p>
            <a:pPr algn="ctr"/>
          </a:p>
        </p:txBody>
      </p:sp>
      <p:sp>
        <p:nvSpPr>
          <p:cNvPr id="30" name="Text"/>
          <p:cNvSpPr txBox="1"/>
          <p:nvPr/>
        </p:nvSpPr>
        <p:spPr>
          <a:xfrm>
            <a:off x="1085392" y="4736592"/>
            <a:ext cx="1325880" cy="566928"/>
          </a:xfrm>
          <a:prstGeom prst="rect">
            <a:avLst/>
          </a:prstGeom>
          <a:noFill/>
        </p:spPr>
        <p:txBody>
          <a:bodyPr wrap="square" lIns="0" rIns="0" tIns="0" bIns="0" anchor="ctr">
            <a:noAutofit/>
          </a:bodyPr>
          <a:lstStyle/>
          <a:p>
            <a:pPr algn="l">
              <a:lnSpc>
                <a:spcPct val="110000"/>
              </a:lnSpc>
              <a:spcAft>
                <a:spcPts val="0"/>
              </a:spcAft>
            </a:pPr>
            <a:r>
              <a:rPr sz="1600" b="1" i="0">
                <a:solidFill>
                  <a:srgbClr val="1A1A1A"/>
                </a:solidFill>
                <a:latin typeface="Arial"/>
              </a:rPr>
              <a:t>Learning</a:t>
            </a:r>
          </a:p>
        </p:txBody>
      </p:sp>
      <p:sp>
        <p:nvSpPr>
          <p:cNvPr id="31" name="Text"/>
          <p:cNvSpPr txBox="1"/>
          <p:nvPr/>
        </p:nvSpPr>
        <p:spPr>
          <a:xfrm>
            <a:off x="2392984" y="4736592"/>
            <a:ext cx="1950415" cy="566928"/>
          </a:xfrm>
          <a:prstGeom prst="rect">
            <a:avLst/>
          </a:prstGeom>
          <a:noFill/>
        </p:spPr>
        <p:txBody>
          <a:bodyPr wrap="square" lIns="0" rIns="0" tIns="0" bIns="0" anchor="ctr">
            <a:noAutofit/>
          </a:bodyPr>
          <a:lstStyle/>
          <a:p>
            <a:pPr algn="l">
              <a:lnSpc>
                <a:spcPct val="100000"/>
              </a:lnSpc>
              <a:spcAft>
                <a:spcPts val="0"/>
              </a:spcAft>
            </a:pPr>
            <a:r>
              <a:rPr sz="1600" b="0" i="0">
                <a:solidFill>
                  <a:srgbClr val="434343"/>
                </a:solidFill>
                <a:latin typeface="Arial"/>
              </a:rPr>
              <a:t>Am I building the skills?</a:t>
            </a:r>
          </a:p>
        </p:txBody>
      </p:sp>
      <p:cxnSp>
        <p:nvCxnSpPr>
          <p:cNvPr id="32" name="Line"/>
          <p:cNvCxnSpPr/>
          <p:nvPr/>
        </p:nvCxnSpPr>
        <p:spPr>
          <a:xfrm flipV="1">
            <a:off x="4453127" y="3703320"/>
            <a:ext cx="384049" cy="1316735"/>
          </a:xfrm>
          <a:prstGeom prst="line">
            <a:avLst/>
          </a:prstGeom>
          <a:ln w="15875">
            <a:solidFill>
              <a:srgbClr val="D4D4D4"/>
            </a:solidFill>
          </a:ln>
        </p:spPr>
      </p:cxnSp>
      <p:sp>
        <p:nvSpPr>
          <p:cNvPr id="33" name="Gauge track"/>
          <p:cNvSpPr/>
          <p:nvPr/>
        </p:nvSpPr>
        <p:spPr>
          <a:xfrm>
            <a:off x="4892040" y="2971800"/>
            <a:ext cx="1463040" cy="1463040"/>
          </a:xfrm>
          <a:prstGeom prst="blockArc">
            <a:avLst>
              <a:gd name="adj1" fmla="val 10800000"/>
              <a:gd name="adj2" fmla="val 0"/>
              <a:gd name="adj3" fmla="val 20000"/>
            </a:avLst>
          </a:prstGeom>
          <a:solidFill>
            <a:srgbClr val="F4F4F4"/>
          </a:solidFill>
          <a:ln w="9525">
            <a:solidFill>
              <a:srgbClr val="E0E0E0"/>
            </a:solidFill>
          </a:ln>
          <a:effectLst/>
        </p:spPr>
        <p:txBody>
          <a:bodyPr rtlCol="0" anchor="ctr"/>
          <a:lstStyle/>
          <a:p>
            <a:pPr algn="ctr"/>
          </a:p>
        </p:txBody>
      </p:sp>
      <p:sp>
        <p:nvSpPr>
          <p:cNvPr id="34" name="Gauge fill"/>
          <p:cNvSpPr/>
          <p:nvPr/>
        </p:nvSpPr>
        <p:spPr>
          <a:xfrm>
            <a:off x="4892040" y="2971800"/>
            <a:ext cx="1463040" cy="1463040"/>
          </a:xfrm>
          <a:prstGeom prst="blockArc">
            <a:avLst>
              <a:gd name="adj1" fmla="val 10800000"/>
              <a:gd name="adj2" fmla="val 17820000"/>
              <a:gd name="adj3" fmla="val 20000"/>
            </a:avLst>
          </a:prstGeom>
          <a:solidFill>
            <a:srgbClr val="28A019"/>
          </a:solidFill>
          <a:ln>
            <a:noFill/>
          </a:ln>
          <a:effectLst/>
        </p:spPr>
        <p:txBody>
          <a:bodyPr rtlCol="0" anchor="ctr"/>
          <a:lstStyle/>
          <a:p>
            <a:pPr algn="ctr"/>
          </a:p>
        </p:txBody>
      </p:sp>
      <p:cxnSp>
        <p:nvCxnSpPr>
          <p:cNvPr id="35" name="Line"/>
          <p:cNvCxnSpPr/>
          <p:nvPr/>
        </p:nvCxnSpPr>
        <p:spPr>
          <a:xfrm>
            <a:off x="6409943" y="3657600"/>
            <a:ext cx="320040" cy="0"/>
          </a:xfrm>
          <a:prstGeom prst="line">
            <a:avLst/>
          </a:prstGeom>
          <a:ln w="19050">
            <a:solidFill>
              <a:srgbClr val="434343"/>
            </a:solidFill>
            <a:tailEnd type="triangle" w="med" len="med"/>
          </a:ln>
        </p:spPr>
      </p:cxnSp>
      <p:sp>
        <p:nvSpPr>
          <p:cNvPr id="36" name="Value amplifier"/>
          <p:cNvSpPr/>
          <p:nvPr/>
        </p:nvSpPr>
        <p:spPr>
          <a:xfrm rot="5400000">
            <a:off x="6784847" y="3200400"/>
            <a:ext cx="822960" cy="914400"/>
          </a:xfrm>
          <a:prstGeom prst="triangle">
            <a:avLst/>
          </a:prstGeom>
          <a:solidFill>
            <a:srgbClr val="EAF7E6"/>
          </a:solidFill>
          <a:ln w="25400">
            <a:solidFill>
              <a:srgbClr val="28A019"/>
            </a:solidFill>
          </a:ln>
          <a:effectLst/>
        </p:spPr>
        <p:txBody>
          <a:bodyPr rtlCol="0" anchor="ctr"/>
          <a:lstStyle/>
          <a:p>
            <a:pPr algn="ctr"/>
          </a:p>
        </p:txBody>
      </p:sp>
      <p:sp>
        <p:nvSpPr>
          <p:cNvPr id="37" name="Text"/>
          <p:cNvSpPr txBox="1"/>
          <p:nvPr/>
        </p:nvSpPr>
        <p:spPr>
          <a:xfrm>
            <a:off x="6830567" y="3474720"/>
            <a:ext cx="548640" cy="365760"/>
          </a:xfrm>
          <a:prstGeom prst="rect">
            <a:avLst/>
          </a:prstGeom>
          <a:noFill/>
        </p:spPr>
        <p:txBody>
          <a:bodyPr wrap="square" lIns="0" rIns="0" tIns="0" bIns="0" anchor="ctr">
            <a:noAutofit/>
          </a:bodyPr>
          <a:lstStyle/>
          <a:p>
            <a:pPr algn="ctr">
              <a:lnSpc>
                <a:spcPct val="110000"/>
              </a:lnSpc>
              <a:spcAft>
                <a:spcPts val="0"/>
              </a:spcAft>
            </a:pPr>
            <a:r>
              <a:rPr sz="2000" b="1" i="0">
                <a:solidFill>
                  <a:srgbClr val="1E7A13"/>
                </a:solidFill>
                <a:latin typeface="Arial"/>
              </a:rPr>
              <a:t>×</a:t>
            </a:r>
          </a:p>
        </p:txBody>
      </p:sp>
      <p:cxnSp>
        <p:nvCxnSpPr>
          <p:cNvPr id="38" name="Line"/>
          <p:cNvCxnSpPr/>
          <p:nvPr/>
        </p:nvCxnSpPr>
        <p:spPr>
          <a:xfrm>
            <a:off x="7662671" y="3657600"/>
            <a:ext cx="667512" cy="0"/>
          </a:xfrm>
          <a:prstGeom prst="line">
            <a:avLst/>
          </a:prstGeom>
          <a:ln w="19050">
            <a:solidFill>
              <a:srgbClr val="434343"/>
            </a:solidFill>
            <a:tailEnd type="triangle" w="med" len="med"/>
          </a:ln>
        </p:spPr>
      </p:cxnSp>
      <p:sp>
        <p:nvSpPr>
          <p:cNvPr id="39" name="Valve L"/>
          <p:cNvSpPr/>
          <p:nvPr/>
        </p:nvSpPr>
        <p:spPr>
          <a:xfrm rot="5400000">
            <a:off x="8385048" y="3328416"/>
            <a:ext cx="384048" cy="658368"/>
          </a:xfrm>
          <a:prstGeom prst="triangle">
            <a:avLst/>
          </a:prstGeom>
          <a:solidFill>
            <a:srgbClr val="1A1A1A"/>
          </a:solidFill>
          <a:ln>
            <a:noFill/>
          </a:ln>
          <a:effectLst/>
        </p:spPr>
        <p:txBody>
          <a:bodyPr rtlCol="0" anchor="ctr"/>
          <a:lstStyle/>
          <a:p>
            <a:pPr algn="ctr"/>
          </a:p>
        </p:txBody>
      </p:sp>
      <p:sp>
        <p:nvSpPr>
          <p:cNvPr id="40" name="Valve R"/>
          <p:cNvSpPr/>
          <p:nvPr/>
        </p:nvSpPr>
        <p:spPr>
          <a:xfrm rot="16200000">
            <a:off x="8769096" y="3328416"/>
            <a:ext cx="384048" cy="658368"/>
          </a:xfrm>
          <a:prstGeom prst="triangle">
            <a:avLst/>
          </a:prstGeom>
          <a:solidFill>
            <a:srgbClr val="1A1A1A"/>
          </a:solidFill>
          <a:ln>
            <a:noFill/>
          </a:ln>
          <a:effectLst/>
        </p:spPr>
        <p:txBody>
          <a:bodyPr rtlCol="0" anchor="ctr"/>
          <a:lstStyle/>
          <a:p>
            <a:pPr algn="ctr"/>
          </a:p>
        </p:txBody>
      </p:sp>
      <p:cxnSp>
        <p:nvCxnSpPr>
          <p:cNvPr id="41" name="Line"/>
          <p:cNvCxnSpPr/>
          <p:nvPr/>
        </p:nvCxnSpPr>
        <p:spPr>
          <a:xfrm>
            <a:off x="8769096" y="3090672"/>
            <a:ext cx="0" cy="566928"/>
          </a:xfrm>
          <a:prstGeom prst="line">
            <a:avLst/>
          </a:prstGeom>
          <a:ln w="31750">
            <a:solidFill>
              <a:srgbClr val="1A1A1A"/>
            </a:solidFill>
          </a:ln>
        </p:spPr>
      </p:cxnSp>
      <p:cxnSp>
        <p:nvCxnSpPr>
          <p:cNvPr id="42" name="Line"/>
          <p:cNvCxnSpPr/>
          <p:nvPr/>
        </p:nvCxnSpPr>
        <p:spPr>
          <a:xfrm>
            <a:off x="8586216" y="3090672"/>
            <a:ext cx="365760" cy="0"/>
          </a:xfrm>
          <a:prstGeom prst="line">
            <a:avLst/>
          </a:prstGeom>
          <a:ln w="31750">
            <a:solidFill>
              <a:srgbClr val="1A1A1A"/>
            </a:solidFill>
          </a:ln>
        </p:spPr>
      </p:cxnSp>
      <p:cxnSp>
        <p:nvCxnSpPr>
          <p:cNvPr id="43" name="Line"/>
          <p:cNvCxnSpPr/>
          <p:nvPr/>
        </p:nvCxnSpPr>
        <p:spPr>
          <a:xfrm>
            <a:off x="9208008" y="3657600"/>
            <a:ext cx="694943" cy="0"/>
          </a:xfrm>
          <a:prstGeom prst="line">
            <a:avLst/>
          </a:prstGeom>
          <a:ln w="19050">
            <a:solidFill>
              <a:srgbClr val="434343"/>
            </a:solidFill>
            <a:tailEnd type="triangle" w="med" len="med"/>
          </a:ln>
        </p:spPr>
      </p:cxnSp>
      <p:sp>
        <p:nvSpPr>
          <p:cNvPr id="44" name="Movement"/>
          <p:cNvSpPr/>
          <p:nvPr/>
        </p:nvSpPr>
        <p:spPr>
          <a:xfrm>
            <a:off x="9957815" y="3273552"/>
            <a:ext cx="768096" cy="768096"/>
          </a:xfrm>
          <a:prstGeom prst="ellipse">
            <a:avLst/>
          </a:prstGeom>
          <a:solidFill>
            <a:srgbClr val="28A019"/>
          </a:solidFill>
          <a:ln>
            <a:noFill/>
          </a:ln>
          <a:effectLst/>
        </p:spPr>
        <p:txBody>
          <a:bodyPr rtlCol="0" anchor="ctr"/>
          <a:lstStyle/>
          <a:p>
            <a:pPr algn="ctr"/>
          </a:p>
        </p:txBody>
      </p:sp>
      <p:pic>
        <p:nvPicPr>
          <p:cNvPr id="45" name="Icon arrow-right" descr="arrow-right-white.png"/>
          <p:cNvPicPr>
            <a:picLocks noChangeAspect="1"/>
          </p:cNvPicPr>
          <p:nvPr/>
        </p:nvPicPr>
        <p:blipFill>
          <a:blip r:embed="rId3"/>
          <a:stretch>
            <a:fillRect/>
          </a:stretch>
        </p:blipFill>
        <p:spPr>
          <a:xfrm>
            <a:off x="10140695" y="3456432"/>
            <a:ext cx="402336" cy="402336"/>
          </a:xfrm>
          <a:prstGeom prst="rect">
            <a:avLst/>
          </a:prstGeom>
        </p:spPr>
      </p:pic>
      <p:sp>
        <p:nvSpPr>
          <p:cNvPr id="46" name="Text"/>
          <p:cNvSpPr txBox="1"/>
          <p:nvPr/>
        </p:nvSpPr>
        <p:spPr>
          <a:xfrm>
            <a:off x="4892040" y="4343400"/>
            <a:ext cx="1463040" cy="1143000"/>
          </a:xfrm>
          <a:prstGeom prst="rect">
            <a:avLst/>
          </a:prstGeom>
          <a:noFill/>
        </p:spPr>
        <p:txBody>
          <a:bodyPr wrap="square" lIns="0" rIns="0" tIns="0" bIns="0" anchor="t">
            <a:noAutofit/>
          </a:bodyPr>
          <a:lstStyle/>
          <a:p>
            <a:pPr algn="ctr">
              <a:lnSpc>
                <a:spcPct val="108000"/>
              </a:lnSpc>
              <a:spcAft>
                <a:spcPts val="200"/>
              </a:spcAft>
            </a:pPr>
            <a:r>
              <a:rPr sz="1600" b="1" i="0">
                <a:solidFill>
                  <a:srgbClr val="1A1A1A"/>
                </a:solidFill>
                <a:latin typeface="Arial"/>
              </a:rPr>
              <a:t>Readiness</a:t>
            </a:r>
          </a:p>
          <a:p>
            <a:pPr algn="ctr">
              <a:lnSpc>
                <a:spcPct val="108000"/>
              </a:lnSpc>
              <a:spcAft>
                <a:spcPts val="200"/>
              </a:spcAft>
            </a:pPr>
            <a:r>
              <a:rPr sz="1600" b="0" i="0">
                <a:solidFill>
                  <a:srgbClr val="434343"/>
                </a:solidFill>
                <a:latin typeface="Arial"/>
              </a:rPr>
              <a:t>Set by the five confidence components</a:t>
            </a:r>
          </a:p>
        </p:txBody>
      </p:sp>
      <p:sp>
        <p:nvSpPr>
          <p:cNvPr id="47" name="Text"/>
          <p:cNvSpPr txBox="1"/>
          <p:nvPr/>
        </p:nvSpPr>
        <p:spPr>
          <a:xfrm>
            <a:off x="6464807" y="4343400"/>
            <a:ext cx="1463040" cy="1143000"/>
          </a:xfrm>
          <a:prstGeom prst="rect">
            <a:avLst/>
          </a:prstGeom>
          <a:noFill/>
        </p:spPr>
        <p:txBody>
          <a:bodyPr wrap="square" lIns="0" rIns="0" tIns="0" bIns="0" anchor="t">
            <a:noAutofit/>
          </a:bodyPr>
          <a:lstStyle/>
          <a:p>
            <a:pPr algn="ctr">
              <a:lnSpc>
                <a:spcPct val="108000"/>
              </a:lnSpc>
              <a:spcAft>
                <a:spcPts val="200"/>
              </a:spcAft>
            </a:pPr>
            <a:r>
              <a:rPr sz="1600" b="1" i="0">
                <a:solidFill>
                  <a:srgbClr val="1A1A1A"/>
                </a:solidFill>
                <a:latin typeface="Arial"/>
              </a:rPr>
              <a:t>Value amplifies</a:t>
            </a:r>
          </a:p>
          <a:p>
            <a:pPr algn="ctr">
              <a:lnSpc>
                <a:spcPct val="108000"/>
              </a:lnSpc>
              <a:spcAft>
                <a:spcPts val="200"/>
              </a:spcAft>
            </a:pPr>
            <a:r>
              <a:rPr sz="1600" b="0" i="0">
                <a:solidFill>
                  <a:srgbClr val="434343"/>
                </a:solidFill>
                <a:latin typeface="Arial"/>
              </a:rPr>
              <a:t>Is this worth it, for me?</a:t>
            </a:r>
          </a:p>
        </p:txBody>
      </p:sp>
      <p:sp>
        <p:nvSpPr>
          <p:cNvPr id="48" name="Text"/>
          <p:cNvSpPr txBox="1"/>
          <p:nvPr/>
        </p:nvSpPr>
        <p:spPr>
          <a:xfrm>
            <a:off x="8037575" y="4343400"/>
            <a:ext cx="1463040" cy="1143000"/>
          </a:xfrm>
          <a:prstGeom prst="rect">
            <a:avLst/>
          </a:prstGeom>
          <a:noFill/>
        </p:spPr>
        <p:txBody>
          <a:bodyPr wrap="square" lIns="0" rIns="0" tIns="0" bIns="0" anchor="t">
            <a:noAutofit/>
          </a:bodyPr>
          <a:lstStyle/>
          <a:p>
            <a:pPr algn="ctr">
              <a:lnSpc>
                <a:spcPct val="108000"/>
              </a:lnSpc>
              <a:spcAft>
                <a:spcPts val="200"/>
              </a:spcAft>
            </a:pPr>
            <a:r>
              <a:rPr sz="1600" b="1" i="0">
                <a:solidFill>
                  <a:srgbClr val="1A1A1A"/>
                </a:solidFill>
                <a:latin typeface="Arial"/>
              </a:rPr>
              <a:t>Incentive gates</a:t>
            </a:r>
          </a:p>
          <a:p>
            <a:pPr algn="ctr">
              <a:lnSpc>
                <a:spcPct val="108000"/>
              </a:lnSpc>
              <a:spcAft>
                <a:spcPts val="200"/>
              </a:spcAft>
            </a:pPr>
            <a:r>
              <a:rPr sz="1600" b="0" i="0">
                <a:solidFill>
                  <a:srgbClr val="434343"/>
                </a:solidFill>
                <a:latin typeface="Arial"/>
              </a:rPr>
              <a:t>Does it pay, and is it safe?</a:t>
            </a:r>
          </a:p>
        </p:txBody>
      </p:sp>
      <p:sp>
        <p:nvSpPr>
          <p:cNvPr id="49" name="Text"/>
          <p:cNvSpPr txBox="1"/>
          <p:nvPr/>
        </p:nvSpPr>
        <p:spPr>
          <a:xfrm>
            <a:off x="9610343" y="4343400"/>
            <a:ext cx="1463040" cy="1143000"/>
          </a:xfrm>
          <a:prstGeom prst="rect">
            <a:avLst/>
          </a:prstGeom>
          <a:noFill/>
        </p:spPr>
        <p:txBody>
          <a:bodyPr wrap="square" lIns="0" rIns="0" tIns="0" bIns="0" anchor="t">
            <a:noAutofit/>
          </a:bodyPr>
          <a:lstStyle/>
          <a:p>
            <a:pPr algn="ctr">
              <a:lnSpc>
                <a:spcPct val="108000"/>
              </a:lnSpc>
              <a:spcAft>
                <a:spcPts val="200"/>
              </a:spcAft>
            </a:pPr>
            <a:r>
              <a:rPr sz="1600" b="1" i="0">
                <a:solidFill>
                  <a:srgbClr val="1A1A1A"/>
                </a:solidFill>
                <a:latin typeface="Arial"/>
              </a:rPr>
              <a:t>People move</a:t>
            </a:r>
          </a:p>
          <a:p>
            <a:pPr algn="ctr">
              <a:lnSpc>
                <a:spcPct val="108000"/>
              </a:lnSpc>
              <a:spcAft>
                <a:spcPts val="200"/>
              </a:spcAft>
            </a:pPr>
            <a:r>
              <a:rPr sz="1600" b="0" i="0">
                <a:solidFill>
                  <a:srgbClr val="434343"/>
                </a:solidFill>
                <a:latin typeface="Arial"/>
              </a:rPr>
              <a:t>Behavior changes at work</a:t>
            </a:r>
          </a:p>
        </p:txBody>
      </p:sp>
      <p:sp>
        <p:nvSpPr>
          <p:cNvPr id="50" name="Card"/>
          <p:cNvSpPr/>
          <p:nvPr/>
        </p:nvSpPr>
        <p:spPr>
          <a:xfrm>
            <a:off x="609904" y="5559552"/>
            <a:ext cx="10971885" cy="566928"/>
          </a:xfrm>
          <a:prstGeom prst="roundRect">
            <a:avLst>
              <a:gd name="adj" fmla="val 19354"/>
            </a:avLst>
          </a:prstGeom>
          <a:solidFill>
            <a:srgbClr val="F4F4F4"/>
          </a:solidFill>
          <a:ln>
            <a:noFill/>
          </a:ln>
          <a:effectLst/>
        </p:spPr>
        <p:txBody>
          <a:bodyPr rtlCol="0" anchor="ctr"/>
          <a:lstStyle/>
          <a:p>
            <a:pPr algn="ctr"/>
          </a:p>
        </p:txBody>
      </p:sp>
      <p:sp>
        <p:nvSpPr>
          <p:cNvPr id="51" name="Text"/>
          <p:cNvSpPr txBox="1"/>
          <p:nvPr/>
        </p:nvSpPr>
        <p:spPr>
          <a:xfrm>
            <a:off x="884224" y="5559552"/>
            <a:ext cx="10423245" cy="566928"/>
          </a:xfrm>
          <a:prstGeom prst="rect">
            <a:avLst/>
          </a:prstGeom>
          <a:noFill/>
        </p:spPr>
        <p:txBody>
          <a:bodyPr wrap="square" lIns="0" rIns="0" tIns="0" bIns="0" anchor="ctr">
            <a:noAutofit/>
          </a:bodyPr>
          <a:lstStyle/>
          <a:p>
            <a:pPr algn="l">
              <a:lnSpc>
                <a:spcPct val="110000"/>
              </a:lnSpc>
              <a:spcAft>
                <a:spcPts val="0"/>
              </a:spcAft>
            </a:pPr>
            <a:r>
              <a:rPr sz="1600" b="1" i="0">
                <a:solidFill>
                  <a:srgbClr val="1E7A13"/>
                </a:solidFill>
                <a:latin typeface="Arial"/>
              </a:rPr>
              <a:t>Gating rule: </a:t>
            </a:r>
            <a:r>
              <a:rPr sz="1600" b="0" i="0">
                <a:solidFill>
                  <a:srgbClr val="1A1A1A"/>
                </a:solidFill>
                <a:latin typeface="Arial"/>
              </a:rPr>
              <a:t>if the change is not worth it or does not pay, readiness is capped, whatever confidence says.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609904" y="457200"/>
            <a:ext cx="8171764"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1E7A13"/>
                </a:solidFill>
                <a:latin typeface="Arial"/>
              </a:rPr>
              <a:t>LAYER 02 · ACTIVATE</a:t>
            </a:r>
          </a:p>
        </p:txBody>
      </p:sp>
      <p:sp>
        <p:nvSpPr>
          <p:cNvPr id="3" name="Headline"/>
          <p:cNvSpPr txBox="1"/>
          <p:nvPr/>
        </p:nvSpPr>
        <p:spPr>
          <a:xfrm>
            <a:off x="609904" y="731520"/>
            <a:ext cx="10038511" cy="960120"/>
          </a:xfrm>
          <a:prstGeom prst="rect">
            <a:avLst/>
          </a:prstGeom>
          <a:noFill/>
        </p:spPr>
        <p:txBody>
          <a:bodyPr wrap="square" lIns="0" rIns="0" tIns="0" bIns="0" anchor="t">
            <a:noAutofit/>
          </a:bodyPr>
          <a:lstStyle/>
          <a:p>
            <a:pPr algn="l">
              <a:lnSpc>
                <a:spcPct val="100000"/>
              </a:lnSpc>
              <a:spcAft>
                <a:spcPts val="0"/>
              </a:spcAft>
            </a:pPr>
            <a:r>
              <a:rPr sz="3000" b="1" i="0">
                <a:solidFill>
                  <a:srgbClr val="1A1A1A"/>
                </a:solidFill>
                <a:latin typeface="Arial"/>
              </a:rPr>
              <a:t>A short weekly conversation moves each person from ambiguity to agency.</a:t>
            </a:r>
          </a:p>
        </p:txBody>
      </p:sp>
      <p:pic>
        <p:nvPicPr>
          <p:cNvPr id="4" name="Picture 3" descr="logo-icon.png"/>
          <p:cNvPicPr>
            <a:picLocks noChangeAspect="1"/>
          </p:cNvPicPr>
          <p:nvPr/>
        </p:nvPicPr>
        <p:blipFill>
          <a:blip r:embed="rId2"/>
          <a:stretch>
            <a:fillRect/>
          </a:stretch>
        </p:blipFill>
        <p:spPr>
          <a:xfrm>
            <a:off x="609904" y="6382512"/>
            <a:ext cx="201168" cy="201168"/>
          </a:xfrm>
          <a:prstGeom prst="rect">
            <a:avLst/>
          </a:prstGeom>
        </p:spPr>
      </p:pic>
      <p:sp>
        <p:nvSpPr>
          <p:cNvPr id="5" name="Footer"/>
          <p:cNvSpPr txBox="1"/>
          <p:nvPr/>
        </p:nvSpPr>
        <p:spPr>
          <a:xfrm>
            <a:off x="902512" y="6382512"/>
            <a:ext cx="3657600" cy="201168"/>
          </a:xfrm>
          <a:prstGeom prst="rect">
            <a:avLst/>
          </a:prstGeom>
          <a:noFill/>
        </p:spPr>
        <p:txBody>
          <a:bodyPr wrap="square" lIns="0" rIns="0" tIns="0" bIns="0" anchor="ctr">
            <a:noAutofit/>
          </a:bodyPr>
          <a:lstStyle/>
          <a:p>
            <a:pPr algn="l">
              <a:lnSpc>
                <a:spcPct val="110000"/>
              </a:lnSpc>
              <a:spcAft>
                <a:spcPts val="0"/>
              </a:spcAft>
            </a:pPr>
            <a:r>
              <a:rPr sz="1100" b="0" i="0">
                <a:solidFill>
                  <a:srgbClr val="6B6B6B"/>
                </a:solidFill>
                <a:latin typeface="Arial"/>
              </a:rPr>
              <a:t>The Diagnose Conversation</a:t>
            </a:r>
          </a:p>
        </p:txBody>
      </p:sp>
      <p:sp>
        <p:nvSpPr>
          <p:cNvPr id="6" name="Page number"/>
          <p:cNvSpPr txBox="1"/>
          <p:nvPr/>
        </p:nvSpPr>
        <p:spPr>
          <a:xfrm>
            <a:off x="10210190" y="6382512"/>
            <a:ext cx="1371600" cy="201168"/>
          </a:xfrm>
          <a:prstGeom prst="rect">
            <a:avLst/>
          </a:prstGeom>
          <a:noFill/>
        </p:spPr>
        <p:txBody>
          <a:bodyPr wrap="square" lIns="0" rIns="0" tIns="0" bIns="0" anchor="ctr">
            <a:noAutofit/>
          </a:bodyPr>
          <a:lstStyle/>
          <a:p>
            <a:pPr algn="r">
              <a:lnSpc>
                <a:spcPct val="110000"/>
              </a:lnSpc>
              <a:spcAft>
                <a:spcPts val="0"/>
              </a:spcAft>
            </a:pPr>
            <a:r>
              <a:rPr sz="1100" b="0" i="0">
                <a:solidFill>
                  <a:srgbClr val="6B6B6B"/>
                </a:solidFill>
                <a:latin typeface="Arial"/>
              </a:rPr>
              <a:t>12 / 14</a:t>
            </a:r>
          </a:p>
        </p:txBody>
      </p:sp>
      <p:sp>
        <p:nvSpPr>
          <p:cNvPr id="7" name="Card"/>
          <p:cNvSpPr/>
          <p:nvPr/>
        </p:nvSpPr>
        <p:spPr>
          <a:xfrm>
            <a:off x="609904" y="2011680"/>
            <a:ext cx="2743200" cy="1325880"/>
          </a:xfrm>
          <a:prstGeom prst="roundRect">
            <a:avLst>
              <a:gd name="adj" fmla="val 8275"/>
            </a:avLst>
          </a:prstGeom>
          <a:solidFill>
            <a:srgbClr val="EAF7E6"/>
          </a:solidFill>
          <a:ln>
            <a:noFill/>
          </a:ln>
          <a:effectLst/>
        </p:spPr>
        <p:txBody>
          <a:bodyPr rtlCol="0" anchor="ctr"/>
          <a:lstStyle/>
          <a:p>
            <a:pPr algn="ctr"/>
          </a:p>
        </p:txBody>
      </p:sp>
      <p:sp>
        <p:nvSpPr>
          <p:cNvPr id="8" name="Label"/>
          <p:cNvSpPr txBox="1"/>
          <p:nvPr/>
        </p:nvSpPr>
        <p:spPr>
          <a:xfrm>
            <a:off x="838504" y="2194560"/>
            <a:ext cx="914400"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1E7A13"/>
                </a:solidFill>
                <a:latin typeface="Arial"/>
              </a:rPr>
              <a:t>01</a:t>
            </a:r>
          </a:p>
        </p:txBody>
      </p:sp>
      <p:sp>
        <p:nvSpPr>
          <p:cNvPr id="9" name="Text"/>
          <p:cNvSpPr txBox="1"/>
          <p:nvPr/>
        </p:nvSpPr>
        <p:spPr>
          <a:xfrm>
            <a:off x="838504" y="2395728"/>
            <a:ext cx="2286000" cy="274320"/>
          </a:xfrm>
          <a:prstGeom prst="rect">
            <a:avLst/>
          </a:prstGeom>
          <a:noFill/>
        </p:spPr>
        <p:txBody>
          <a:bodyPr wrap="square" lIns="0" rIns="0" tIns="0" bIns="0" anchor="t">
            <a:noAutofit/>
          </a:bodyPr>
          <a:lstStyle/>
          <a:p>
            <a:pPr algn="l">
              <a:lnSpc>
                <a:spcPct val="110000"/>
              </a:lnSpc>
              <a:spcAft>
                <a:spcPts val="0"/>
              </a:spcAft>
            </a:pPr>
            <a:r>
              <a:rPr sz="1600" b="1" i="0">
                <a:solidFill>
                  <a:srgbClr val="1A1A1A"/>
                </a:solidFill>
                <a:latin typeface="Arial"/>
              </a:rPr>
              <a:t>Clarify priorities</a:t>
            </a:r>
          </a:p>
        </p:txBody>
      </p:sp>
      <p:sp>
        <p:nvSpPr>
          <p:cNvPr id="10" name="Text"/>
          <p:cNvSpPr txBox="1"/>
          <p:nvPr/>
        </p:nvSpPr>
        <p:spPr>
          <a:xfrm>
            <a:off x="838504" y="2688336"/>
            <a:ext cx="2331720" cy="502920"/>
          </a:xfrm>
          <a:prstGeom prst="rect">
            <a:avLst/>
          </a:prstGeom>
          <a:noFill/>
        </p:spPr>
        <p:txBody>
          <a:bodyPr wrap="square" lIns="0" rIns="0" tIns="0" bIns="0" anchor="t">
            <a:noAutofit/>
          </a:bodyPr>
          <a:lstStyle/>
          <a:p>
            <a:pPr algn="l">
              <a:lnSpc>
                <a:spcPct val="105000"/>
              </a:lnSpc>
              <a:spcAft>
                <a:spcPts val="0"/>
              </a:spcAft>
            </a:pPr>
            <a:r>
              <a:rPr sz="1600" b="0" i="0">
                <a:solidFill>
                  <a:srgbClr val="434343"/>
                </a:solidFill>
                <a:latin typeface="Arial"/>
              </a:rPr>
              <a:t>What the change means for me, specifically.</a:t>
            </a:r>
          </a:p>
        </p:txBody>
      </p:sp>
      <p:sp>
        <p:nvSpPr>
          <p:cNvPr id="11" name="Card"/>
          <p:cNvSpPr/>
          <p:nvPr/>
        </p:nvSpPr>
        <p:spPr>
          <a:xfrm>
            <a:off x="4130344" y="2011680"/>
            <a:ext cx="2743200" cy="1325880"/>
          </a:xfrm>
          <a:prstGeom prst="roundRect">
            <a:avLst>
              <a:gd name="adj" fmla="val 8275"/>
            </a:avLst>
          </a:prstGeom>
          <a:solidFill>
            <a:srgbClr val="F4F4F4"/>
          </a:solidFill>
          <a:ln>
            <a:noFill/>
          </a:ln>
          <a:effectLst/>
        </p:spPr>
        <p:txBody>
          <a:bodyPr rtlCol="0" anchor="ctr"/>
          <a:lstStyle/>
          <a:p>
            <a:pPr algn="ctr"/>
          </a:p>
        </p:txBody>
      </p:sp>
      <p:sp>
        <p:nvSpPr>
          <p:cNvPr id="12" name="Label"/>
          <p:cNvSpPr txBox="1"/>
          <p:nvPr/>
        </p:nvSpPr>
        <p:spPr>
          <a:xfrm>
            <a:off x="4358944" y="2194560"/>
            <a:ext cx="914400"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1E7A13"/>
                </a:solidFill>
                <a:latin typeface="Arial"/>
              </a:rPr>
              <a:t>02</a:t>
            </a:r>
          </a:p>
        </p:txBody>
      </p:sp>
      <p:sp>
        <p:nvSpPr>
          <p:cNvPr id="13" name="Text"/>
          <p:cNvSpPr txBox="1"/>
          <p:nvPr/>
        </p:nvSpPr>
        <p:spPr>
          <a:xfrm>
            <a:off x="4358944" y="2395728"/>
            <a:ext cx="2286000" cy="274320"/>
          </a:xfrm>
          <a:prstGeom prst="rect">
            <a:avLst/>
          </a:prstGeom>
          <a:noFill/>
        </p:spPr>
        <p:txBody>
          <a:bodyPr wrap="square" lIns="0" rIns="0" tIns="0" bIns="0" anchor="t">
            <a:noAutofit/>
          </a:bodyPr>
          <a:lstStyle/>
          <a:p>
            <a:pPr algn="l">
              <a:lnSpc>
                <a:spcPct val="110000"/>
              </a:lnSpc>
              <a:spcAft>
                <a:spcPts val="0"/>
              </a:spcAft>
            </a:pPr>
            <a:r>
              <a:rPr sz="1600" b="1" i="0">
                <a:solidFill>
                  <a:srgbClr val="1A1A1A"/>
                </a:solidFill>
                <a:latin typeface="Arial"/>
              </a:rPr>
              <a:t>Surface blockers</a:t>
            </a:r>
          </a:p>
        </p:txBody>
      </p:sp>
      <p:sp>
        <p:nvSpPr>
          <p:cNvPr id="14" name="Text"/>
          <p:cNvSpPr txBox="1"/>
          <p:nvPr/>
        </p:nvSpPr>
        <p:spPr>
          <a:xfrm>
            <a:off x="4358944" y="2688336"/>
            <a:ext cx="2331720" cy="502920"/>
          </a:xfrm>
          <a:prstGeom prst="rect">
            <a:avLst/>
          </a:prstGeom>
          <a:noFill/>
        </p:spPr>
        <p:txBody>
          <a:bodyPr wrap="square" lIns="0" rIns="0" tIns="0" bIns="0" anchor="t">
            <a:noAutofit/>
          </a:bodyPr>
          <a:lstStyle/>
          <a:p>
            <a:pPr algn="l">
              <a:lnSpc>
                <a:spcPct val="105000"/>
              </a:lnSpc>
              <a:spcAft>
                <a:spcPts val="0"/>
              </a:spcAft>
            </a:pPr>
            <a:r>
              <a:rPr sz="1600" b="0" i="0">
                <a:solidFill>
                  <a:srgbClr val="434343"/>
                </a:solidFill>
                <a:latin typeface="Arial"/>
              </a:rPr>
              <a:t>Name what is in the way, in my own words.</a:t>
            </a:r>
          </a:p>
        </p:txBody>
      </p:sp>
      <p:sp>
        <p:nvSpPr>
          <p:cNvPr id="15" name="Card"/>
          <p:cNvSpPr/>
          <p:nvPr/>
        </p:nvSpPr>
        <p:spPr>
          <a:xfrm>
            <a:off x="4130344" y="4297680"/>
            <a:ext cx="2743200" cy="1325880"/>
          </a:xfrm>
          <a:prstGeom prst="roundRect">
            <a:avLst>
              <a:gd name="adj" fmla="val 8275"/>
            </a:avLst>
          </a:prstGeom>
          <a:solidFill>
            <a:srgbClr val="F4F4F4"/>
          </a:solidFill>
          <a:ln>
            <a:noFill/>
          </a:ln>
          <a:effectLst/>
        </p:spPr>
        <p:txBody>
          <a:bodyPr rtlCol="0" anchor="ctr"/>
          <a:lstStyle/>
          <a:p>
            <a:pPr algn="ctr"/>
          </a:p>
        </p:txBody>
      </p:sp>
      <p:sp>
        <p:nvSpPr>
          <p:cNvPr id="16" name="Label"/>
          <p:cNvSpPr txBox="1"/>
          <p:nvPr/>
        </p:nvSpPr>
        <p:spPr>
          <a:xfrm>
            <a:off x="4358944" y="4480560"/>
            <a:ext cx="914400"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1E7A13"/>
                </a:solidFill>
                <a:latin typeface="Arial"/>
              </a:rPr>
              <a:t>03</a:t>
            </a:r>
          </a:p>
        </p:txBody>
      </p:sp>
      <p:sp>
        <p:nvSpPr>
          <p:cNvPr id="17" name="Text"/>
          <p:cNvSpPr txBox="1"/>
          <p:nvPr/>
        </p:nvSpPr>
        <p:spPr>
          <a:xfrm>
            <a:off x="4358944" y="4681728"/>
            <a:ext cx="2286000" cy="274320"/>
          </a:xfrm>
          <a:prstGeom prst="rect">
            <a:avLst/>
          </a:prstGeom>
          <a:noFill/>
        </p:spPr>
        <p:txBody>
          <a:bodyPr wrap="square" lIns="0" rIns="0" tIns="0" bIns="0" anchor="t">
            <a:noAutofit/>
          </a:bodyPr>
          <a:lstStyle/>
          <a:p>
            <a:pPr algn="l">
              <a:lnSpc>
                <a:spcPct val="110000"/>
              </a:lnSpc>
              <a:spcAft>
                <a:spcPts val="0"/>
              </a:spcAft>
            </a:pPr>
            <a:r>
              <a:rPr sz="1600" b="1" i="0">
                <a:solidFill>
                  <a:srgbClr val="1A1A1A"/>
                </a:solidFill>
                <a:latin typeface="Arial"/>
              </a:rPr>
              <a:t>Reframe resistance</a:t>
            </a:r>
          </a:p>
        </p:txBody>
      </p:sp>
      <p:sp>
        <p:nvSpPr>
          <p:cNvPr id="18" name="Text"/>
          <p:cNvSpPr txBox="1"/>
          <p:nvPr/>
        </p:nvSpPr>
        <p:spPr>
          <a:xfrm>
            <a:off x="4358944" y="4974336"/>
            <a:ext cx="2331720" cy="502920"/>
          </a:xfrm>
          <a:prstGeom prst="rect">
            <a:avLst/>
          </a:prstGeom>
          <a:noFill/>
        </p:spPr>
        <p:txBody>
          <a:bodyPr wrap="square" lIns="0" rIns="0" tIns="0" bIns="0" anchor="t">
            <a:noAutofit/>
          </a:bodyPr>
          <a:lstStyle/>
          <a:p>
            <a:pPr algn="l">
              <a:lnSpc>
                <a:spcPct val="105000"/>
              </a:lnSpc>
              <a:spcAft>
                <a:spcPts val="0"/>
              </a:spcAft>
            </a:pPr>
            <a:r>
              <a:rPr sz="1600" b="0" i="0">
                <a:solidFill>
                  <a:srgbClr val="434343"/>
                </a:solidFill>
                <a:latin typeface="Arial"/>
              </a:rPr>
              <a:t>Build readiness before it is required.</a:t>
            </a:r>
          </a:p>
        </p:txBody>
      </p:sp>
      <p:sp>
        <p:nvSpPr>
          <p:cNvPr id="19" name="Card"/>
          <p:cNvSpPr/>
          <p:nvPr/>
        </p:nvSpPr>
        <p:spPr>
          <a:xfrm>
            <a:off x="609904" y="4297680"/>
            <a:ext cx="2743200" cy="1325880"/>
          </a:xfrm>
          <a:prstGeom prst="roundRect">
            <a:avLst>
              <a:gd name="adj" fmla="val 8275"/>
            </a:avLst>
          </a:prstGeom>
          <a:solidFill>
            <a:srgbClr val="F4F4F4"/>
          </a:solidFill>
          <a:ln>
            <a:noFill/>
          </a:ln>
          <a:effectLst/>
        </p:spPr>
        <p:txBody>
          <a:bodyPr rtlCol="0" anchor="ctr"/>
          <a:lstStyle/>
          <a:p>
            <a:pPr algn="ctr"/>
          </a:p>
        </p:txBody>
      </p:sp>
      <p:sp>
        <p:nvSpPr>
          <p:cNvPr id="20" name="Label"/>
          <p:cNvSpPr txBox="1"/>
          <p:nvPr/>
        </p:nvSpPr>
        <p:spPr>
          <a:xfrm>
            <a:off x="838504" y="4480560"/>
            <a:ext cx="914400"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1E7A13"/>
                </a:solidFill>
                <a:latin typeface="Arial"/>
              </a:rPr>
              <a:t>04</a:t>
            </a:r>
          </a:p>
        </p:txBody>
      </p:sp>
      <p:sp>
        <p:nvSpPr>
          <p:cNvPr id="21" name="Text"/>
          <p:cNvSpPr txBox="1"/>
          <p:nvPr/>
        </p:nvSpPr>
        <p:spPr>
          <a:xfrm>
            <a:off x="838504" y="4681728"/>
            <a:ext cx="2286000" cy="274320"/>
          </a:xfrm>
          <a:prstGeom prst="rect">
            <a:avLst/>
          </a:prstGeom>
          <a:noFill/>
        </p:spPr>
        <p:txBody>
          <a:bodyPr wrap="square" lIns="0" rIns="0" tIns="0" bIns="0" anchor="t">
            <a:noAutofit/>
          </a:bodyPr>
          <a:lstStyle/>
          <a:p>
            <a:pPr algn="l">
              <a:lnSpc>
                <a:spcPct val="110000"/>
              </a:lnSpc>
              <a:spcAft>
                <a:spcPts val="0"/>
              </a:spcAft>
            </a:pPr>
            <a:r>
              <a:rPr sz="1600" b="1" i="0">
                <a:solidFill>
                  <a:srgbClr val="1A1A1A"/>
                </a:solidFill>
                <a:latin typeface="Arial"/>
              </a:rPr>
              <a:t>Connect back to work</a:t>
            </a:r>
          </a:p>
        </p:txBody>
      </p:sp>
      <p:sp>
        <p:nvSpPr>
          <p:cNvPr id="22" name="Text"/>
          <p:cNvSpPr txBox="1"/>
          <p:nvPr/>
        </p:nvSpPr>
        <p:spPr>
          <a:xfrm>
            <a:off x="838504" y="4974336"/>
            <a:ext cx="2331720" cy="502920"/>
          </a:xfrm>
          <a:prstGeom prst="rect">
            <a:avLst/>
          </a:prstGeom>
          <a:noFill/>
        </p:spPr>
        <p:txBody>
          <a:bodyPr wrap="square" lIns="0" rIns="0" tIns="0" bIns="0" anchor="t">
            <a:noAutofit/>
          </a:bodyPr>
          <a:lstStyle/>
          <a:p>
            <a:pPr algn="l">
              <a:lnSpc>
                <a:spcPct val="105000"/>
              </a:lnSpc>
              <a:spcAft>
                <a:spcPts val="0"/>
              </a:spcAft>
            </a:pPr>
            <a:r>
              <a:rPr sz="1600" b="0" i="0">
                <a:solidFill>
                  <a:srgbClr val="434343"/>
                </a:solidFill>
                <a:latin typeface="Arial"/>
              </a:rPr>
              <a:t>Tie the strategy to this week's tasks.</a:t>
            </a:r>
          </a:p>
        </p:txBody>
      </p:sp>
      <p:cxnSp>
        <p:nvCxnSpPr>
          <p:cNvPr id="23" name="Line"/>
          <p:cNvCxnSpPr/>
          <p:nvPr/>
        </p:nvCxnSpPr>
        <p:spPr>
          <a:xfrm>
            <a:off x="3426256" y="2674620"/>
            <a:ext cx="630936" cy="0"/>
          </a:xfrm>
          <a:prstGeom prst="line">
            <a:avLst/>
          </a:prstGeom>
          <a:ln w="25400">
            <a:solidFill>
              <a:srgbClr val="28A019"/>
            </a:solidFill>
            <a:tailEnd type="triangle" w="med" len="med"/>
          </a:ln>
        </p:spPr>
      </p:cxnSp>
      <p:cxnSp>
        <p:nvCxnSpPr>
          <p:cNvPr id="24" name="Line"/>
          <p:cNvCxnSpPr/>
          <p:nvPr/>
        </p:nvCxnSpPr>
        <p:spPr>
          <a:xfrm>
            <a:off x="5501944" y="3410712"/>
            <a:ext cx="0" cy="813816"/>
          </a:xfrm>
          <a:prstGeom prst="line">
            <a:avLst/>
          </a:prstGeom>
          <a:ln w="25400">
            <a:solidFill>
              <a:srgbClr val="28A019"/>
            </a:solidFill>
            <a:tailEnd type="triangle" w="med" len="med"/>
          </a:ln>
        </p:spPr>
      </p:cxnSp>
      <p:cxnSp>
        <p:nvCxnSpPr>
          <p:cNvPr id="25" name="Line"/>
          <p:cNvCxnSpPr/>
          <p:nvPr/>
        </p:nvCxnSpPr>
        <p:spPr>
          <a:xfrm flipH="1">
            <a:off x="3426256" y="4960620"/>
            <a:ext cx="630936" cy="0"/>
          </a:xfrm>
          <a:prstGeom prst="line">
            <a:avLst/>
          </a:prstGeom>
          <a:ln w="25400">
            <a:solidFill>
              <a:srgbClr val="28A019"/>
            </a:solidFill>
            <a:tailEnd type="triangle" w="med" len="med"/>
          </a:ln>
        </p:spPr>
      </p:cxnSp>
      <p:cxnSp>
        <p:nvCxnSpPr>
          <p:cNvPr id="26" name="Line"/>
          <p:cNvCxnSpPr/>
          <p:nvPr/>
        </p:nvCxnSpPr>
        <p:spPr>
          <a:xfrm flipV="1">
            <a:off x="1981504" y="3410712"/>
            <a:ext cx="0" cy="813816"/>
          </a:xfrm>
          <a:prstGeom prst="line">
            <a:avLst/>
          </a:prstGeom>
          <a:ln w="25400">
            <a:solidFill>
              <a:srgbClr val="28A019"/>
            </a:solidFill>
            <a:tailEnd type="triangle" w="med" len="med"/>
          </a:ln>
        </p:spPr>
      </p:cxnSp>
      <p:sp>
        <p:nvSpPr>
          <p:cNvPr id="27" name="Text"/>
          <p:cNvSpPr txBox="1"/>
          <p:nvPr/>
        </p:nvSpPr>
        <p:spPr>
          <a:xfrm>
            <a:off x="2164384" y="3520440"/>
            <a:ext cx="3154679" cy="777240"/>
          </a:xfrm>
          <a:prstGeom prst="rect">
            <a:avLst/>
          </a:prstGeom>
          <a:noFill/>
        </p:spPr>
        <p:txBody>
          <a:bodyPr wrap="square" lIns="0" rIns="0" tIns="0" bIns="0" anchor="ctr">
            <a:noAutofit/>
          </a:bodyPr>
          <a:lstStyle/>
          <a:p>
            <a:pPr algn="ctr">
              <a:lnSpc>
                <a:spcPct val="110000"/>
              </a:lnSpc>
              <a:spcAft>
                <a:spcPts val="0"/>
              </a:spcAft>
            </a:pPr>
            <a:r>
              <a:rPr sz="1600" b="1" i="0">
                <a:solidFill>
                  <a:srgbClr val="1A1A1A"/>
                </a:solidFill>
                <a:latin typeface="Arial"/>
              </a:rPr>
              <a:t>Every week</a:t>
            </a:r>
          </a:p>
          <a:p>
            <a:pPr algn="ctr">
              <a:lnSpc>
                <a:spcPct val="110000"/>
              </a:lnSpc>
              <a:spcAft>
                <a:spcPts val="0"/>
              </a:spcAft>
            </a:pPr>
            <a:r>
              <a:rPr sz="1600" b="0" i="0">
                <a:solidFill>
                  <a:srgbClr val="1A1A1A"/>
                </a:solidFill>
                <a:latin typeface="Arial"/>
              </a:rPr>
              <a:t>One private 1:1 session</a:t>
            </a:r>
          </a:p>
        </p:txBody>
      </p:sp>
      <p:sp>
        <p:nvSpPr>
          <p:cNvPr id="28" name="Label"/>
          <p:cNvSpPr txBox="1"/>
          <p:nvPr/>
        </p:nvSpPr>
        <p:spPr>
          <a:xfrm>
            <a:off x="8076895" y="2011680"/>
            <a:ext cx="3504895"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6B6B6B"/>
                </a:solidFill>
                <a:latin typeface="Arial"/>
              </a:rPr>
              <a:t>WHAT MAKES IT STICK</a:t>
            </a:r>
          </a:p>
        </p:txBody>
      </p:sp>
      <p:pic>
        <p:nvPicPr>
          <p:cNvPr id="29" name="Icon clock" descr="clock-green7.png"/>
          <p:cNvPicPr>
            <a:picLocks noChangeAspect="1"/>
          </p:cNvPicPr>
          <p:nvPr/>
        </p:nvPicPr>
        <p:blipFill>
          <a:blip r:embed="rId3"/>
          <a:stretch>
            <a:fillRect/>
          </a:stretch>
        </p:blipFill>
        <p:spPr>
          <a:xfrm>
            <a:off x="8076895" y="2350008"/>
            <a:ext cx="274320" cy="274320"/>
          </a:xfrm>
          <a:prstGeom prst="rect">
            <a:avLst/>
          </a:prstGeom>
        </p:spPr>
      </p:pic>
      <p:sp>
        <p:nvSpPr>
          <p:cNvPr id="30" name="Text"/>
          <p:cNvSpPr txBox="1"/>
          <p:nvPr/>
        </p:nvSpPr>
        <p:spPr>
          <a:xfrm>
            <a:off x="8488375" y="2304288"/>
            <a:ext cx="3093415" cy="365760"/>
          </a:xfrm>
          <a:prstGeom prst="rect">
            <a:avLst/>
          </a:prstGeom>
          <a:noFill/>
        </p:spPr>
        <p:txBody>
          <a:bodyPr wrap="square" lIns="0" rIns="0" tIns="0" bIns="0" anchor="ctr">
            <a:noAutofit/>
          </a:bodyPr>
          <a:lstStyle/>
          <a:p>
            <a:pPr algn="l">
              <a:lnSpc>
                <a:spcPct val="110000"/>
              </a:lnSpc>
              <a:spcAft>
                <a:spcPts val="0"/>
              </a:spcAft>
            </a:pPr>
            <a:r>
              <a:rPr sz="1600" b="1" i="0">
                <a:solidFill>
                  <a:srgbClr val="1A1A1A"/>
                </a:solidFill>
                <a:latin typeface="Arial"/>
              </a:rPr>
              <a:t>10 to 15 minutes a week</a:t>
            </a:r>
          </a:p>
        </p:txBody>
      </p:sp>
      <p:pic>
        <p:nvPicPr>
          <p:cNvPr id="31" name="Icon lock" descr="lock-green7.png"/>
          <p:cNvPicPr>
            <a:picLocks noChangeAspect="1"/>
          </p:cNvPicPr>
          <p:nvPr/>
        </p:nvPicPr>
        <p:blipFill>
          <a:blip r:embed="rId4"/>
          <a:stretch>
            <a:fillRect/>
          </a:stretch>
        </p:blipFill>
        <p:spPr>
          <a:xfrm>
            <a:off x="8076895" y="2779776"/>
            <a:ext cx="274320" cy="274320"/>
          </a:xfrm>
          <a:prstGeom prst="rect">
            <a:avLst/>
          </a:prstGeom>
        </p:spPr>
      </p:pic>
      <p:sp>
        <p:nvSpPr>
          <p:cNvPr id="32" name="Text"/>
          <p:cNvSpPr txBox="1"/>
          <p:nvPr/>
        </p:nvSpPr>
        <p:spPr>
          <a:xfrm>
            <a:off x="8488375" y="2734056"/>
            <a:ext cx="3093415" cy="365760"/>
          </a:xfrm>
          <a:prstGeom prst="rect">
            <a:avLst/>
          </a:prstGeom>
          <a:noFill/>
        </p:spPr>
        <p:txBody>
          <a:bodyPr wrap="square" lIns="0" rIns="0" tIns="0" bIns="0" anchor="ctr">
            <a:noAutofit/>
          </a:bodyPr>
          <a:lstStyle/>
          <a:p>
            <a:pPr algn="l">
              <a:lnSpc>
                <a:spcPct val="110000"/>
              </a:lnSpc>
              <a:spcAft>
                <a:spcPts val="0"/>
              </a:spcAft>
            </a:pPr>
            <a:r>
              <a:rPr sz="1600" b="1" i="0">
                <a:solidFill>
                  <a:srgbClr val="1A1A1A"/>
                </a:solidFill>
                <a:latin typeface="Arial"/>
              </a:rPr>
              <a:t>Private and 1:1</a:t>
            </a:r>
          </a:p>
        </p:txBody>
      </p:sp>
      <p:pic>
        <p:nvPicPr>
          <p:cNvPr id="33" name="Icon messages-square" descr="messages-square-green7.png"/>
          <p:cNvPicPr>
            <a:picLocks noChangeAspect="1"/>
          </p:cNvPicPr>
          <p:nvPr/>
        </p:nvPicPr>
        <p:blipFill>
          <a:blip r:embed="rId5"/>
          <a:stretch>
            <a:fillRect/>
          </a:stretch>
        </p:blipFill>
        <p:spPr>
          <a:xfrm>
            <a:off x="8076895" y="3209544"/>
            <a:ext cx="274320" cy="274320"/>
          </a:xfrm>
          <a:prstGeom prst="rect">
            <a:avLst/>
          </a:prstGeom>
        </p:spPr>
      </p:pic>
      <p:sp>
        <p:nvSpPr>
          <p:cNvPr id="34" name="Text"/>
          <p:cNvSpPr txBox="1"/>
          <p:nvPr/>
        </p:nvSpPr>
        <p:spPr>
          <a:xfrm>
            <a:off x="8488375" y="3163824"/>
            <a:ext cx="3093415" cy="365760"/>
          </a:xfrm>
          <a:prstGeom prst="rect">
            <a:avLst/>
          </a:prstGeom>
          <a:noFill/>
        </p:spPr>
        <p:txBody>
          <a:bodyPr wrap="square" lIns="0" rIns="0" tIns="0" bIns="0" anchor="ctr">
            <a:noAutofit/>
          </a:bodyPr>
          <a:lstStyle/>
          <a:p>
            <a:pPr algn="l">
              <a:lnSpc>
                <a:spcPct val="110000"/>
              </a:lnSpc>
              <a:spcAft>
                <a:spcPts val="0"/>
              </a:spcAft>
            </a:pPr>
            <a:r>
              <a:rPr sz="1600" b="1" i="0">
                <a:solidFill>
                  <a:srgbClr val="1A1A1A"/>
                </a:solidFill>
                <a:latin typeface="Arial"/>
              </a:rPr>
              <a:t>Remembers context</a:t>
            </a:r>
          </a:p>
        </p:txBody>
      </p:sp>
      <p:pic>
        <p:nvPicPr>
          <p:cNvPr id="35" name="Icon sliders-horizontal" descr="sliders-horizontal-green7.png"/>
          <p:cNvPicPr>
            <a:picLocks noChangeAspect="1"/>
          </p:cNvPicPr>
          <p:nvPr/>
        </p:nvPicPr>
        <p:blipFill>
          <a:blip r:embed="rId6"/>
          <a:stretch>
            <a:fillRect/>
          </a:stretch>
        </p:blipFill>
        <p:spPr>
          <a:xfrm>
            <a:off x="8076895" y="3639311"/>
            <a:ext cx="274320" cy="274320"/>
          </a:xfrm>
          <a:prstGeom prst="rect">
            <a:avLst/>
          </a:prstGeom>
        </p:spPr>
      </p:pic>
      <p:sp>
        <p:nvSpPr>
          <p:cNvPr id="36" name="Text"/>
          <p:cNvSpPr txBox="1"/>
          <p:nvPr/>
        </p:nvSpPr>
        <p:spPr>
          <a:xfrm>
            <a:off x="8488375" y="3593591"/>
            <a:ext cx="3093415" cy="365760"/>
          </a:xfrm>
          <a:prstGeom prst="rect">
            <a:avLst/>
          </a:prstGeom>
          <a:noFill/>
        </p:spPr>
        <p:txBody>
          <a:bodyPr wrap="square" lIns="0" rIns="0" tIns="0" bIns="0" anchor="ctr">
            <a:noAutofit/>
          </a:bodyPr>
          <a:lstStyle/>
          <a:p>
            <a:pPr algn="l">
              <a:lnSpc>
                <a:spcPct val="110000"/>
              </a:lnSpc>
              <a:spcAft>
                <a:spcPts val="0"/>
              </a:spcAft>
            </a:pPr>
            <a:r>
              <a:rPr sz="1600" b="1" i="0">
                <a:solidFill>
                  <a:srgbClr val="1A1A1A"/>
                </a:solidFill>
                <a:latin typeface="Arial"/>
              </a:rPr>
              <a:t>A tone each person picks</a:t>
            </a:r>
          </a:p>
        </p:txBody>
      </p:sp>
      <p:sp>
        <p:nvSpPr>
          <p:cNvPr id="37" name="Label"/>
          <p:cNvSpPr txBox="1"/>
          <p:nvPr/>
        </p:nvSpPr>
        <p:spPr>
          <a:xfrm>
            <a:off x="8076895" y="4160520"/>
            <a:ext cx="3504895"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6B6B6B"/>
                </a:solidFill>
                <a:latin typeface="Arial"/>
              </a:rPr>
              <a:t>12 TO 24 WEEKS OF REINFORCEMENT</a:t>
            </a:r>
          </a:p>
        </p:txBody>
      </p:sp>
      <p:sp>
        <p:nvSpPr>
          <p:cNvPr id="38" name="Session"/>
          <p:cNvSpPr/>
          <p:nvPr/>
        </p:nvSpPr>
        <p:spPr>
          <a:xfrm>
            <a:off x="8095049" y="4727448"/>
            <a:ext cx="109728" cy="109728"/>
          </a:xfrm>
          <a:prstGeom prst="ellipse">
            <a:avLst/>
          </a:prstGeom>
          <a:solidFill>
            <a:srgbClr val="28A019"/>
          </a:solidFill>
          <a:ln>
            <a:noFill/>
          </a:ln>
          <a:effectLst/>
        </p:spPr>
        <p:txBody>
          <a:bodyPr rtlCol="0" anchor="ctr"/>
          <a:lstStyle/>
          <a:p>
            <a:pPr algn="ctr"/>
          </a:p>
        </p:txBody>
      </p:sp>
      <p:sp>
        <p:nvSpPr>
          <p:cNvPr id="39" name="Session"/>
          <p:cNvSpPr/>
          <p:nvPr/>
        </p:nvSpPr>
        <p:spPr>
          <a:xfrm>
            <a:off x="8241087" y="4727448"/>
            <a:ext cx="109728" cy="109728"/>
          </a:xfrm>
          <a:prstGeom prst="ellipse">
            <a:avLst/>
          </a:prstGeom>
          <a:solidFill>
            <a:srgbClr val="28A019"/>
          </a:solidFill>
          <a:ln>
            <a:noFill/>
          </a:ln>
          <a:effectLst/>
        </p:spPr>
        <p:txBody>
          <a:bodyPr rtlCol="0" anchor="ctr"/>
          <a:lstStyle/>
          <a:p>
            <a:pPr algn="ctr"/>
          </a:p>
        </p:txBody>
      </p:sp>
      <p:sp>
        <p:nvSpPr>
          <p:cNvPr id="40" name="Session"/>
          <p:cNvSpPr/>
          <p:nvPr/>
        </p:nvSpPr>
        <p:spPr>
          <a:xfrm>
            <a:off x="8387124" y="4727448"/>
            <a:ext cx="109728" cy="109728"/>
          </a:xfrm>
          <a:prstGeom prst="ellipse">
            <a:avLst/>
          </a:prstGeom>
          <a:solidFill>
            <a:srgbClr val="28A019"/>
          </a:solidFill>
          <a:ln>
            <a:noFill/>
          </a:ln>
          <a:effectLst/>
        </p:spPr>
        <p:txBody>
          <a:bodyPr rtlCol="0" anchor="ctr"/>
          <a:lstStyle/>
          <a:p>
            <a:pPr algn="ctr"/>
          </a:p>
        </p:txBody>
      </p:sp>
      <p:sp>
        <p:nvSpPr>
          <p:cNvPr id="41" name="Session"/>
          <p:cNvSpPr/>
          <p:nvPr/>
        </p:nvSpPr>
        <p:spPr>
          <a:xfrm>
            <a:off x="8533161" y="4727448"/>
            <a:ext cx="109728" cy="109728"/>
          </a:xfrm>
          <a:prstGeom prst="ellipse">
            <a:avLst/>
          </a:prstGeom>
          <a:solidFill>
            <a:srgbClr val="28A019"/>
          </a:solidFill>
          <a:ln>
            <a:noFill/>
          </a:ln>
          <a:effectLst/>
        </p:spPr>
        <p:txBody>
          <a:bodyPr rtlCol="0" anchor="ctr"/>
          <a:lstStyle/>
          <a:p>
            <a:pPr algn="ctr"/>
          </a:p>
        </p:txBody>
      </p:sp>
      <p:sp>
        <p:nvSpPr>
          <p:cNvPr id="42" name="Session"/>
          <p:cNvSpPr/>
          <p:nvPr/>
        </p:nvSpPr>
        <p:spPr>
          <a:xfrm>
            <a:off x="8679199" y="4727448"/>
            <a:ext cx="109728" cy="109728"/>
          </a:xfrm>
          <a:prstGeom prst="ellipse">
            <a:avLst/>
          </a:prstGeom>
          <a:solidFill>
            <a:srgbClr val="28A019"/>
          </a:solidFill>
          <a:ln>
            <a:noFill/>
          </a:ln>
          <a:effectLst/>
        </p:spPr>
        <p:txBody>
          <a:bodyPr rtlCol="0" anchor="ctr"/>
          <a:lstStyle/>
          <a:p>
            <a:pPr algn="ctr"/>
          </a:p>
        </p:txBody>
      </p:sp>
      <p:sp>
        <p:nvSpPr>
          <p:cNvPr id="43" name="Session"/>
          <p:cNvSpPr/>
          <p:nvPr/>
        </p:nvSpPr>
        <p:spPr>
          <a:xfrm>
            <a:off x="8825236" y="4727448"/>
            <a:ext cx="109728" cy="109728"/>
          </a:xfrm>
          <a:prstGeom prst="ellipse">
            <a:avLst/>
          </a:prstGeom>
          <a:solidFill>
            <a:srgbClr val="28A019"/>
          </a:solidFill>
          <a:ln>
            <a:noFill/>
          </a:ln>
          <a:effectLst/>
        </p:spPr>
        <p:txBody>
          <a:bodyPr rtlCol="0" anchor="ctr"/>
          <a:lstStyle/>
          <a:p>
            <a:pPr algn="ctr"/>
          </a:p>
        </p:txBody>
      </p:sp>
      <p:sp>
        <p:nvSpPr>
          <p:cNvPr id="44" name="Session"/>
          <p:cNvSpPr/>
          <p:nvPr/>
        </p:nvSpPr>
        <p:spPr>
          <a:xfrm>
            <a:off x="8971273" y="4727448"/>
            <a:ext cx="109728" cy="109728"/>
          </a:xfrm>
          <a:prstGeom prst="ellipse">
            <a:avLst/>
          </a:prstGeom>
          <a:solidFill>
            <a:srgbClr val="28A019"/>
          </a:solidFill>
          <a:ln>
            <a:noFill/>
          </a:ln>
          <a:effectLst/>
        </p:spPr>
        <p:txBody>
          <a:bodyPr rtlCol="0" anchor="ctr"/>
          <a:lstStyle/>
          <a:p>
            <a:pPr algn="ctr"/>
          </a:p>
        </p:txBody>
      </p:sp>
      <p:sp>
        <p:nvSpPr>
          <p:cNvPr id="45" name="Session"/>
          <p:cNvSpPr/>
          <p:nvPr/>
        </p:nvSpPr>
        <p:spPr>
          <a:xfrm>
            <a:off x="9117310" y="4727448"/>
            <a:ext cx="109728" cy="109728"/>
          </a:xfrm>
          <a:prstGeom prst="ellipse">
            <a:avLst/>
          </a:prstGeom>
          <a:solidFill>
            <a:srgbClr val="28A019"/>
          </a:solidFill>
          <a:ln>
            <a:noFill/>
          </a:ln>
          <a:effectLst/>
        </p:spPr>
        <p:txBody>
          <a:bodyPr rtlCol="0" anchor="ctr"/>
          <a:lstStyle/>
          <a:p>
            <a:pPr algn="ctr"/>
          </a:p>
        </p:txBody>
      </p:sp>
      <p:sp>
        <p:nvSpPr>
          <p:cNvPr id="46" name="Session"/>
          <p:cNvSpPr/>
          <p:nvPr/>
        </p:nvSpPr>
        <p:spPr>
          <a:xfrm>
            <a:off x="9263348" y="4727448"/>
            <a:ext cx="109728" cy="109728"/>
          </a:xfrm>
          <a:prstGeom prst="ellipse">
            <a:avLst/>
          </a:prstGeom>
          <a:solidFill>
            <a:srgbClr val="28A019"/>
          </a:solidFill>
          <a:ln>
            <a:noFill/>
          </a:ln>
          <a:effectLst/>
        </p:spPr>
        <p:txBody>
          <a:bodyPr rtlCol="0" anchor="ctr"/>
          <a:lstStyle/>
          <a:p>
            <a:pPr algn="ctr"/>
          </a:p>
        </p:txBody>
      </p:sp>
      <p:sp>
        <p:nvSpPr>
          <p:cNvPr id="47" name="Session"/>
          <p:cNvSpPr/>
          <p:nvPr/>
        </p:nvSpPr>
        <p:spPr>
          <a:xfrm>
            <a:off x="9409385" y="4727448"/>
            <a:ext cx="109728" cy="109728"/>
          </a:xfrm>
          <a:prstGeom prst="ellipse">
            <a:avLst/>
          </a:prstGeom>
          <a:solidFill>
            <a:srgbClr val="28A019"/>
          </a:solidFill>
          <a:ln>
            <a:noFill/>
          </a:ln>
          <a:effectLst/>
        </p:spPr>
        <p:txBody>
          <a:bodyPr rtlCol="0" anchor="ctr"/>
          <a:lstStyle/>
          <a:p>
            <a:pPr algn="ctr"/>
          </a:p>
        </p:txBody>
      </p:sp>
      <p:sp>
        <p:nvSpPr>
          <p:cNvPr id="48" name="Session"/>
          <p:cNvSpPr/>
          <p:nvPr/>
        </p:nvSpPr>
        <p:spPr>
          <a:xfrm>
            <a:off x="9555422" y="4727448"/>
            <a:ext cx="109728" cy="109728"/>
          </a:xfrm>
          <a:prstGeom prst="ellipse">
            <a:avLst/>
          </a:prstGeom>
          <a:solidFill>
            <a:srgbClr val="28A019"/>
          </a:solidFill>
          <a:ln>
            <a:noFill/>
          </a:ln>
          <a:effectLst/>
        </p:spPr>
        <p:txBody>
          <a:bodyPr rtlCol="0" anchor="ctr"/>
          <a:lstStyle/>
          <a:p>
            <a:pPr algn="ctr"/>
          </a:p>
        </p:txBody>
      </p:sp>
      <p:sp>
        <p:nvSpPr>
          <p:cNvPr id="49" name="Session"/>
          <p:cNvSpPr/>
          <p:nvPr/>
        </p:nvSpPr>
        <p:spPr>
          <a:xfrm>
            <a:off x="9701460" y="4727448"/>
            <a:ext cx="109728" cy="109728"/>
          </a:xfrm>
          <a:prstGeom prst="ellipse">
            <a:avLst/>
          </a:prstGeom>
          <a:solidFill>
            <a:srgbClr val="28A019"/>
          </a:solidFill>
          <a:ln>
            <a:noFill/>
          </a:ln>
          <a:effectLst/>
        </p:spPr>
        <p:txBody>
          <a:bodyPr rtlCol="0" anchor="ctr"/>
          <a:lstStyle/>
          <a:p>
            <a:pPr algn="ctr"/>
          </a:p>
        </p:txBody>
      </p:sp>
      <p:sp>
        <p:nvSpPr>
          <p:cNvPr id="50" name="Session"/>
          <p:cNvSpPr/>
          <p:nvPr/>
        </p:nvSpPr>
        <p:spPr>
          <a:xfrm>
            <a:off x="9847497" y="4727448"/>
            <a:ext cx="109728" cy="109728"/>
          </a:xfrm>
          <a:prstGeom prst="ellipse">
            <a:avLst/>
          </a:prstGeom>
          <a:noFill/>
          <a:ln w="15875">
            <a:solidFill>
              <a:srgbClr val="28A019"/>
            </a:solidFill>
          </a:ln>
          <a:effectLst/>
        </p:spPr>
        <p:txBody>
          <a:bodyPr rtlCol="0" anchor="ctr"/>
          <a:lstStyle/>
          <a:p>
            <a:pPr algn="ctr"/>
          </a:p>
        </p:txBody>
      </p:sp>
      <p:sp>
        <p:nvSpPr>
          <p:cNvPr id="51" name="Session"/>
          <p:cNvSpPr/>
          <p:nvPr/>
        </p:nvSpPr>
        <p:spPr>
          <a:xfrm>
            <a:off x="9993534" y="4727448"/>
            <a:ext cx="109728" cy="109728"/>
          </a:xfrm>
          <a:prstGeom prst="ellipse">
            <a:avLst/>
          </a:prstGeom>
          <a:noFill/>
          <a:ln w="15875">
            <a:solidFill>
              <a:srgbClr val="28A019"/>
            </a:solidFill>
          </a:ln>
          <a:effectLst/>
        </p:spPr>
        <p:txBody>
          <a:bodyPr rtlCol="0" anchor="ctr"/>
          <a:lstStyle/>
          <a:p>
            <a:pPr algn="ctr"/>
          </a:p>
        </p:txBody>
      </p:sp>
      <p:sp>
        <p:nvSpPr>
          <p:cNvPr id="52" name="Session"/>
          <p:cNvSpPr/>
          <p:nvPr/>
        </p:nvSpPr>
        <p:spPr>
          <a:xfrm>
            <a:off x="10139572" y="4727448"/>
            <a:ext cx="109728" cy="109728"/>
          </a:xfrm>
          <a:prstGeom prst="ellipse">
            <a:avLst/>
          </a:prstGeom>
          <a:noFill/>
          <a:ln w="15875">
            <a:solidFill>
              <a:srgbClr val="28A019"/>
            </a:solidFill>
          </a:ln>
          <a:effectLst/>
        </p:spPr>
        <p:txBody>
          <a:bodyPr rtlCol="0" anchor="ctr"/>
          <a:lstStyle/>
          <a:p>
            <a:pPr algn="ctr"/>
          </a:p>
        </p:txBody>
      </p:sp>
      <p:sp>
        <p:nvSpPr>
          <p:cNvPr id="53" name="Session"/>
          <p:cNvSpPr/>
          <p:nvPr/>
        </p:nvSpPr>
        <p:spPr>
          <a:xfrm>
            <a:off x="10285609" y="4727448"/>
            <a:ext cx="109728" cy="109728"/>
          </a:xfrm>
          <a:prstGeom prst="ellipse">
            <a:avLst/>
          </a:prstGeom>
          <a:noFill/>
          <a:ln w="15875">
            <a:solidFill>
              <a:srgbClr val="28A019"/>
            </a:solidFill>
          </a:ln>
          <a:effectLst/>
        </p:spPr>
        <p:txBody>
          <a:bodyPr rtlCol="0" anchor="ctr"/>
          <a:lstStyle/>
          <a:p>
            <a:pPr algn="ctr"/>
          </a:p>
        </p:txBody>
      </p:sp>
      <p:sp>
        <p:nvSpPr>
          <p:cNvPr id="54" name="Session"/>
          <p:cNvSpPr/>
          <p:nvPr/>
        </p:nvSpPr>
        <p:spPr>
          <a:xfrm>
            <a:off x="10431646" y="4727448"/>
            <a:ext cx="109728" cy="109728"/>
          </a:xfrm>
          <a:prstGeom prst="ellipse">
            <a:avLst/>
          </a:prstGeom>
          <a:noFill/>
          <a:ln w="15875">
            <a:solidFill>
              <a:srgbClr val="28A019"/>
            </a:solidFill>
          </a:ln>
          <a:effectLst/>
        </p:spPr>
        <p:txBody>
          <a:bodyPr rtlCol="0" anchor="ctr"/>
          <a:lstStyle/>
          <a:p>
            <a:pPr algn="ctr"/>
          </a:p>
        </p:txBody>
      </p:sp>
      <p:sp>
        <p:nvSpPr>
          <p:cNvPr id="55" name="Session"/>
          <p:cNvSpPr/>
          <p:nvPr/>
        </p:nvSpPr>
        <p:spPr>
          <a:xfrm>
            <a:off x="10577683" y="4727448"/>
            <a:ext cx="109728" cy="109728"/>
          </a:xfrm>
          <a:prstGeom prst="ellipse">
            <a:avLst/>
          </a:prstGeom>
          <a:noFill/>
          <a:ln w="15875">
            <a:solidFill>
              <a:srgbClr val="28A019"/>
            </a:solidFill>
          </a:ln>
          <a:effectLst/>
        </p:spPr>
        <p:txBody>
          <a:bodyPr rtlCol="0" anchor="ctr"/>
          <a:lstStyle/>
          <a:p>
            <a:pPr algn="ctr"/>
          </a:p>
        </p:txBody>
      </p:sp>
      <p:sp>
        <p:nvSpPr>
          <p:cNvPr id="56" name="Session"/>
          <p:cNvSpPr/>
          <p:nvPr/>
        </p:nvSpPr>
        <p:spPr>
          <a:xfrm>
            <a:off x="10723721" y="4727448"/>
            <a:ext cx="109728" cy="109728"/>
          </a:xfrm>
          <a:prstGeom prst="ellipse">
            <a:avLst/>
          </a:prstGeom>
          <a:noFill/>
          <a:ln w="15875">
            <a:solidFill>
              <a:srgbClr val="28A019"/>
            </a:solidFill>
          </a:ln>
          <a:effectLst/>
        </p:spPr>
        <p:txBody>
          <a:bodyPr rtlCol="0" anchor="ctr"/>
          <a:lstStyle/>
          <a:p>
            <a:pPr algn="ctr"/>
          </a:p>
        </p:txBody>
      </p:sp>
      <p:sp>
        <p:nvSpPr>
          <p:cNvPr id="57" name="Session"/>
          <p:cNvSpPr/>
          <p:nvPr/>
        </p:nvSpPr>
        <p:spPr>
          <a:xfrm>
            <a:off x="10869758" y="4727448"/>
            <a:ext cx="109728" cy="109728"/>
          </a:xfrm>
          <a:prstGeom prst="ellipse">
            <a:avLst/>
          </a:prstGeom>
          <a:noFill/>
          <a:ln w="15875">
            <a:solidFill>
              <a:srgbClr val="28A019"/>
            </a:solidFill>
          </a:ln>
          <a:effectLst/>
        </p:spPr>
        <p:txBody>
          <a:bodyPr rtlCol="0" anchor="ctr"/>
          <a:lstStyle/>
          <a:p>
            <a:pPr algn="ctr"/>
          </a:p>
        </p:txBody>
      </p:sp>
      <p:sp>
        <p:nvSpPr>
          <p:cNvPr id="58" name="Session"/>
          <p:cNvSpPr/>
          <p:nvPr/>
        </p:nvSpPr>
        <p:spPr>
          <a:xfrm>
            <a:off x="11015795" y="4727448"/>
            <a:ext cx="109728" cy="109728"/>
          </a:xfrm>
          <a:prstGeom prst="ellipse">
            <a:avLst/>
          </a:prstGeom>
          <a:noFill/>
          <a:ln w="15875">
            <a:solidFill>
              <a:srgbClr val="28A019"/>
            </a:solidFill>
          </a:ln>
          <a:effectLst/>
        </p:spPr>
        <p:txBody>
          <a:bodyPr rtlCol="0" anchor="ctr"/>
          <a:lstStyle/>
          <a:p>
            <a:pPr algn="ctr"/>
          </a:p>
        </p:txBody>
      </p:sp>
      <p:sp>
        <p:nvSpPr>
          <p:cNvPr id="59" name="Session"/>
          <p:cNvSpPr/>
          <p:nvPr/>
        </p:nvSpPr>
        <p:spPr>
          <a:xfrm>
            <a:off x="11161833" y="4727448"/>
            <a:ext cx="109728" cy="109728"/>
          </a:xfrm>
          <a:prstGeom prst="ellipse">
            <a:avLst/>
          </a:prstGeom>
          <a:noFill/>
          <a:ln w="15875">
            <a:solidFill>
              <a:srgbClr val="28A019"/>
            </a:solidFill>
          </a:ln>
          <a:effectLst/>
        </p:spPr>
        <p:txBody>
          <a:bodyPr rtlCol="0" anchor="ctr"/>
          <a:lstStyle/>
          <a:p>
            <a:pPr algn="ctr"/>
          </a:p>
        </p:txBody>
      </p:sp>
      <p:sp>
        <p:nvSpPr>
          <p:cNvPr id="60" name="Session"/>
          <p:cNvSpPr/>
          <p:nvPr/>
        </p:nvSpPr>
        <p:spPr>
          <a:xfrm>
            <a:off x="11307870" y="4727448"/>
            <a:ext cx="109728" cy="109728"/>
          </a:xfrm>
          <a:prstGeom prst="ellipse">
            <a:avLst/>
          </a:prstGeom>
          <a:noFill/>
          <a:ln w="15875">
            <a:solidFill>
              <a:srgbClr val="28A019"/>
            </a:solidFill>
          </a:ln>
          <a:effectLst/>
        </p:spPr>
        <p:txBody>
          <a:bodyPr rtlCol="0" anchor="ctr"/>
          <a:lstStyle/>
          <a:p>
            <a:pPr algn="ctr"/>
          </a:p>
        </p:txBody>
      </p:sp>
      <p:sp>
        <p:nvSpPr>
          <p:cNvPr id="61" name="Session"/>
          <p:cNvSpPr/>
          <p:nvPr/>
        </p:nvSpPr>
        <p:spPr>
          <a:xfrm>
            <a:off x="11453907" y="4727448"/>
            <a:ext cx="109728" cy="109728"/>
          </a:xfrm>
          <a:prstGeom prst="ellipse">
            <a:avLst/>
          </a:prstGeom>
          <a:noFill/>
          <a:ln w="15875">
            <a:solidFill>
              <a:srgbClr val="28A019"/>
            </a:solidFill>
          </a:ln>
          <a:effectLst/>
        </p:spPr>
        <p:txBody>
          <a:bodyPr rtlCol="0" anchor="ctr"/>
          <a:lstStyle/>
          <a:p>
            <a:pPr algn="ctr"/>
          </a:p>
        </p:txBody>
      </p:sp>
      <p:sp>
        <p:nvSpPr>
          <p:cNvPr id="62" name="Label"/>
          <p:cNvSpPr txBox="1"/>
          <p:nvPr/>
        </p:nvSpPr>
        <p:spPr>
          <a:xfrm>
            <a:off x="8076895" y="4462272"/>
            <a:ext cx="1752447"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1E7A13"/>
                </a:solidFill>
                <a:latin typeface="Arial"/>
              </a:rPr>
              <a:t>CORE · 12 WEEKS</a:t>
            </a:r>
          </a:p>
        </p:txBody>
      </p:sp>
      <p:sp>
        <p:nvSpPr>
          <p:cNvPr id="63" name="Label"/>
          <p:cNvSpPr txBox="1"/>
          <p:nvPr/>
        </p:nvSpPr>
        <p:spPr>
          <a:xfrm>
            <a:off x="9829342" y="4462272"/>
            <a:ext cx="1752447"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1E7A13"/>
                </a:solidFill>
                <a:latin typeface="Arial"/>
              </a:rPr>
              <a:t>EXTENDED · TO 24</a:t>
            </a:r>
          </a:p>
        </p:txBody>
      </p:sp>
      <p:sp>
        <p:nvSpPr>
          <p:cNvPr id="64" name="Label"/>
          <p:cNvSpPr txBox="1"/>
          <p:nvPr/>
        </p:nvSpPr>
        <p:spPr>
          <a:xfrm>
            <a:off x="8076895" y="4937759"/>
            <a:ext cx="731520" cy="201168"/>
          </a:xfrm>
          <a:prstGeom prst="rect">
            <a:avLst/>
          </a:prstGeom>
          <a:noFill/>
        </p:spPr>
        <p:txBody>
          <a:bodyPr wrap="square" lIns="0" rIns="0" tIns="0" bIns="0" anchor="t">
            <a:noAutofit/>
          </a:bodyPr>
          <a:lstStyle/>
          <a:p>
            <a:pPr algn="l">
              <a:lnSpc>
                <a:spcPct val="100000"/>
              </a:lnSpc>
              <a:spcAft>
                <a:spcPts val="0"/>
              </a:spcAft>
            </a:pPr>
            <a:r>
              <a:rPr sz="1100" b="0" i="0" spc="120">
                <a:solidFill>
                  <a:srgbClr val="6B6B6B"/>
                </a:solidFill>
                <a:latin typeface="Arial"/>
              </a:rPr>
              <a:t>WK 1</a:t>
            </a:r>
          </a:p>
        </p:txBody>
      </p:sp>
      <p:sp>
        <p:nvSpPr>
          <p:cNvPr id="65" name="Label"/>
          <p:cNvSpPr txBox="1"/>
          <p:nvPr/>
        </p:nvSpPr>
        <p:spPr>
          <a:xfrm>
            <a:off x="9390564" y="4937759"/>
            <a:ext cx="731520" cy="201168"/>
          </a:xfrm>
          <a:prstGeom prst="rect">
            <a:avLst/>
          </a:prstGeom>
          <a:noFill/>
        </p:spPr>
        <p:txBody>
          <a:bodyPr wrap="square" lIns="0" rIns="0" tIns="0" bIns="0" anchor="t">
            <a:noAutofit/>
          </a:bodyPr>
          <a:lstStyle/>
          <a:p>
            <a:pPr algn="ctr">
              <a:lnSpc>
                <a:spcPct val="100000"/>
              </a:lnSpc>
              <a:spcAft>
                <a:spcPts val="0"/>
              </a:spcAft>
            </a:pPr>
            <a:r>
              <a:rPr sz="1100" b="0" i="0" spc="120">
                <a:solidFill>
                  <a:srgbClr val="6B6B6B"/>
                </a:solidFill>
                <a:latin typeface="Arial"/>
              </a:rPr>
              <a:t>WK 12</a:t>
            </a:r>
          </a:p>
        </p:txBody>
      </p:sp>
      <p:sp>
        <p:nvSpPr>
          <p:cNvPr id="66" name="Label"/>
          <p:cNvSpPr txBox="1"/>
          <p:nvPr/>
        </p:nvSpPr>
        <p:spPr>
          <a:xfrm>
            <a:off x="10850270" y="4937759"/>
            <a:ext cx="731520" cy="201168"/>
          </a:xfrm>
          <a:prstGeom prst="rect">
            <a:avLst/>
          </a:prstGeom>
          <a:noFill/>
        </p:spPr>
        <p:txBody>
          <a:bodyPr wrap="square" lIns="0" rIns="0" tIns="0" bIns="0" anchor="t">
            <a:noAutofit/>
          </a:bodyPr>
          <a:lstStyle/>
          <a:p>
            <a:pPr algn="r">
              <a:lnSpc>
                <a:spcPct val="100000"/>
              </a:lnSpc>
              <a:spcAft>
                <a:spcPts val="0"/>
              </a:spcAft>
            </a:pPr>
            <a:r>
              <a:rPr sz="1100" b="0" i="0" spc="120">
                <a:solidFill>
                  <a:srgbClr val="6B6B6B"/>
                </a:solidFill>
                <a:latin typeface="Arial"/>
              </a:rPr>
              <a:t>WK 24</a:t>
            </a:r>
          </a:p>
        </p:txBody>
      </p:sp>
      <p:sp>
        <p:nvSpPr>
          <p:cNvPr id="67" name="Text"/>
          <p:cNvSpPr txBox="1"/>
          <p:nvPr/>
        </p:nvSpPr>
        <p:spPr>
          <a:xfrm>
            <a:off x="8076895" y="5349240"/>
            <a:ext cx="3504895" cy="640080"/>
          </a:xfrm>
          <a:prstGeom prst="rect">
            <a:avLst/>
          </a:prstGeom>
          <a:noFill/>
        </p:spPr>
        <p:txBody>
          <a:bodyPr wrap="square" lIns="0" rIns="0" tIns="0" bIns="0" anchor="t">
            <a:noAutofit/>
          </a:bodyPr>
          <a:lstStyle/>
          <a:p>
            <a:pPr algn="l">
              <a:lnSpc>
                <a:spcPct val="110000"/>
              </a:lnSpc>
              <a:spcAft>
                <a:spcPts val="0"/>
              </a:spcAft>
            </a:pPr>
            <a:r>
              <a:rPr sz="1600" b="1" i="0">
                <a:solidFill>
                  <a:srgbClr val="1A1A1A"/>
                </a:solidFill>
                <a:latin typeface="Arial"/>
              </a:rPr>
              <a:t>Small shifts, reinforced weekly, compound into new habits.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609904" y="457200"/>
            <a:ext cx="8171764"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1E7A13"/>
                </a:solidFill>
                <a:latin typeface="Arial"/>
              </a:rPr>
              <a:t>LAYER 03 · MEASURE</a:t>
            </a:r>
          </a:p>
        </p:txBody>
      </p:sp>
      <p:sp>
        <p:nvSpPr>
          <p:cNvPr id="3" name="Headline"/>
          <p:cNvSpPr txBox="1"/>
          <p:nvPr/>
        </p:nvSpPr>
        <p:spPr>
          <a:xfrm>
            <a:off x="609904" y="731520"/>
            <a:ext cx="10038511" cy="960120"/>
          </a:xfrm>
          <a:prstGeom prst="rect">
            <a:avLst/>
          </a:prstGeom>
          <a:noFill/>
        </p:spPr>
        <p:txBody>
          <a:bodyPr wrap="square" lIns="0" rIns="0" tIns="0" bIns="0" anchor="t">
            <a:noAutofit/>
          </a:bodyPr>
          <a:lstStyle/>
          <a:p>
            <a:pPr algn="l">
              <a:lnSpc>
                <a:spcPct val="100000"/>
              </a:lnSpc>
              <a:spcAft>
                <a:spcPts val="0"/>
              </a:spcAft>
            </a:pPr>
            <a:r>
              <a:rPr sz="3000" b="1" i="0">
                <a:solidFill>
                  <a:srgbClr val="1A1A1A"/>
                </a:solidFill>
                <a:latin typeface="Arial"/>
              </a:rPr>
              <a:t>Leaders get a weekly execution signal, not a quarterly snapshot.</a:t>
            </a:r>
          </a:p>
        </p:txBody>
      </p:sp>
      <p:pic>
        <p:nvPicPr>
          <p:cNvPr id="4" name="Picture 3" descr="logo-icon.png"/>
          <p:cNvPicPr>
            <a:picLocks noChangeAspect="1"/>
          </p:cNvPicPr>
          <p:nvPr/>
        </p:nvPicPr>
        <p:blipFill>
          <a:blip r:embed="rId2"/>
          <a:stretch>
            <a:fillRect/>
          </a:stretch>
        </p:blipFill>
        <p:spPr>
          <a:xfrm>
            <a:off x="609904" y="6382512"/>
            <a:ext cx="201168" cy="201168"/>
          </a:xfrm>
          <a:prstGeom prst="rect">
            <a:avLst/>
          </a:prstGeom>
        </p:spPr>
      </p:pic>
      <p:sp>
        <p:nvSpPr>
          <p:cNvPr id="5" name="Footer"/>
          <p:cNvSpPr txBox="1"/>
          <p:nvPr/>
        </p:nvSpPr>
        <p:spPr>
          <a:xfrm>
            <a:off x="902512" y="6382512"/>
            <a:ext cx="3657600" cy="201168"/>
          </a:xfrm>
          <a:prstGeom prst="rect">
            <a:avLst/>
          </a:prstGeom>
          <a:noFill/>
        </p:spPr>
        <p:txBody>
          <a:bodyPr wrap="square" lIns="0" rIns="0" tIns="0" bIns="0" anchor="ctr">
            <a:noAutofit/>
          </a:bodyPr>
          <a:lstStyle/>
          <a:p>
            <a:pPr algn="l">
              <a:lnSpc>
                <a:spcPct val="110000"/>
              </a:lnSpc>
              <a:spcAft>
                <a:spcPts val="0"/>
              </a:spcAft>
            </a:pPr>
            <a:r>
              <a:rPr sz="1100" b="0" i="0">
                <a:solidFill>
                  <a:srgbClr val="6B6B6B"/>
                </a:solidFill>
                <a:latin typeface="Arial"/>
              </a:rPr>
              <a:t>The Diagnose Conversation</a:t>
            </a:r>
          </a:p>
        </p:txBody>
      </p:sp>
      <p:sp>
        <p:nvSpPr>
          <p:cNvPr id="6" name="Page number"/>
          <p:cNvSpPr txBox="1"/>
          <p:nvPr/>
        </p:nvSpPr>
        <p:spPr>
          <a:xfrm>
            <a:off x="10210190" y="6382512"/>
            <a:ext cx="1371600" cy="201168"/>
          </a:xfrm>
          <a:prstGeom prst="rect">
            <a:avLst/>
          </a:prstGeom>
          <a:noFill/>
        </p:spPr>
        <p:txBody>
          <a:bodyPr wrap="square" lIns="0" rIns="0" tIns="0" bIns="0" anchor="ctr">
            <a:noAutofit/>
          </a:bodyPr>
          <a:lstStyle/>
          <a:p>
            <a:pPr algn="r">
              <a:lnSpc>
                <a:spcPct val="110000"/>
              </a:lnSpc>
              <a:spcAft>
                <a:spcPts val="0"/>
              </a:spcAft>
            </a:pPr>
            <a:r>
              <a:rPr sz="1100" b="0" i="0">
                <a:solidFill>
                  <a:srgbClr val="6B6B6B"/>
                </a:solidFill>
                <a:latin typeface="Arial"/>
              </a:rPr>
              <a:t>13 / 14</a:t>
            </a:r>
          </a:p>
        </p:txBody>
      </p:sp>
      <p:sp>
        <p:nvSpPr>
          <p:cNvPr id="7" name="Card"/>
          <p:cNvSpPr/>
          <p:nvPr/>
        </p:nvSpPr>
        <p:spPr>
          <a:xfrm>
            <a:off x="609904" y="1874519"/>
            <a:ext cx="10971885" cy="4297680"/>
          </a:xfrm>
          <a:prstGeom prst="roundRect">
            <a:avLst>
              <a:gd name="adj" fmla="val 2978"/>
            </a:avLst>
          </a:prstGeom>
          <a:solidFill>
            <a:srgbClr val="FFFFFF"/>
          </a:solidFill>
          <a:ln w="12700">
            <a:solidFill>
              <a:srgbClr val="E0E0E0"/>
            </a:solidFill>
          </a:ln>
          <a:effectLst/>
        </p:spPr>
        <p:txBody>
          <a:bodyPr rtlCol="0" anchor="ctr"/>
          <a:lstStyle/>
          <a:p>
            <a:pPr algn="ctr"/>
          </a:p>
        </p:txBody>
      </p:sp>
      <p:pic>
        <p:nvPicPr>
          <p:cNvPr id="8" name="Icon gauge" descr="gauge-green7.png"/>
          <p:cNvPicPr>
            <a:picLocks noChangeAspect="1"/>
          </p:cNvPicPr>
          <p:nvPr/>
        </p:nvPicPr>
        <p:blipFill>
          <a:blip r:embed="rId3"/>
          <a:stretch>
            <a:fillRect/>
          </a:stretch>
        </p:blipFill>
        <p:spPr>
          <a:xfrm>
            <a:off x="838504" y="2057400"/>
            <a:ext cx="274320" cy="274320"/>
          </a:xfrm>
          <a:prstGeom prst="rect">
            <a:avLst/>
          </a:prstGeom>
        </p:spPr>
      </p:pic>
      <p:sp>
        <p:nvSpPr>
          <p:cNvPr id="9" name="Text"/>
          <p:cNvSpPr txBox="1"/>
          <p:nvPr/>
        </p:nvSpPr>
        <p:spPr>
          <a:xfrm>
            <a:off x="1204264" y="2011679"/>
            <a:ext cx="2926080" cy="365760"/>
          </a:xfrm>
          <a:prstGeom prst="rect">
            <a:avLst/>
          </a:prstGeom>
          <a:noFill/>
        </p:spPr>
        <p:txBody>
          <a:bodyPr wrap="square" lIns="0" rIns="0" tIns="0" bIns="0" anchor="ctr">
            <a:noAutofit/>
          </a:bodyPr>
          <a:lstStyle/>
          <a:p>
            <a:pPr algn="l">
              <a:lnSpc>
                <a:spcPct val="110000"/>
              </a:lnSpc>
              <a:spcAft>
                <a:spcPts val="0"/>
              </a:spcAft>
            </a:pPr>
            <a:r>
              <a:rPr sz="1600" b="1" i="0">
                <a:solidFill>
                  <a:srgbClr val="1A1A1A"/>
                </a:solidFill>
                <a:latin typeface="Arial"/>
              </a:rPr>
              <a:t>Execution signal</a:t>
            </a:r>
            <a:r>
              <a:rPr sz="1100" b="0" i="0">
                <a:solidFill>
                  <a:srgbClr val="6B6B6B"/>
                </a:solidFill>
                <a:latin typeface="Arial"/>
              </a:rPr>
              <a:t>   Week 12 · all units</a:t>
            </a:r>
          </a:p>
        </p:txBody>
      </p:sp>
      <p:sp>
        <p:nvSpPr>
          <p:cNvPr id="10" name="Pill"/>
          <p:cNvSpPr/>
          <p:nvPr/>
        </p:nvSpPr>
        <p:spPr>
          <a:xfrm>
            <a:off x="10722254" y="2057400"/>
            <a:ext cx="630936" cy="274320"/>
          </a:xfrm>
          <a:prstGeom prst="roundRect">
            <a:avLst>
              <a:gd name="adj" fmla="val 50000"/>
            </a:avLst>
          </a:prstGeom>
          <a:solidFill>
            <a:srgbClr val="FFFFFF"/>
          </a:solidFill>
          <a:ln w="12700">
            <a:solidFill>
              <a:srgbClr val="E0E0E0"/>
            </a:solidFill>
          </a:ln>
          <a:effectLst/>
        </p:spPr>
        <p:txBody>
          <a:bodyPr rtlCol="0" anchor="ctr" wrap="square" lIns="0" rIns="0" tIns="0" bIns="0">
            <a:noAutofit/>
          </a:bodyPr>
          <a:lstStyle/>
          <a:p>
            <a:pPr algn="ctr">
              <a:lnSpc>
                <a:spcPct val="100000"/>
              </a:lnSpc>
              <a:spcAft>
                <a:spcPts val="0"/>
              </a:spcAft>
            </a:pPr>
            <a:r>
              <a:rPr sz="1100" b="0" i="0">
                <a:solidFill>
                  <a:srgbClr val="434343"/>
                </a:solidFill>
                <a:latin typeface="Arial"/>
              </a:rPr>
              <a:t>Role</a:t>
            </a:r>
          </a:p>
        </p:txBody>
      </p:sp>
      <p:sp>
        <p:nvSpPr>
          <p:cNvPr id="11" name="Pill"/>
          <p:cNvSpPr/>
          <p:nvPr/>
        </p:nvSpPr>
        <p:spPr>
          <a:xfrm>
            <a:off x="9844430" y="2057400"/>
            <a:ext cx="786384" cy="274320"/>
          </a:xfrm>
          <a:prstGeom prst="roundRect">
            <a:avLst>
              <a:gd name="adj" fmla="val 50000"/>
            </a:avLst>
          </a:prstGeom>
          <a:solidFill>
            <a:srgbClr val="FFFFFF"/>
          </a:solidFill>
          <a:ln w="12700">
            <a:solidFill>
              <a:srgbClr val="E0E0E0"/>
            </a:solidFill>
          </a:ln>
          <a:effectLst/>
        </p:spPr>
        <p:txBody>
          <a:bodyPr rtlCol="0" anchor="ctr" wrap="square" lIns="0" rIns="0" tIns="0" bIns="0">
            <a:noAutofit/>
          </a:bodyPr>
          <a:lstStyle/>
          <a:p>
            <a:pPr algn="ctr">
              <a:lnSpc>
                <a:spcPct val="100000"/>
              </a:lnSpc>
              <a:spcAft>
                <a:spcPts val="0"/>
              </a:spcAft>
            </a:pPr>
            <a:r>
              <a:rPr sz="1100" b="0" i="0">
                <a:solidFill>
                  <a:srgbClr val="434343"/>
                </a:solidFill>
                <a:latin typeface="Arial"/>
              </a:rPr>
              <a:t>Region</a:t>
            </a:r>
          </a:p>
        </p:txBody>
      </p:sp>
      <p:sp>
        <p:nvSpPr>
          <p:cNvPr id="12" name="Pill"/>
          <p:cNvSpPr/>
          <p:nvPr/>
        </p:nvSpPr>
        <p:spPr>
          <a:xfrm>
            <a:off x="8811158" y="2057400"/>
            <a:ext cx="941832" cy="274320"/>
          </a:xfrm>
          <a:prstGeom prst="roundRect">
            <a:avLst>
              <a:gd name="adj" fmla="val 50000"/>
            </a:avLst>
          </a:prstGeom>
          <a:solidFill>
            <a:srgbClr val="FFFFFF"/>
          </a:solidFill>
          <a:ln w="12700">
            <a:solidFill>
              <a:srgbClr val="E0E0E0"/>
            </a:solidFill>
          </a:ln>
          <a:effectLst/>
        </p:spPr>
        <p:txBody>
          <a:bodyPr rtlCol="0" anchor="ctr" wrap="square" lIns="0" rIns="0" tIns="0" bIns="0">
            <a:noAutofit/>
          </a:bodyPr>
          <a:lstStyle/>
          <a:p>
            <a:pPr algn="ctr">
              <a:lnSpc>
                <a:spcPct val="100000"/>
              </a:lnSpc>
              <a:spcAft>
                <a:spcPts val="0"/>
              </a:spcAft>
            </a:pPr>
            <a:r>
              <a:rPr sz="1100" b="0" i="0">
                <a:solidFill>
                  <a:srgbClr val="434343"/>
                </a:solidFill>
                <a:latin typeface="Arial"/>
              </a:rPr>
              <a:t>Function</a:t>
            </a:r>
          </a:p>
        </p:txBody>
      </p:sp>
      <p:sp>
        <p:nvSpPr>
          <p:cNvPr id="13" name="Pill"/>
          <p:cNvSpPr/>
          <p:nvPr/>
        </p:nvSpPr>
        <p:spPr>
          <a:xfrm>
            <a:off x="8088782" y="2057400"/>
            <a:ext cx="630936" cy="274320"/>
          </a:xfrm>
          <a:prstGeom prst="roundRect">
            <a:avLst>
              <a:gd name="adj" fmla="val 50000"/>
            </a:avLst>
          </a:prstGeom>
          <a:solidFill>
            <a:srgbClr val="FFFFFF"/>
          </a:solidFill>
          <a:ln w="12700">
            <a:solidFill>
              <a:srgbClr val="E0E0E0"/>
            </a:solidFill>
          </a:ln>
          <a:effectLst/>
        </p:spPr>
        <p:txBody>
          <a:bodyPr rtlCol="0" anchor="ctr" wrap="square" lIns="0" rIns="0" tIns="0" bIns="0">
            <a:noAutofit/>
          </a:bodyPr>
          <a:lstStyle/>
          <a:p>
            <a:pPr algn="ctr">
              <a:lnSpc>
                <a:spcPct val="100000"/>
              </a:lnSpc>
              <a:spcAft>
                <a:spcPts val="0"/>
              </a:spcAft>
            </a:pPr>
            <a:r>
              <a:rPr sz="1100" b="0" i="0">
                <a:solidFill>
                  <a:srgbClr val="434343"/>
                </a:solidFill>
                <a:latin typeface="Arial"/>
              </a:rPr>
              <a:t>Unit</a:t>
            </a:r>
          </a:p>
        </p:txBody>
      </p:sp>
      <p:sp>
        <p:nvSpPr>
          <p:cNvPr id="14" name="Badge"/>
          <p:cNvSpPr/>
          <p:nvPr/>
        </p:nvSpPr>
        <p:spPr>
          <a:xfrm>
            <a:off x="6259982" y="2075688"/>
            <a:ext cx="1600200" cy="237744"/>
          </a:xfrm>
          <a:prstGeom prst="roundRect">
            <a:avLst>
              <a:gd name="adj" fmla="val 50000"/>
            </a:avLst>
          </a:prstGeom>
          <a:solidFill>
            <a:srgbClr val="FFFFFF"/>
          </a:solidFill>
          <a:ln w="12700">
            <a:solidFill>
              <a:srgbClr val="6B6B6B"/>
            </a:solidFill>
          </a:ln>
          <a:effectLst/>
        </p:spPr>
        <p:txBody>
          <a:bodyPr rtlCol="0" anchor="ctr" wrap="square" lIns="0" rIns="0" tIns="0" bIns="0">
            <a:noAutofit/>
          </a:bodyPr>
          <a:lstStyle/>
          <a:p>
            <a:pPr algn="ctr">
              <a:lnSpc>
                <a:spcPct val="100000"/>
              </a:lnSpc>
              <a:spcAft>
                <a:spcPts val="0"/>
              </a:spcAft>
            </a:pPr>
            <a:r>
              <a:rPr sz="900" b="1" i="0" spc="100">
                <a:solidFill>
                  <a:srgbClr val="6B6B6B"/>
                </a:solidFill>
                <a:latin typeface="Arial"/>
              </a:rPr>
              <a:t>ILLUSTRATIVE DATA</a:t>
            </a:r>
          </a:p>
        </p:txBody>
      </p:sp>
      <p:cxnSp>
        <p:nvCxnSpPr>
          <p:cNvPr id="15" name="Line"/>
          <p:cNvCxnSpPr/>
          <p:nvPr/>
        </p:nvCxnSpPr>
        <p:spPr>
          <a:xfrm>
            <a:off x="609904" y="2496312"/>
            <a:ext cx="10971886" cy="0"/>
          </a:xfrm>
          <a:prstGeom prst="line">
            <a:avLst/>
          </a:prstGeom>
          <a:ln w="12700">
            <a:solidFill>
              <a:srgbClr val="E0E0E0"/>
            </a:solidFill>
          </a:ln>
        </p:spPr>
      </p:cxnSp>
      <p:sp>
        <p:nvSpPr>
          <p:cNvPr id="16" name="Label"/>
          <p:cNvSpPr txBox="1"/>
          <p:nvPr/>
        </p:nvSpPr>
        <p:spPr>
          <a:xfrm>
            <a:off x="884224" y="2743200"/>
            <a:ext cx="2103120"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6B6B6B"/>
                </a:solidFill>
                <a:latin typeface="Arial"/>
              </a:rPr>
              <a:t>CHAMPION SHARE</a:t>
            </a:r>
          </a:p>
        </p:txBody>
      </p:sp>
      <p:sp>
        <p:nvSpPr>
          <p:cNvPr id="17" name="Text"/>
          <p:cNvSpPr txBox="1"/>
          <p:nvPr/>
        </p:nvSpPr>
        <p:spPr>
          <a:xfrm>
            <a:off x="884224" y="2944368"/>
            <a:ext cx="2103120" cy="502920"/>
          </a:xfrm>
          <a:prstGeom prst="rect">
            <a:avLst/>
          </a:prstGeom>
          <a:noFill/>
        </p:spPr>
        <p:txBody>
          <a:bodyPr wrap="square" lIns="0" rIns="0" tIns="0" bIns="0" anchor="t">
            <a:noAutofit/>
          </a:bodyPr>
          <a:lstStyle/>
          <a:p>
            <a:pPr algn="l">
              <a:lnSpc>
                <a:spcPct val="110000"/>
              </a:lnSpc>
              <a:spcAft>
                <a:spcPts val="0"/>
              </a:spcAft>
            </a:pPr>
            <a:r>
              <a:rPr sz="3000" b="1" i="0">
                <a:solidFill>
                  <a:srgbClr val="1A1A1A"/>
                </a:solidFill>
                <a:latin typeface="Arial"/>
              </a:rPr>
              <a:t>41%</a:t>
            </a:r>
          </a:p>
        </p:txBody>
      </p:sp>
      <p:sp>
        <p:nvSpPr>
          <p:cNvPr id="18" name="Text"/>
          <p:cNvSpPr txBox="1"/>
          <p:nvPr/>
        </p:nvSpPr>
        <p:spPr>
          <a:xfrm>
            <a:off x="884224" y="3456432"/>
            <a:ext cx="2103120" cy="274320"/>
          </a:xfrm>
          <a:prstGeom prst="rect">
            <a:avLst/>
          </a:prstGeom>
          <a:noFill/>
        </p:spPr>
        <p:txBody>
          <a:bodyPr wrap="square" lIns="0" rIns="0" tIns="0" bIns="0" anchor="t">
            <a:noAutofit/>
          </a:bodyPr>
          <a:lstStyle/>
          <a:p>
            <a:pPr algn="l">
              <a:lnSpc>
                <a:spcPct val="110000"/>
              </a:lnSpc>
              <a:spcAft>
                <a:spcPts val="0"/>
              </a:spcAft>
            </a:pPr>
            <a:r>
              <a:rPr sz="1100" b="1" i="0">
                <a:solidFill>
                  <a:srgbClr val="1E7A13"/>
                </a:solidFill>
                <a:latin typeface="Arial"/>
              </a:rPr>
              <a:t>▲ 6 pts since week 1</a:t>
            </a:r>
          </a:p>
        </p:txBody>
      </p:sp>
      <p:sp>
        <p:nvSpPr>
          <p:cNvPr id="19" name="Label"/>
          <p:cNvSpPr txBox="1"/>
          <p:nvPr/>
        </p:nvSpPr>
        <p:spPr>
          <a:xfrm>
            <a:off x="884224" y="3858768"/>
            <a:ext cx="2103120"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6B6B6B"/>
                </a:solidFill>
                <a:latin typeface="Arial"/>
              </a:rPr>
              <a:t>HOTSPOTS</a:t>
            </a:r>
          </a:p>
        </p:txBody>
      </p:sp>
      <p:sp>
        <p:nvSpPr>
          <p:cNvPr id="20" name="Text"/>
          <p:cNvSpPr txBox="1"/>
          <p:nvPr/>
        </p:nvSpPr>
        <p:spPr>
          <a:xfrm>
            <a:off x="884224" y="4059935"/>
            <a:ext cx="2103120" cy="502920"/>
          </a:xfrm>
          <a:prstGeom prst="rect">
            <a:avLst/>
          </a:prstGeom>
          <a:noFill/>
        </p:spPr>
        <p:txBody>
          <a:bodyPr wrap="square" lIns="0" rIns="0" tIns="0" bIns="0" anchor="t">
            <a:noAutofit/>
          </a:bodyPr>
          <a:lstStyle/>
          <a:p>
            <a:pPr algn="l">
              <a:lnSpc>
                <a:spcPct val="110000"/>
              </a:lnSpc>
              <a:spcAft>
                <a:spcPts val="0"/>
              </a:spcAft>
            </a:pPr>
            <a:r>
              <a:rPr sz="3000" b="1" i="0">
                <a:solidFill>
                  <a:srgbClr val="1A1A1A"/>
                </a:solidFill>
                <a:latin typeface="Arial"/>
              </a:rPr>
              <a:t>1</a:t>
            </a:r>
          </a:p>
        </p:txBody>
      </p:sp>
      <p:sp>
        <p:nvSpPr>
          <p:cNvPr id="21" name="Text"/>
          <p:cNvSpPr txBox="1"/>
          <p:nvPr/>
        </p:nvSpPr>
        <p:spPr>
          <a:xfrm>
            <a:off x="884224" y="4572000"/>
            <a:ext cx="2103120" cy="274320"/>
          </a:xfrm>
          <a:prstGeom prst="rect">
            <a:avLst/>
          </a:prstGeom>
          <a:noFill/>
        </p:spPr>
        <p:txBody>
          <a:bodyPr wrap="square" lIns="0" rIns="0" tIns="0" bIns="0" anchor="t">
            <a:noAutofit/>
          </a:bodyPr>
          <a:lstStyle/>
          <a:p>
            <a:pPr algn="l">
              <a:lnSpc>
                <a:spcPct val="110000"/>
              </a:lnSpc>
              <a:spcAft>
                <a:spcPts val="0"/>
              </a:spcAft>
            </a:pPr>
            <a:r>
              <a:rPr sz="1100" b="0" i="0">
                <a:solidFill>
                  <a:srgbClr val="434343"/>
                </a:solidFill>
                <a:latin typeface="Arial"/>
              </a:rPr>
              <a:t>Customer Service</a:t>
            </a:r>
          </a:p>
        </p:txBody>
      </p:sp>
      <p:sp>
        <p:nvSpPr>
          <p:cNvPr id="22" name="Label"/>
          <p:cNvSpPr txBox="1"/>
          <p:nvPr/>
        </p:nvSpPr>
        <p:spPr>
          <a:xfrm>
            <a:off x="884224" y="4974336"/>
            <a:ext cx="2103120"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6B6B6B"/>
                </a:solidFill>
                <a:latin typeface="Arial"/>
              </a:rPr>
              <a:t>PARTICIPATION</a:t>
            </a:r>
          </a:p>
        </p:txBody>
      </p:sp>
      <p:sp>
        <p:nvSpPr>
          <p:cNvPr id="23" name="Text"/>
          <p:cNvSpPr txBox="1"/>
          <p:nvPr/>
        </p:nvSpPr>
        <p:spPr>
          <a:xfrm>
            <a:off x="884224" y="5175503"/>
            <a:ext cx="2103120" cy="502920"/>
          </a:xfrm>
          <a:prstGeom prst="rect">
            <a:avLst/>
          </a:prstGeom>
          <a:noFill/>
        </p:spPr>
        <p:txBody>
          <a:bodyPr wrap="square" lIns="0" rIns="0" tIns="0" bIns="0" anchor="t">
            <a:noAutofit/>
          </a:bodyPr>
          <a:lstStyle/>
          <a:p>
            <a:pPr algn="l">
              <a:lnSpc>
                <a:spcPct val="110000"/>
              </a:lnSpc>
              <a:spcAft>
                <a:spcPts val="0"/>
              </a:spcAft>
            </a:pPr>
            <a:r>
              <a:rPr sz="3000" b="1" i="0">
                <a:solidFill>
                  <a:srgbClr val="1A1A1A"/>
                </a:solidFill>
                <a:latin typeface="Arial"/>
              </a:rPr>
              <a:t>78%</a:t>
            </a:r>
          </a:p>
        </p:txBody>
      </p:sp>
      <p:sp>
        <p:nvSpPr>
          <p:cNvPr id="24" name="Text"/>
          <p:cNvSpPr txBox="1"/>
          <p:nvPr/>
        </p:nvSpPr>
        <p:spPr>
          <a:xfrm>
            <a:off x="884224" y="5687568"/>
            <a:ext cx="2103120" cy="274320"/>
          </a:xfrm>
          <a:prstGeom prst="rect">
            <a:avLst/>
          </a:prstGeom>
          <a:noFill/>
        </p:spPr>
        <p:txBody>
          <a:bodyPr wrap="square" lIns="0" rIns="0" tIns="0" bIns="0" anchor="t">
            <a:noAutofit/>
          </a:bodyPr>
          <a:lstStyle/>
          <a:p>
            <a:pPr algn="l">
              <a:lnSpc>
                <a:spcPct val="110000"/>
              </a:lnSpc>
              <a:spcAft>
                <a:spcPts val="0"/>
              </a:spcAft>
            </a:pPr>
            <a:r>
              <a:rPr sz="1100" b="0" i="0">
                <a:solidFill>
                  <a:srgbClr val="434343"/>
                </a:solidFill>
                <a:latin typeface="Arial"/>
              </a:rPr>
              <a:t>of invited employees</a:t>
            </a:r>
          </a:p>
        </p:txBody>
      </p:sp>
      <p:sp>
        <p:nvSpPr>
          <p:cNvPr id="25" name="Label"/>
          <p:cNvSpPr txBox="1"/>
          <p:nvPr/>
        </p:nvSpPr>
        <p:spPr>
          <a:xfrm>
            <a:off x="3170224" y="2651760"/>
            <a:ext cx="2743200"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6B6B6B"/>
                </a:solidFill>
                <a:latin typeface="Arial"/>
              </a:rPr>
              <a:t>CCI+2 LEVEL BY COHORT</a:t>
            </a:r>
          </a:p>
        </p:txBody>
      </p:sp>
      <p:graphicFrame>
        <p:nvGraphicFramePr>
          <p:cNvPr id="26" name="Chart CCI+2 trend"/>
          <p:cNvGraphicFramePr>
            <a:graphicFrameLocks noGrp="1"/>
          </p:cNvGraphicFramePr>
          <p:nvPr/>
        </p:nvGraphicFramePr>
        <p:xfrm>
          <a:off x="3124504" y="2880360"/>
          <a:ext cx="5212080" cy="3063240"/>
        </p:xfrm>
        <a:graphic>
          <a:graphicData uri="http://schemas.openxmlformats.org/drawingml/2006/chart">
            <c:chart xmlns:c="http://schemas.openxmlformats.org/drawingml/2006/chart" r:id="rId4"/>
          </a:graphicData>
        </a:graphic>
      </p:graphicFrame>
      <p:sp>
        <p:nvSpPr>
          <p:cNvPr id="27" name="Text"/>
          <p:cNvSpPr txBox="1"/>
          <p:nvPr/>
        </p:nvSpPr>
        <p:spPr>
          <a:xfrm>
            <a:off x="7299655" y="3116823"/>
            <a:ext cx="1280160" cy="237744"/>
          </a:xfrm>
          <a:prstGeom prst="rect">
            <a:avLst/>
          </a:prstGeom>
          <a:noFill/>
        </p:spPr>
        <p:txBody>
          <a:bodyPr wrap="square" lIns="0" rIns="0" tIns="0" bIns="0" anchor="ctr">
            <a:noAutofit/>
          </a:bodyPr>
          <a:lstStyle/>
          <a:p>
            <a:pPr algn="l">
              <a:lnSpc>
                <a:spcPct val="110000"/>
              </a:lnSpc>
              <a:spcAft>
                <a:spcPts val="0"/>
              </a:spcAft>
            </a:pPr>
            <a:r>
              <a:rPr sz="1100" b="0" i="0">
                <a:solidFill>
                  <a:srgbClr val="6B6B6B"/>
                </a:solidFill>
                <a:latin typeface="Arial"/>
              </a:rPr>
              <a:t>Tech &amp; Data</a:t>
            </a:r>
          </a:p>
        </p:txBody>
      </p:sp>
      <p:sp>
        <p:nvSpPr>
          <p:cNvPr id="28" name="Text"/>
          <p:cNvSpPr txBox="1"/>
          <p:nvPr/>
        </p:nvSpPr>
        <p:spPr>
          <a:xfrm>
            <a:off x="7299655" y="3709560"/>
            <a:ext cx="1280160" cy="237744"/>
          </a:xfrm>
          <a:prstGeom prst="rect">
            <a:avLst/>
          </a:prstGeom>
          <a:noFill/>
        </p:spPr>
        <p:txBody>
          <a:bodyPr wrap="square" lIns="0" rIns="0" tIns="0" bIns="0" anchor="ctr">
            <a:noAutofit/>
          </a:bodyPr>
          <a:lstStyle/>
          <a:p>
            <a:pPr algn="l">
              <a:lnSpc>
                <a:spcPct val="110000"/>
              </a:lnSpc>
              <a:spcAft>
                <a:spcPts val="0"/>
              </a:spcAft>
            </a:pPr>
            <a:r>
              <a:rPr sz="1100" b="0" i="0">
                <a:solidFill>
                  <a:srgbClr val="6B6B6B"/>
                </a:solidFill>
                <a:latin typeface="Arial"/>
              </a:rPr>
              <a:t>Sales</a:t>
            </a:r>
          </a:p>
        </p:txBody>
      </p:sp>
      <p:sp>
        <p:nvSpPr>
          <p:cNvPr id="29" name="Text"/>
          <p:cNvSpPr txBox="1"/>
          <p:nvPr/>
        </p:nvSpPr>
        <p:spPr>
          <a:xfrm>
            <a:off x="7299655" y="3972999"/>
            <a:ext cx="1280160" cy="237744"/>
          </a:xfrm>
          <a:prstGeom prst="rect">
            <a:avLst/>
          </a:prstGeom>
          <a:noFill/>
        </p:spPr>
        <p:txBody>
          <a:bodyPr wrap="square" lIns="0" rIns="0" tIns="0" bIns="0" anchor="ctr">
            <a:noAutofit/>
          </a:bodyPr>
          <a:lstStyle/>
          <a:p>
            <a:pPr algn="l">
              <a:lnSpc>
                <a:spcPct val="110000"/>
              </a:lnSpc>
              <a:spcAft>
                <a:spcPts val="0"/>
              </a:spcAft>
            </a:pPr>
            <a:r>
              <a:rPr sz="1100" b="1" i="0">
                <a:solidFill>
                  <a:srgbClr val="1E7A13"/>
                </a:solidFill>
                <a:latin typeface="Arial"/>
              </a:rPr>
              <a:t>Claims</a:t>
            </a:r>
          </a:p>
        </p:txBody>
      </p:sp>
      <p:sp>
        <p:nvSpPr>
          <p:cNvPr id="30" name="Text"/>
          <p:cNvSpPr txBox="1"/>
          <p:nvPr/>
        </p:nvSpPr>
        <p:spPr>
          <a:xfrm>
            <a:off x="7299655" y="5356052"/>
            <a:ext cx="1280160" cy="237744"/>
          </a:xfrm>
          <a:prstGeom prst="rect">
            <a:avLst/>
          </a:prstGeom>
          <a:noFill/>
        </p:spPr>
        <p:txBody>
          <a:bodyPr wrap="square" lIns="0" rIns="0" tIns="0" bIns="0" anchor="ctr">
            <a:noAutofit/>
          </a:bodyPr>
          <a:lstStyle/>
          <a:p>
            <a:pPr algn="l">
              <a:lnSpc>
                <a:spcPct val="110000"/>
              </a:lnSpc>
              <a:spcAft>
                <a:spcPts val="0"/>
              </a:spcAft>
            </a:pPr>
            <a:r>
              <a:rPr sz="1100" b="1" i="0">
                <a:solidFill>
                  <a:srgbClr val="1A1A1A"/>
                </a:solidFill>
                <a:latin typeface="Arial"/>
              </a:rPr>
              <a:t>Customer Svc</a:t>
            </a:r>
          </a:p>
        </p:txBody>
      </p:sp>
      <p:sp>
        <p:nvSpPr>
          <p:cNvPr id="31" name="Pin claims"/>
          <p:cNvSpPr/>
          <p:nvPr/>
        </p:nvSpPr>
        <p:spPr>
          <a:xfrm>
            <a:off x="5212994" y="4781603"/>
            <a:ext cx="201168" cy="201168"/>
          </a:xfrm>
          <a:prstGeom prst="ellipse">
            <a:avLst/>
          </a:prstGeom>
          <a:solidFill>
            <a:srgbClr val="FFFFFF"/>
          </a:solidFill>
          <a:ln w="28575">
            <a:solidFill>
              <a:srgbClr val="28A019"/>
            </a:solidFill>
          </a:ln>
          <a:effectLst/>
        </p:spPr>
        <p:txBody>
          <a:bodyPr rtlCol="0" anchor="ctr"/>
          <a:lstStyle/>
          <a:p>
            <a:pPr algn="ctr"/>
          </a:p>
        </p:txBody>
      </p:sp>
      <p:sp>
        <p:nvSpPr>
          <p:cNvPr id="32" name="Text"/>
          <p:cNvSpPr txBox="1"/>
          <p:nvPr/>
        </p:nvSpPr>
        <p:spPr>
          <a:xfrm>
            <a:off x="3484778" y="4553003"/>
            <a:ext cx="1691640" cy="219456"/>
          </a:xfrm>
          <a:prstGeom prst="rect">
            <a:avLst/>
          </a:prstGeom>
          <a:noFill/>
        </p:spPr>
        <p:txBody>
          <a:bodyPr wrap="square" lIns="0" rIns="0" tIns="0" bIns="0" anchor="t">
            <a:noAutofit/>
          </a:bodyPr>
          <a:lstStyle/>
          <a:p>
            <a:pPr algn="r">
              <a:lnSpc>
                <a:spcPct val="110000"/>
              </a:lnSpc>
              <a:spcAft>
                <a:spcPts val="0"/>
              </a:spcAft>
            </a:pPr>
            <a:r>
              <a:rPr sz="1100" b="1" i="0">
                <a:solidFill>
                  <a:srgbClr val="1E7A13"/>
                </a:solidFill>
                <a:latin typeface="Arial"/>
              </a:rPr>
              <a:t>Incentive fixed, wk 6</a:t>
            </a:r>
          </a:p>
        </p:txBody>
      </p:sp>
      <p:sp>
        <p:nvSpPr>
          <p:cNvPr id="33" name="Pin CS"/>
          <p:cNvSpPr/>
          <p:nvPr/>
        </p:nvSpPr>
        <p:spPr>
          <a:xfrm>
            <a:off x="7089343" y="5374340"/>
            <a:ext cx="201168" cy="201168"/>
          </a:xfrm>
          <a:prstGeom prst="ellipse">
            <a:avLst/>
          </a:prstGeom>
          <a:solidFill>
            <a:srgbClr val="FFFFFF"/>
          </a:solidFill>
          <a:ln w="28575">
            <a:solidFill>
              <a:srgbClr val="1A1A1A"/>
            </a:solidFill>
          </a:ln>
          <a:effectLst/>
        </p:spPr>
        <p:txBody>
          <a:bodyPr rtlCol="0" anchor="ctr"/>
          <a:lstStyle/>
          <a:p>
            <a:pPr algn="ctr"/>
          </a:p>
        </p:txBody>
      </p:sp>
      <p:sp>
        <p:nvSpPr>
          <p:cNvPr id="34" name="Label"/>
          <p:cNvSpPr txBox="1"/>
          <p:nvPr/>
        </p:nvSpPr>
        <p:spPr>
          <a:xfrm>
            <a:off x="8610904" y="2743200"/>
            <a:ext cx="2696565"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6B6B6B"/>
                </a:solidFill>
                <a:latin typeface="Arial"/>
              </a:rPr>
              <a:t>SIGNALS THIS WEEK</a:t>
            </a:r>
          </a:p>
        </p:txBody>
      </p:sp>
      <p:sp>
        <p:nvSpPr>
          <p:cNvPr id="35" name="Card"/>
          <p:cNvSpPr/>
          <p:nvPr/>
        </p:nvSpPr>
        <p:spPr>
          <a:xfrm>
            <a:off x="8610904" y="3063239"/>
            <a:ext cx="2696565" cy="1298448"/>
          </a:xfrm>
          <a:prstGeom prst="roundRect">
            <a:avLst>
              <a:gd name="adj" fmla="val 8450"/>
            </a:avLst>
          </a:prstGeom>
          <a:solidFill>
            <a:srgbClr val="F4F4F4"/>
          </a:solidFill>
          <a:ln>
            <a:noFill/>
          </a:ln>
          <a:effectLst/>
        </p:spPr>
        <p:txBody>
          <a:bodyPr rtlCol="0" anchor="ctr"/>
          <a:lstStyle/>
          <a:p>
            <a:pPr algn="ctr"/>
          </a:p>
        </p:txBody>
      </p:sp>
      <p:pic>
        <p:nvPicPr>
          <p:cNvPr id="36" name="Icon triangle-alert" descr="triangle-alert-ink.png"/>
          <p:cNvPicPr>
            <a:picLocks noChangeAspect="1"/>
          </p:cNvPicPr>
          <p:nvPr/>
        </p:nvPicPr>
        <p:blipFill>
          <a:blip r:embed="rId5"/>
          <a:stretch>
            <a:fillRect/>
          </a:stretch>
        </p:blipFill>
        <p:spPr>
          <a:xfrm>
            <a:off x="8793784" y="3246120"/>
            <a:ext cx="274320" cy="274320"/>
          </a:xfrm>
          <a:prstGeom prst="rect">
            <a:avLst/>
          </a:prstGeom>
        </p:spPr>
      </p:pic>
      <p:sp>
        <p:nvSpPr>
          <p:cNvPr id="37" name="Text"/>
          <p:cNvSpPr txBox="1"/>
          <p:nvPr/>
        </p:nvSpPr>
        <p:spPr>
          <a:xfrm>
            <a:off x="9159544" y="3227832"/>
            <a:ext cx="2010765" cy="292608"/>
          </a:xfrm>
          <a:prstGeom prst="rect">
            <a:avLst/>
          </a:prstGeom>
          <a:noFill/>
        </p:spPr>
        <p:txBody>
          <a:bodyPr wrap="square" lIns="0" rIns="0" tIns="0" bIns="0" anchor="ctr">
            <a:noAutofit/>
          </a:bodyPr>
          <a:lstStyle/>
          <a:p>
            <a:pPr algn="l">
              <a:lnSpc>
                <a:spcPct val="110000"/>
              </a:lnSpc>
              <a:spcAft>
                <a:spcPts val="0"/>
              </a:spcAft>
            </a:pPr>
            <a:r>
              <a:rPr sz="1600" b="1" i="0">
                <a:solidFill>
                  <a:srgbClr val="1A1A1A"/>
                </a:solidFill>
                <a:latin typeface="Arial"/>
              </a:rPr>
              <a:t>Customer Service</a:t>
            </a:r>
          </a:p>
        </p:txBody>
      </p:sp>
      <p:sp>
        <p:nvSpPr>
          <p:cNvPr id="38" name="Text"/>
          <p:cNvSpPr txBox="1"/>
          <p:nvPr/>
        </p:nvSpPr>
        <p:spPr>
          <a:xfrm>
            <a:off x="8793784" y="3593591"/>
            <a:ext cx="2376525" cy="731520"/>
          </a:xfrm>
          <a:prstGeom prst="rect">
            <a:avLst/>
          </a:prstGeom>
          <a:noFill/>
        </p:spPr>
        <p:txBody>
          <a:bodyPr wrap="square" lIns="0" rIns="0" tIns="0" bIns="0" anchor="t">
            <a:noAutofit/>
          </a:bodyPr>
          <a:lstStyle/>
          <a:p>
            <a:pPr algn="l">
              <a:lnSpc>
                <a:spcPct val="112000"/>
              </a:lnSpc>
              <a:spcAft>
                <a:spcPts val="0"/>
              </a:spcAft>
            </a:pPr>
            <a:r>
              <a:rPr sz="1200" b="0" i="0">
                <a:solidFill>
                  <a:srgbClr val="434343"/>
                </a:solidFill>
                <a:latin typeface="Arial"/>
              </a:rPr>
              <a:t>Down six weeks running. Value credibility is the binding constraint.</a:t>
            </a:r>
          </a:p>
        </p:txBody>
      </p:sp>
      <p:sp>
        <p:nvSpPr>
          <p:cNvPr id="39" name="Card"/>
          <p:cNvSpPr/>
          <p:nvPr/>
        </p:nvSpPr>
        <p:spPr>
          <a:xfrm>
            <a:off x="8610904" y="4526279"/>
            <a:ext cx="2696565" cy="1298448"/>
          </a:xfrm>
          <a:prstGeom prst="roundRect">
            <a:avLst>
              <a:gd name="adj" fmla="val 8450"/>
            </a:avLst>
          </a:prstGeom>
          <a:solidFill>
            <a:srgbClr val="F4F4F4"/>
          </a:solidFill>
          <a:ln>
            <a:noFill/>
          </a:ln>
          <a:effectLst/>
        </p:spPr>
        <p:txBody>
          <a:bodyPr rtlCol="0" anchor="ctr"/>
          <a:lstStyle/>
          <a:p>
            <a:pPr algn="ctr"/>
          </a:p>
        </p:txBody>
      </p:sp>
      <p:pic>
        <p:nvPicPr>
          <p:cNvPr id="40" name="Icon trending-up" descr="trending-up-green7.png"/>
          <p:cNvPicPr>
            <a:picLocks noChangeAspect="1"/>
          </p:cNvPicPr>
          <p:nvPr/>
        </p:nvPicPr>
        <p:blipFill>
          <a:blip r:embed="rId6"/>
          <a:stretch>
            <a:fillRect/>
          </a:stretch>
        </p:blipFill>
        <p:spPr>
          <a:xfrm>
            <a:off x="8793784" y="4709159"/>
            <a:ext cx="274320" cy="274320"/>
          </a:xfrm>
          <a:prstGeom prst="rect">
            <a:avLst/>
          </a:prstGeom>
        </p:spPr>
      </p:pic>
      <p:sp>
        <p:nvSpPr>
          <p:cNvPr id="41" name="Text"/>
          <p:cNvSpPr txBox="1"/>
          <p:nvPr/>
        </p:nvSpPr>
        <p:spPr>
          <a:xfrm>
            <a:off x="9159544" y="4690871"/>
            <a:ext cx="2010765" cy="292608"/>
          </a:xfrm>
          <a:prstGeom prst="rect">
            <a:avLst/>
          </a:prstGeom>
          <a:noFill/>
        </p:spPr>
        <p:txBody>
          <a:bodyPr wrap="square" lIns="0" rIns="0" tIns="0" bIns="0" anchor="ctr">
            <a:noAutofit/>
          </a:bodyPr>
          <a:lstStyle/>
          <a:p>
            <a:pPr algn="l">
              <a:lnSpc>
                <a:spcPct val="110000"/>
              </a:lnSpc>
              <a:spcAft>
                <a:spcPts val="0"/>
              </a:spcAft>
            </a:pPr>
            <a:r>
              <a:rPr sz="1600" b="1" i="0">
                <a:solidFill>
                  <a:srgbClr val="1E7A13"/>
                </a:solidFill>
                <a:latin typeface="Arial"/>
              </a:rPr>
              <a:t>Claims</a:t>
            </a:r>
          </a:p>
        </p:txBody>
      </p:sp>
      <p:sp>
        <p:nvSpPr>
          <p:cNvPr id="42" name="Text"/>
          <p:cNvSpPr txBox="1"/>
          <p:nvPr/>
        </p:nvSpPr>
        <p:spPr>
          <a:xfrm>
            <a:off x="8793784" y="5056631"/>
            <a:ext cx="2376525" cy="731520"/>
          </a:xfrm>
          <a:prstGeom prst="rect">
            <a:avLst/>
          </a:prstGeom>
          <a:noFill/>
        </p:spPr>
        <p:txBody>
          <a:bodyPr wrap="square" lIns="0" rIns="0" tIns="0" bIns="0" anchor="t">
            <a:noAutofit/>
          </a:bodyPr>
          <a:lstStyle/>
          <a:p>
            <a:pPr algn="l">
              <a:lnSpc>
                <a:spcPct val="112000"/>
              </a:lnSpc>
              <a:spcAft>
                <a:spcPts val="0"/>
              </a:spcAft>
            </a:pPr>
            <a:r>
              <a:rPr sz="1200" b="0" i="0">
                <a:solidFill>
                  <a:srgbClr val="434343"/>
                </a:solidFill>
                <a:latin typeface="Arial"/>
              </a:rPr>
              <a:t>Recovering since the incentive fix in week 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609904" y="457200"/>
            <a:ext cx="8171764"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1E7A13"/>
                </a:solidFill>
                <a:latin typeface="Arial"/>
              </a:rPr>
              <a:t>NEXT STEP</a:t>
            </a:r>
          </a:p>
        </p:txBody>
      </p:sp>
      <p:sp>
        <p:nvSpPr>
          <p:cNvPr id="3" name="Headline"/>
          <p:cNvSpPr txBox="1"/>
          <p:nvPr/>
        </p:nvSpPr>
        <p:spPr>
          <a:xfrm>
            <a:off x="609904" y="731520"/>
            <a:ext cx="10038511" cy="960120"/>
          </a:xfrm>
          <a:prstGeom prst="rect">
            <a:avLst/>
          </a:prstGeom>
          <a:noFill/>
        </p:spPr>
        <p:txBody>
          <a:bodyPr wrap="square" lIns="0" rIns="0" tIns="0" bIns="0" anchor="t">
            <a:noAutofit/>
          </a:bodyPr>
          <a:lstStyle/>
          <a:p>
            <a:pPr algn="l">
              <a:lnSpc>
                <a:spcPct val="100000"/>
              </a:lnSpc>
              <a:spcAft>
                <a:spcPts val="0"/>
              </a:spcAft>
            </a:pPr>
            <a:r>
              <a:rPr sz="3000" b="1" i="0">
                <a:solidFill>
                  <a:srgbClr val="1A1A1A"/>
                </a:solidFill>
                <a:latin typeface="Arial"/>
              </a:rPr>
              <a:t>Start with one live transformation. Decide once you see the data.</a:t>
            </a:r>
          </a:p>
        </p:txBody>
      </p:sp>
      <p:pic>
        <p:nvPicPr>
          <p:cNvPr id="4" name="Picture 3" descr="logo-icon.png"/>
          <p:cNvPicPr>
            <a:picLocks noChangeAspect="1"/>
          </p:cNvPicPr>
          <p:nvPr/>
        </p:nvPicPr>
        <p:blipFill>
          <a:blip r:embed="rId2"/>
          <a:stretch>
            <a:fillRect/>
          </a:stretch>
        </p:blipFill>
        <p:spPr>
          <a:xfrm>
            <a:off x="609904" y="6382512"/>
            <a:ext cx="201168" cy="201168"/>
          </a:xfrm>
          <a:prstGeom prst="rect">
            <a:avLst/>
          </a:prstGeom>
        </p:spPr>
      </p:pic>
      <p:sp>
        <p:nvSpPr>
          <p:cNvPr id="5" name="Footer"/>
          <p:cNvSpPr txBox="1"/>
          <p:nvPr/>
        </p:nvSpPr>
        <p:spPr>
          <a:xfrm>
            <a:off x="902512" y="6382512"/>
            <a:ext cx="3657600" cy="201168"/>
          </a:xfrm>
          <a:prstGeom prst="rect">
            <a:avLst/>
          </a:prstGeom>
          <a:noFill/>
        </p:spPr>
        <p:txBody>
          <a:bodyPr wrap="square" lIns="0" rIns="0" tIns="0" bIns="0" anchor="ctr">
            <a:noAutofit/>
          </a:bodyPr>
          <a:lstStyle/>
          <a:p>
            <a:pPr algn="l">
              <a:lnSpc>
                <a:spcPct val="110000"/>
              </a:lnSpc>
              <a:spcAft>
                <a:spcPts val="0"/>
              </a:spcAft>
            </a:pPr>
            <a:r>
              <a:rPr sz="1100" b="0" i="0">
                <a:solidFill>
                  <a:srgbClr val="6B6B6B"/>
                </a:solidFill>
                <a:latin typeface="Arial"/>
              </a:rPr>
              <a:t>The Diagnose Conversation</a:t>
            </a:r>
          </a:p>
        </p:txBody>
      </p:sp>
      <p:sp>
        <p:nvSpPr>
          <p:cNvPr id="6" name="Page number"/>
          <p:cNvSpPr txBox="1"/>
          <p:nvPr/>
        </p:nvSpPr>
        <p:spPr>
          <a:xfrm>
            <a:off x="10210190" y="6382512"/>
            <a:ext cx="1371600" cy="201168"/>
          </a:xfrm>
          <a:prstGeom prst="rect">
            <a:avLst/>
          </a:prstGeom>
          <a:noFill/>
        </p:spPr>
        <p:txBody>
          <a:bodyPr wrap="square" lIns="0" rIns="0" tIns="0" bIns="0" anchor="ctr">
            <a:noAutofit/>
          </a:bodyPr>
          <a:lstStyle/>
          <a:p>
            <a:pPr algn="r">
              <a:lnSpc>
                <a:spcPct val="110000"/>
              </a:lnSpc>
              <a:spcAft>
                <a:spcPts val="0"/>
              </a:spcAft>
            </a:pPr>
            <a:r>
              <a:rPr sz="1100" b="0" i="0">
                <a:solidFill>
                  <a:srgbClr val="6B6B6B"/>
                </a:solidFill>
                <a:latin typeface="Arial"/>
              </a:rPr>
              <a:t>14 / 14</a:t>
            </a:r>
          </a:p>
        </p:txBody>
      </p:sp>
      <p:sp>
        <p:nvSpPr>
          <p:cNvPr id="7" name="Ask card"/>
          <p:cNvSpPr/>
          <p:nvPr/>
        </p:nvSpPr>
        <p:spPr>
          <a:xfrm>
            <a:off x="609904" y="1874519"/>
            <a:ext cx="7238390" cy="658368"/>
          </a:xfrm>
          <a:prstGeom prst="roundRect">
            <a:avLst>
              <a:gd name="adj" fmla="val 19444"/>
            </a:avLst>
          </a:prstGeom>
          <a:solidFill>
            <a:srgbClr val="28A019"/>
          </a:solidFill>
          <a:ln>
            <a:noFill/>
          </a:ln>
          <a:effectLst/>
        </p:spPr>
        <p:txBody>
          <a:bodyPr rtlCol="0" anchor="ctr"/>
          <a:lstStyle/>
          <a:p>
            <a:pPr algn="ctr"/>
          </a:p>
        </p:txBody>
      </p:sp>
      <p:sp>
        <p:nvSpPr>
          <p:cNvPr id="8" name="Ask card tail"/>
          <p:cNvSpPr/>
          <p:nvPr/>
        </p:nvSpPr>
        <p:spPr>
          <a:xfrm flipV="1">
            <a:off x="1112824" y="2523744"/>
            <a:ext cx="310896" cy="118872"/>
          </a:xfrm>
          <a:prstGeom prst="rtTriangle">
            <a:avLst/>
          </a:prstGeom>
          <a:solidFill>
            <a:srgbClr val="28A019"/>
          </a:solidFill>
          <a:ln>
            <a:noFill/>
          </a:ln>
          <a:effectLst/>
        </p:spPr>
        <p:txBody>
          <a:bodyPr rtlCol="0" anchor="ctr"/>
          <a:lstStyle/>
          <a:p>
            <a:pPr algn="ctr"/>
          </a:p>
        </p:txBody>
      </p:sp>
      <p:sp>
        <p:nvSpPr>
          <p:cNvPr id="9" name="Ask label"/>
          <p:cNvSpPr/>
          <p:nvPr/>
        </p:nvSpPr>
        <p:spPr>
          <a:xfrm>
            <a:off x="884224" y="2048255"/>
            <a:ext cx="841248" cy="310896"/>
          </a:xfrm>
          <a:prstGeom prst="roundRect">
            <a:avLst>
              <a:gd name="adj" fmla="val 50000"/>
            </a:avLst>
          </a:prstGeom>
          <a:solidFill>
            <a:srgbClr val="FFFFFF"/>
          </a:solidFill>
          <a:ln>
            <a:noFill/>
          </a:ln>
          <a:effectLst/>
        </p:spPr>
        <p:txBody>
          <a:bodyPr rtlCol="0" anchor="ctr"/>
          <a:lstStyle/>
          <a:p>
            <a:pPr algn="ctr"/>
          </a:p>
        </p:txBody>
      </p:sp>
      <p:pic>
        <p:nvPicPr>
          <p:cNvPr id="10" name="Icon message-circle" descr="message-circle-green7.png"/>
          <p:cNvPicPr>
            <a:picLocks noChangeAspect="1"/>
          </p:cNvPicPr>
          <p:nvPr/>
        </p:nvPicPr>
        <p:blipFill>
          <a:blip r:embed="rId3"/>
          <a:stretch>
            <a:fillRect/>
          </a:stretch>
        </p:blipFill>
        <p:spPr>
          <a:xfrm>
            <a:off x="1003096" y="2112263"/>
            <a:ext cx="182880" cy="182880"/>
          </a:xfrm>
          <a:prstGeom prst="rect">
            <a:avLst/>
          </a:prstGeom>
        </p:spPr>
      </p:pic>
      <p:sp>
        <p:nvSpPr>
          <p:cNvPr id="11" name="Ask label text"/>
          <p:cNvSpPr txBox="1"/>
          <p:nvPr/>
        </p:nvSpPr>
        <p:spPr>
          <a:xfrm>
            <a:off x="1231696" y="2048255"/>
            <a:ext cx="457200" cy="310896"/>
          </a:xfrm>
          <a:prstGeom prst="rect">
            <a:avLst/>
          </a:prstGeom>
          <a:noFill/>
        </p:spPr>
        <p:txBody>
          <a:bodyPr wrap="square" lIns="0" rIns="0" tIns="0" bIns="0" anchor="ctr">
            <a:noAutofit/>
          </a:bodyPr>
          <a:lstStyle/>
          <a:p>
            <a:pPr algn="l">
              <a:lnSpc>
                <a:spcPct val="110000"/>
              </a:lnSpc>
              <a:spcAft>
                <a:spcPts val="0"/>
              </a:spcAft>
            </a:pPr>
            <a:r>
              <a:rPr sz="1100" b="1" i="0" spc="200">
                <a:solidFill>
                  <a:srgbClr val="1E7A13"/>
                </a:solidFill>
                <a:latin typeface="Arial"/>
              </a:rPr>
              <a:t>ASK</a:t>
            </a:r>
          </a:p>
        </p:txBody>
      </p:sp>
      <p:sp>
        <p:nvSpPr>
          <p:cNvPr id="12" name="Ask question"/>
          <p:cNvSpPr txBox="1"/>
          <p:nvPr/>
        </p:nvSpPr>
        <p:spPr>
          <a:xfrm>
            <a:off x="1999792" y="1984248"/>
            <a:ext cx="5574182" cy="438912"/>
          </a:xfrm>
          <a:prstGeom prst="rect">
            <a:avLst/>
          </a:prstGeom>
          <a:noFill/>
        </p:spPr>
        <p:txBody>
          <a:bodyPr wrap="square" lIns="0" rIns="0" tIns="0" bIns="0" anchor="ctr">
            <a:noAutofit/>
          </a:bodyPr>
          <a:lstStyle/>
          <a:p>
            <a:pPr algn="l">
              <a:lnSpc>
                <a:spcPct val="102000"/>
              </a:lnSpc>
              <a:spcAft>
                <a:spcPts val="600"/>
              </a:spcAft>
            </a:pPr>
            <a:r>
              <a:rPr sz="2000" b="1" i="0">
                <a:solidFill>
                  <a:srgbClr val="FFFFFF"/>
                </a:solidFill>
                <a:latin typeface="Arial"/>
              </a:rPr>
              <a:t>What feels like a sensible next step?</a:t>
            </a:r>
          </a:p>
        </p:txBody>
      </p:sp>
      <p:sp>
        <p:nvSpPr>
          <p:cNvPr id="13" name="Label"/>
          <p:cNvSpPr txBox="1"/>
          <p:nvPr/>
        </p:nvSpPr>
        <p:spPr>
          <a:xfrm>
            <a:off x="609904" y="2761488"/>
            <a:ext cx="7238390"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6B6B6B"/>
                </a:solidFill>
                <a:latin typeface="Arial"/>
              </a:rPr>
              <a:t>OUR SUGGESTION</a:t>
            </a:r>
          </a:p>
        </p:txBody>
      </p:sp>
      <p:sp>
        <p:nvSpPr>
          <p:cNvPr id="14" name="Number ring"/>
          <p:cNvSpPr/>
          <p:nvPr/>
        </p:nvSpPr>
        <p:spPr>
          <a:xfrm>
            <a:off x="609904" y="3017520"/>
            <a:ext cx="402336" cy="402336"/>
          </a:xfrm>
          <a:prstGeom prst="ellipse">
            <a:avLst/>
          </a:prstGeom>
          <a:solidFill>
            <a:srgbClr val="FFFFFF"/>
          </a:solidFill>
          <a:ln w="22225">
            <a:solidFill>
              <a:srgbClr val="28A019"/>
            </a:solidFill>
          </a:ln>
          <a:effectLst/>
        </p:spPr>
        <p:txBody>
          <a:bodyPr rtlCol="0" anchor="ctr" wrap="square" lIns="0" rIns="0" tIns="0" bIns="0">
            <a:noAutofit/>
          </a:bodyPr>
          <a:lstStyle/>
          <a:p>
            <a:pPr algn="ctr">
              <a:lnSpc>
                <a:spcPct val="100000"/>
              </a:lnSpc>
              <a:spcAft>
                <a:spcPts val="0"/>
              </a:spcAft>
            </a:pPr>
            <a:r>
              <a:rPr sz="1600" b="1" i="0">
                <a:solidFill>
                  <a:srgbClr val="1E7A13"/>
                </a:solidFill>
                <a:latin typeface="Arial"/>
              </a:rPr>
              <a:t>1</a:t>
            </a:r>
          </a:p>
        </p:txBody>
      </p:sp>
      <p:sp>
        <p:nvSpPr>
          <p:cNvPr id="15" name="Text"/>
          <p:cNvSpPr txBox="1"/>
          <p:nvPr/>
        </p:nvSpPr>
        <p:spPr>
          <a:xfrm>
            <a:off x="609904" y="3520440"/>
            <a:ext cx="2229916" cy="1051560"/>
          </a:xfrm>
          <a:prstGeom prst="rect">
            <a:avLst/>
          </a:prstGeom>
          <a:noFill/>
        </p:spPr>
        <p:txBody>
          <a:bodyPr wrap="square" lIns="0" rIns="0" tIns="0" bIns="0" anchor="t">
            <a:noAutofit/>
          </a:bodyPr>
          <a:lstStyle/>
          <a:p>
            <a:pPr algn="l">
              <a:lnSpc>
                <a:spcPct val="108000"/>
              </a:lnSpc>
              <a:spcAft>
                <a:spcPts val="0"/>
              </a:spcAft>
            </a:pPr>
            <a:r>
              <a:rPr sz="1600" b="0" i="0">
                <a:solidFill>
                  <a:srgbClr val="1A1A1A"/>
                </a:solidFill>
                <a:latin typeface="Arial"/>
              </a:rPr>
              <a:t>Pick one live transformation where slow adoption costs the business.</a:t>
            </a:r>
          </a:p>
        </p:txBody>
      </p:sp>
      <p:sp>
        <p:nvSpPr>
          <p:cNvPr id="16" name="Number ring"/>
          <p:cNvSpPr/>
          <p:nvPr/>
        </p:nvSpPr>
        <p:spPr>
          <a:xfrm>
            <a:off x="3114141" y="3017520"/>
            <a:ext cx="402336" cy="402336"/>
          </a:xfrm>
          <a:prstGeom prst="ellipse">
            <a:avLst/>
          </a:prstGeom>
          <a:solidFill>
            <a:srgbClr val="FFFFFF"/>
          </a:solidFill>
          <a:ln w="22225">
            <a:solidFill>
              <a:srgbClr val="28A019"/>
            </a:solidFill>
          </a:ln>
          <a:effectLst/>
        </p:spPr>
        <p:txBody>
          <a:bodyPr rtlCol="0" anchor="ctr" wrap="square" lIns="0" rIns="0" tIns="0" bIns="0">
            <a:noAutofit/>
          </a:bodyPr>
          <a:lstStyle/>
          <a:p>
            <a:pPr algn="ctr">
              <a:lnSpc>
                <a:spcPct val="100000"/>
              </a:lnSpc>
              <a:spcAft>
                <a:spcPts val="0"/>
              </a:spcAft>
            </a:pPr>
            <a:r>
              <a:rPr sz="1600" b="1" i="0">
                <a:solidFill>
                  <a:srgbClr val="1E7A13"/>
                </a:solidFill>
                <a:latin typeface="Arial"/>
              </a:rPr>
              <a:t>2</a:t>
            </a:r>
          </a:p>
        </p:txBody>
      </p:sp>
      <p:sp>
        <p:nvSpPr>
          <p:cNvPr id="17" name="Text"/>
          <p:cNvSpPr txBox="1"/>
          <p:nvPr/>
        </p:nvSpPr>
        <p:spPr>
          <a:xfrm>
            <a:off x="3114141" y="3520440"/>
            <a:ext cx="2229916" cy="1051560"/>
          </a:xfrm>
          <a:prstGeom prst="rect">
            <a:avLst/>
          </a:prstGeom>
          <a:noFill/>
        </p:spPr>
        <p:txBody>
          <a:bodyPr wrap="square" lIns="0" rIns="0" tIns="0" bIns="0" anchor="t">
            <a:noAutofit/>
          </a:bodyPr>
          <a:lstStyle/>
          <a:p>
            <a:pPr algn="l">
              <a:lnSpc>
                <a:spcPct val="108000"/>
              </a:lnSpc>
              <a:spcAft>
                <a:spcPts val="0"/>
              </a:spcAft>
            </a:pPr>
            <a:r>
              <a:rPr sz="1600" b="0" i="0">
                <a:solidFill>
                  <a:srgbClr val="1A1A1A"/>
                </a:solidFill>
                <a:latin typeface="Arial"/>
              </a:rPr>
              <a:t>We diagnose a meaningful population, in their own words.</a:t>
            </a:r>
          </a:p>
        </p:txBody>
      </p:sp>
      <p:sp>
        <p:nvSpPr>
          <p:cNvPr id="18" name="Number ring"/>
          <p:cNvSpPr/>
          <p:nvPr/>
        </p:nvSpPr>
        <p:spPr>
          <a:xfrm>
            <a:off x="5618378" y="3017520"/>
            <a:ext cx="402336" cy="402336"/>
          </a:xfrm>
          <a:prstGeom prst="ellipse">
            <a:avLst/>
          </a:prstGeom>
          <a:solidFill>
            <a:srgbClr val="FFFFFF"/>
          </a:solidFill>
          <a:ln w="22225">
            <a:solidFill>
              <a:srgbClr val="28A019"/>
            </a:solidFill>
          </a:ln>
          <a:effectLst/>
        </p:spPr>
        <p:txBody>
          <a:bodyPr rtlCol="0" anchor="ctr" wrap="square" lIns="0" rIns="0" tIns="0" bIns="0">
            <a:noAutofit/>
          </a:bodyPr>
          <a:lstStyle/>
          <a:p>
            <a:pPr algn="ctr">
              <a:lnSpc>
                <a:spcPct val="100000"/>
              </a:lnSpc>
              <a:spcAft>
                <a:spcPts val="0"/>
              </a:spcAft>
            </a:pPr>
            <a:r>
              <a:rPr sz="1600" b="1" i="0">
                <a:solidFill>
                  <a:srgbClr val="1E7A13"/>
                </a:solidFill>
                <a:latin typeface="Arial"/>
              </a:rPr>
              <a:t>3</a:t>
            </a:r>
          </a:p>
        </p:txBody>
      </p:sp>
      <p:sp>
        <p:nvSpPr>
          <p:cNvPr id="19" name="Text"/>
          <p:cNvSpPr txBox="1"/>
          <p:nvPr/>
        </p:nvSpPr>
        <p:spPr>
          <a:xfrm>
            <a:off x="5618378" y="3520440"/>
            <a:ext cx="2229916" cy="1051560"/>
          </a:xfrm>
          <a:prstGeom prst="rect">
            <a:avLst/>
          </a:prstGeom>
          <a:noFill/>
        </p:spPr>
        <p:txBody>
          <a:bodyPr wrap="square" lIns="0" rIns="0" tIns="0" bIns="0" anchor="t">
            <a:noAutofit/>
          </a:bodyPr>
          <a:lstStyle/>
          <a:p>
            <a:pPr algn="l">
              <a:lnSpc>
                <a:spcPct val="108000"/>
              </a:lnSpc>
              <a:spcAft>
                <a:spcPts val="0"/>
              </a:spcAft>
            </a:pPr>
            <a:r>
              <a:rPr sz="1600" b="0" i="0">
                <a:solidFill>
                  <a:srgbClr val="1A1A1A"/>
                </a:solidFill>
                <a:latin typeface="Arial"/>
              </a:rPr>
              <a:t>You see friction, readiness by cohort and the decisions it supports. Then you decide.</a:t>
            </a:r>
          </a:p>
        </p:txBody>
      </p:sp>
      <p:sp>
        <p:nvSpPr>
          <p:cNvPr id="20" name="Card"/>
          <p:cNvSpPr/>
          <p:nvPr/>
        </p:nvSpPr>
        <p:spPr>
          <a:xfrm>
            <a:off x="8076895" y="1874519"/>
            <a:ext cx="3504895" cy="2697480"/>
          </a:xfrm>
          <a:prstGeom prst="roundRect">
            <a:avLst>
              <a:gd name="adj" fmla="val 4067"/>
            </a:avLst>
          </a:prstGeom>
          <a:solidFill>
            <a:srgbClr val="F4F4F4"/>
          </a:solidFill>
          <a:ln>
            <a:noFill/>
          </a:ln>
          <a:effectLst/>
        </p:spPr>
        <p:txBody>
          <a:bodyPr rtlCol="0" anchor="ctr"/>
          <a:lstStyle/>
          <a:p>
            <a:pPr algn="ctr"/>
          </a:p>
        </p:txBody>
      </p:sp>
      <p:sp>
        <p:nvSpPr>
          <p:cNvPr id="21" name="Text"/>
          <p:cNvSpPr txBox="1"/>
          <p:nvPr/>
        </p:nvSpPr>
        <p:spPr>
          <a:xfrm>
            <a:off x="8351215" y="2130552"/>
            <a:ext cx="2956255" cy="292608"/>
          </a:xfrm>
          <a:prstGeom prst="rect">
            <a:avLst/>
          </a:prstGeom>
          <a:noFill/>
        </p:spPr>
        <p:txBody>
          <a:bodyPr wrap="square" lIns="0" rIns="0" tIns="0" bIns="0" anchor="t">
            <a:noAutofit/>
          </a:bodyPr>
          <a:lstStyle/>
          <a:p>
            <a:pPr algn="l">
              <a:lnSpc>
                <a:spcPct val="110000"/>
              </a:lnSpc>
              <a:spcAft>
                <a:spcPts val="0"/>
              </a:spcAft>
            </a:pPr>
            <a:r>
              <a:rPr sz="1600" b="1" i="0">
                <a:solidFill>
                  <a:srgbClr val="1A1A1A"/>
                </a:solidFill>
                <a:latin typeface="Arial"/>
              </a:rPr>
              <a:t>Robert Newland</a:t>
            </a:r>
          </a:p>
        </p:txBody>
      </p:sp>
      <p:sp>
        <p:nvSpPr>
          <p:cNvPr id="22" name="Label"/>
          <p:cNvSpPr txBox="1"/>
          <p:nvPr/>
        </p:nvSpPr>
        <p:spPr>
          <a:xfrm>
            <a:off x="8351215" y="2441448"/>
            <a:ext cx="2956255"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6B6B6B"/>
                </a:solidFill>
                <a:latin typeface="Arial"/>
              </a:rPr>
              <a:t>HEAD OF GROWTH</a:t>
            </a:r>
          </a:p>
        </p:txBody>
      </p:sp>
      <p:sp>
        <p:nvSpPr>
          <p:cNvPr id="23" name="Text"/>
          <p:cNvSpPr txBox="1"/>
          <p:nvPr/>
        </p:nvSpPr>
        <p:spPr>
          <a:xfrm>
            <a:off x="8351215" y="2743200"/>
            <a:ext cx="2956255" cy="274320"/>
          </a:xfrm>
          <a:prstGeom prst="rect">
            <a:avLst/>
          </a:prstGeom>
          <a:noFill/>
        </p:spPr>
        <p:txBody>
          <a:bodyPr wrap="square" lIns="0" rIns="0" tIns="0" bIns="0" anchor="t">
            <a:noAutofit/>
          </a:bodyPr>
          <a:lstStyle/>
          <a:p>
            <a:pPr algn="l">
              <a:lnSpc>
                <a:spcPct val="110000"/>
              </a:lnSpc>
              <a:spcAft>
                <a:spcPts val="0"/>
              </a:spcAft>
            </a:pPr>
            <a:r>
              <a:rPr sz="1600" b="0" i="0" u="sng">
                <a:solidFill>
                  <a:srgbClr val="1E7A13"/>
                </a:solidFill>
                <a:latin typeface="Arial"/>
                <a:hlinkClick r:id="rId4"/>
              </a:rPr>
              <a:t>robert.newland@pandatron.ai</a:t>
            </a:r>
          </a:p>
        </p:txBody>
      </p:sp>
      <p:sp>
        <p:nvSpPr>
          <p:cNvPr id="24" name="Text"/>
          <p:cNvSpPr txBox="1"/>
          <p:nvPr/>
        </p:nvSpPr>
        <p:spPr>
          <a:xfrm>
            <a:off x="8351215" y="3035808"/>
            <a:ext cx="2956255" cy="274320"/>
          </a:xfrm>
          <a:prstGeom prst="rect">
            <a:avLst/>
          </a:prstGeom>
          <a:noFill/>
        </p:spPr>
        <p:txBody>
          <a:bodyPr wrap="square" lIns="0" rIns="0" tIns="0" bIns="0" anchor="t">
            <a:noAutofit/>
          </a:bodyPr>
          <a:lstStyle/>
          <a:p>
            <a:pPr algn="l">
              <a:lnSpc>
                <a:spcPct val="110000"/>
              </a:lnSpc>
              <a:spcAft>
                <a:spcPts val="0"/>
              </a:spcAft>
            </a:pPr>
            <a:r>
              <a:rPr sz="1600" b="0" i="0" u="sng">
                <a:solidFill>
                  <a:srgbClr val="1E7A13"/>
                </a:solidFill>
                <a:latin typeface="Arial"/>
                <a:hlinkClick r:id="rId5"/>
              </a:rPr>
              <a:t>www.pandatron.ai</a:t>
            </a:r>
          </a:p>
        </p:txBody>
      </p:sp>
      <p:pic>
        <p:nvPicPr>
          <p:cNvPr id="25" name="QR email Robert" descr="qr-contact.png">
            <a:hlinkClick r:id="rId7"/>
          </p:cNvPr>
          <p:cNvPicPr>
            <a:picLocks noChangeAspect="1"/>
          </p:cNvPicPr>
          <p:nvPr/>
        </p:nvPicPr>
        <p:blipFill>
          <a:blip r:embed="rId6"/>
          <a:stretch>
            <a:fillRect/>
          </a:stretch>
        </p:blipFill>
        <p:spPr>
          <a:xfrm>
            <a:off x="8351215" y="3291840"/>
            <a:ext cx="1051560" cy="1051560"/>
          </a:xfrm>
          <a:prstGeom prst="rect">
            <a:avLst/>
          </a:prstGeom>
        </p:spPr>
      </p:pic>
      <p:sp>
        <p:nvSpPr>
          <p:cNvPr id="26" name="Text"/>
          <p:cNvSpPr txBox="1"/>
          <p:nvPr/>
        </p:nvSpPr>
        <p:spPr>
          <a:xfrm>
            <a:off x="9585655" y="3291840"/>
            <a:ext cx="1676095" cy="1051560"/>
          </a:xfrm>
          <a:prstGeom prst="rect">
            <a:avLst/>
          </a:prstGeom>
          <a:noFill/>
        </p:spPr>
        <p:txBody>
          <a:bodyPr wrap="square" lIns="0" rIns="0" tIns="0" bIns="0" anchor="ctr">
            <a:noAutofit/>
          </a:bodyPr>
          <a:lstStyle/>
          <a:p>
            <a:pPr algn="l">
              <a:lnSpc>
                <a:spcPct val="115000"/>
              </a:lnSpc>
              <a:spcAft>
                <a:spcPts val="300"/>
              </a:spcAft>
            </a:pPr>
            <a:r>
              <a:rPr sz="1200" b="1" i="0">
                <a:solidFill>
                  <a:srgbClr val="434343"/>
                </a:solidFill>
                <a:latin typeface="Arial"/>
              </a:rPr>
              <a:t>Scan to email Robert</a:t>
            </a:r>
          </a:p>
          <a:p>
            <a:pPr algn="l">
              <a:lnSpc>
                <a:spcPct val="115000"/>
              </a:lnSpc>
              <a:spcAft>
                <a:spcPts val="300"/>
              </a:spcAft>
            </a:pPr>
            <a:r>
              <a:rPr sz="1200" b="0" i="0">
                <a:solidFill>
                  <a:srgbClr val="434343"/>
                </a:solidFill>
                <a:latin typeface="Arial"/>
              </a:rPr>
              <a:t>Subject line pre-filled: Diagnose pilot</a:t>
            </a:r>
          </a:p>
        </p:txBody>
      </p:sp>
      <p:sp>
        <p:nvSpPr>
          <p:cNvPr id="27" name="Label"/>
          <p:cNvSpPr txBox="1"/>
          <p:nvPr/>
        </p:nvSpPr>
        <p:spPr>
          <a:xfrm>
            <a:off x="609904" y="4754880"/>
            <a:ext cx="7238390" cy="201168"/>
          </a:xfrm>
          <a:prstGeom prst="rect">
            <a:avLst/>
          </a:prstGeom>
          <a:noFill/>
        </p:spPr>
        <p:txBody>
          <a:bodyPr wrap="square" lIns="0" rIns="0" tIns="0" bIns="0" anchor="t">
            <a:noAutofit/>
          </a:bodyPr>
          <a:lstStyle/>
          <a:p>
            <a:pPr algn="l">
              <a:lnSpc>
                <a:spcPct val="100000"/>
              </a:lnSpc>
              <a:spcAft>
                <a:spcPts val="0"/>
              </a:spcAft>
            </a:pPr>
            <a:r>
              <a:rPr sz="1100" b="1" i="0" spc="120">
                <a:solidFill>
                  <a:srgbClr val="6B6B6B"/>
                </a:solidFill>
                <a:latin typeface="Arial"/>
              </a:rPr>
              <a:t>WHERE THIS HAS WORKED</a:t>
            </a:r>
          </a:p>
        </p:txBody>
      </p:sp>
      <p:sp>
        <p:nvSpPr>
          <p:cNvPr id="28" name="Card"/>
          <p:cNvSpPr/>
          <p:nvPr/>
        </p:nvSpPr>
        <p:spPr>
          <a:xfrm>
            <a:off x="609904" y="5001768"/>
            <a:ext cx="3504895" cy="1234440"/>
          </a:xfrm>
          <a:prstGeom prst="roundRect">
            <a:avLst>
              <a:gd name="adj" fmla="val 8888"/>
            </a:avLst>
          </a:prstGeom>
          <a:solidFill>
            <a:srgbClr val="FFFFFF"/>
          </a:solidFill>
          <a:ln w="12700">
            <a:solidFill>
              <a:srgbClr val="E0E0E0"/>
            </a:solidFill>
          </a:ln>
          <a:effectLst/>
        </p:spPr>
        <p:txBody>
          <a:bodyPr rtlCol="0" anchor="ctr"/>
          <a:lstStyle/>
          <a:p>
            <a:pPr algn="ctr"/>
          </a:p>
        </p:txBody>
      </p:sp>
      <p:sp>
        <p:nvSpPr>
          <p:cNvPr id="29" name="Text"/>
          <p:cNvSpPr txBox="1"/>
          <p:nvPr/>
        </p:nvSpPr>
        <p:spPr>
          <a:xfrm>
            <a:off x="838504" y="5120640"/>
            <a:ext cx="3047695" cy="274320"/>
          </a:xfrm>
          <a:prstGeom prst="rect">
            <a:avLst/>
          </a:prstGeom>
          <a:noFill/>
        </p:spPr>
        <p:txBody>
          <a:bodyPr wrap="square" lIns="0" rIns="0" tIns="0" bIns="0" anchor="ctr">
            <a:noAutofit/>
          </a:bodyPr>
          <a:lstStyle/>
          <a:p>
            <a:pPr algn="l">
              <a:lnSpc>
                <a:spcPct val="110000"/>
              </a:lnSpc>
              <a:spcAft>
                <a:spcPts val="0"/>
              </a:spcAft>
            </a:pPr>
            <a:r>
              <a:rPr sz="1600" b="1" i="0">
                <a:solidFill>
                  <a:srgbClr val="1A1A1A"/>
                </a:solidFill>
                <a:latin typeface="Arial"/>
              </a:rPr>
              <a:t>Asahi Kasei Pharma</a:t>
            </a:r>
            <a:r>
              <a:rPr sz="1100" b="0" i="0">
                <a:solidFill>
                  <a:srgbClr val="6B6B6B"/>
                </a:solidFill>
                <a:latin typeface="Arial"/>
              </a:rPr>
              <a:t>  M&amp;A integration</a:t>
            </a:r>
          </a:p>
        </p:txBody>
      </p:sp>
      <p:sp>
        <p:nvSpPr>
          <p:cNvPr id="30" name="Text"/>
          <p:cNvSpPr txBox="1"/>
          <p:nvPr/>
        </p:nvSpPr>
        <p:spPr>
          <a:xfrm>
            <a:off x="838504" y="5458968"/>
            <a:ext cx="3047695" cy="685800"/>
          </a:xfrm>
          <a:prstGeom prst="rect">
            <a:avLst/>
          </a:prstGeom>
          <a:noFill/>
        </p:spPr>
        <p:txBody>
          <a:bodyPr wrap="square" lIns="0" rIns="0" tIns="0" bIns="0" anchor="t">
            <a:noAutofit/>
          </a:bodyPr>
          <a:lstStyle/>
          <a:p>
            <a:pPr algn="l">
              <a:lnSpc>
                <a:spcPct val="105000"/>
              </a:lnSpc>
              <a:spcAft>
                <a:spcPts val="0"/>
              </a:spcAft>
            </a:pPr>
            <a:r>
              <a:rPr sz="2000" b="1" i="0">
                <a:solidFill>
                  <a:srgbClr val="1E7A13"/>
                </a:solidFill>
                <a:latin typeface="Arial"/>
              </a:rPr>
              <a:t>2.7 / 5  </a:t>
            </a:r>
            <a:r>
              <a:rPr sz="1200" b="0" i="0">
                <a:solidFill>
                  <a:srgbClr val="434343"/>
                </a:solidFill>
                <a:latin typeface="Arial"/>
              </a:rPr>
              <a:t>perceived support, a risk leadership had not seen</a:t>
            </a:r>
          </a:p>
        </p:txBody>
      </p:sp>
      <p:sp>
        <p:nvSpPr>
          <p:cNvPr id="31" name="Card"/>
          <p:cNvSpPr/>
          <p:nvPr/>
        </p:nvSpPr>
        <p:spPr>
          <a:xfrm>
            <a:off x="4343400" y="5001768"/>
            <a:ext cx="3504895" cy="1234440"/>
          </a:xfrm>
          <a:prstGeom prst="roundRect">
            <a:avLst>
              <a:gd name="adj" fmla="val 8888"/>
            </a:avLst>
          </a:prstGeom>
          <a:solidFill>
            <a:srgbClr val="FFFFFF"/>
          </a:solidFill>
          <a:ln w="12700">
            <a:solidFill>
              <a:srgbClr val="E0E0E0"/>
            </a:solidFill>
          </a:ln>
          <a:effectLst/>
        </p:spPr>
        <p:txBody>
          <a:bodyPr rtlCol="0" anchor="ctr"/>
          <a:lstStyle/>
          <a:p>
            <a:pPr algn="ctr"/>
          </a:p>
        </p:txBody>
      </p:sp>
      <p:sp>
        <p:nvSpPr>
          <p:cNvPr id="32" name="Text"/>
          <p:cNvSpPr txBox="1"/>
          <p:nvPr/>
        </p:nvSpPr>
        <p:spPr>
          <a:xfrm>
            <a:off x="4572000" y="5120640"/>
            <a:ext cx="3047695" cy="274320"/>
          </a:xfrm>
          <a:prstGeom prst="rect">
            <a:avLst/>
          </a:prstGeom>
          <a:noFill/>
        </p:spPr>
        <p:txBody>
          <a:bodyPr wrap="square" lIns="0" rIns="0" tIns="0" bIns="0" anchor="ctr">
            <a:noAutofit/>
          </a:bodyPr>
          <a:lstStyle/>
          <a:p>
            <a:pPr algn="l">
              <a:lnSpc>
                <a:spcPct val="110000"/>
              </a:lnSpc>
              <a:spcAft>
                <a:spcPts val="0"/>
              </a:spcAft>
            </a:pPr>
            <a:r>
              <a:rPr sz="1600" b="1" i="0">
                <a:solidFill>
                  <a:srgbClr val="1A1A1A"/>
                </a:solidFill>
                <a:latin typeface="Arial"/>
              </a:rPr>
              <a:t>Skanska</a:t>
            </a:r>
            <a:r>
              <a:rPr sz="1100" b="0" i="0">
                <a:solidFill>
                  <a:srgbClr val="6B6B6B"/>
                </a:solidFill>
                <a:latin typeface="Arial"/>
              </a:rPr>
              <a:t>  Leadership transformation</a:t>
            </a:r>
          </a:p>
        </p:txBody>
      </p:sp>
      <p:sp>
        <p:nvSpPr>
          <p:cNvPr id="33" name="Text"/>
          <p:cNvSpPr txBox="1"/>
          <p:nvPr/>
        </p:nvSpPr>
        <p:spPr>
          <a:xfrm>
            <a:off x="4572000" y="5458968"/>
            <a:ext cx="3047695" cy="685800"/>
          </a:xfrm>
          <a:prstGeom prst="rect">
            <a:avLst/>
          </a:prstGeom>
          <a:noFill/>
        </p:spPr>
        <p:txBody>
          <a:bodyPr wrap="square" lIns="0" rIns="0" tIns="0" bIns="0" anchor="t">
            <a:noAutofit/>
          </a:bodyPr>
          <a:lstStyle/>
          <a:p>
            <a:pPr algn="l">
              <a:lnSpc>
                <a:spcPct val="105000"/>
              </a:lnSpc>
              <a:spcAft>
                <a:spcPts val="0"/>
              </a:spcAft>
            </a:pPr>
            <a:r>
              <a:rPr sz="2000" b="1" i="0">
                <a:solidFill>
                  <a:srgbClr val="1E7A13"/>
                </a:solidFill>
                <a:latin typeface="Arial"/>
              </a:rPr>
              <a:t>3× faster  </a:t>
            </a:r>
            <a:r>
              <a:rPr sz="1200" b="0" i="0">
                <a:solidFill>
                  <a:srgbClr val="434343"/>
                </a:solidFill>
                <a:latin typeface="Arial"/>
              </a:rPr>
              <a:t>6-month leadership journey delivered in 2 months</a:t>
            </a:r>
          </a:p>
        </p:txBody>
      </p:sp>
      <p:sp>
        <p:nvSpPr>
          <p:cNvPr id="34" name="Card"/>
          <p:cNvSpPr/>
          <p:nvPr/>
        </p:nvSpPr>
        <p:spPr>
          <a:xfrm>
            <a:off x="8076895" y="5001768"/>
            <a:ext cx="3504895" cy="1234440"/>
          </a:xfrm>
          <a:prstGeom prst="roundRect">
            <a:avLst>
              <a:gd name="adj" fmla="val 8888"/>
            </a:avLst>
          </a:prstGeom>
          <a:solidFill>
            <a:srgbClr val="FFFFFF"/>
          </a:solidFill>
          <a:ln w="12700">
            <a:solidFill>
              <a:srgbClr val="E0E0E0"/>
            </a:solidFill>
          </a:ln>
          <a:effectLst/>
        </p:spPr>
        <p:txBody>
          <a:bodyPr rtlCol="0" anchor="ctr"/>
          <a:lstStyle/>
          <a:p>
            <a:pPr algn="ctr"/>
          </a:p>
        </p:txBody>
      </p:sp>
      <p:sp>
        <p:nvSpPr>
          <p:cNvPr id="35" name="Text"/>
          <p:cNvSpPr txBox="1"/>
          <p:nvPr/>
        </p:nvSpPr>
        <p:spPr>
          <a:xfrm>
            <a:off x="8305495" y="5120640"/>
            <a:ext cx="3047695" cy="274320"/>
          </a:xfrm>
          <a:prstGeom prst="rect">
            <a:avLst/>
          </a:prstGeom>
          <a:noFill/>
        </p:spPr>
        <p:txBody>
          <a:bodyPr wrap="square" lIns="0" rIns="0" tIns="0" bIns="0" anchor="ctr">
            <a:noAutofit/>
          </a:bodyPr>
          <a:lstStyle/>
          <a:p>
            <a:pPr algn="l">
              <a:lnSpc>
                <a:spcPct val="110000"/>
              </a:lnSpc>
              <a:spcAft>
                <a:spcPts val="0"/>
              </a:spcAft>
            </a:pPr>
            <a:r>
              <a:rPr sz="1600" b="1" i="0">
                <a:solidFill>
                  <a:srgbClr val="1A1A1A"/>
                </a:solidFill>
                <a:latin typeface="Arial"/>
              </a:rPr>
              <a:t>Coach A</a:t>
            </a:r>
            <a:r>
              <a:rPr sz="1100" b="0" i="0">
                <a:solidFill>
                  <a:srgbClr val="6B6B6B"/>
                </a:solidFill>
                <a:latin typeface="Arial"/>
              </a:rPr>
              <a:t>  AI transformation</a:t>
            </a:r>
          </a:p>
        </p:txBody>
      </p:sp>
      <p:sp>
        <p:nvSpPr>
          <p:cNvPr id="36" name="Text"/>
          <p:cNvSpPr txBox="1"/>
          <p:nvPr/>
        </p:nvSpPr>
        <p:spPr>
          <a:xfrm>
            <a:off x="8305495" y="5458968"/>
            <a:ext cx="3047695" cy="685800"/>
          </a:xfrm>
          <a:prstGeom prst="rect">
            <a:avLst/>
          </a:prstGeom>
          <a:noFill/>
        </p:spPr>
        <p:txBody>
          <a:bodyPr wrap="square" lIns="0" rIns="0" tIns="0" bIns="0" anchor="t">
            <a:noAutofit/>
          </a:bodyPr>
          <a:lstStyle/>
          <a:p>
            <a:pPr algn="l">
              <a:lnSpc>
                <a:spcPct val="105000"/>
              </a:lnSpc>
              <a:spcAft>
                <a:spcPts val="0"/>
              </a:spcAft>
            </a:pPr>
            <a:r>
              <a:rPr sz="2000" b="1" i="0">
                <a:solidFill>
                  <a:srgbClr val="1E7A13"/>
                </a:solidFill>
                <a:latin typeface="Arial"/>
              </a:rPr>
              <a:t>3  </a:t>
            </a:r>
            <a:r>
              <a:rPr sz="1200" b="0" i="0">
                <a:solidFill>
                  <a:srgbClr val="434343"/>
                </a:solidFill>
                <a:latin typeface="Arial"/>
              </a:rPr>
              <a:t>AI products launched. Coach A also resells Pandatron.</a:t>
            </a:r>
          </a:p>
        </p:txBody>
      </p:sp>
    </p:spTree>
  </p:cSld>
  <p:clrMapOvr>
    <a:masterClrMapping/>
  </p:clrMapOvr>
</p:sld>
</file>

<file path=ppt/theme/theme1.xml><?xml version="1.0" encoding="utf-8"?>
<a:theme xmlns:a="http://schemas.openxmlformats.org/drawingml/2006/main" name="Pandatron">
  <a:themeElements>
    <a:clrScheme name="Pandatron">
      <a:dk1>
        <a:srgbClr val="1A1A1A"/>
      </a:dk1>
      <a:lt1>
        <a:srgbClr val="FFFFFF"/>
      </a:lt1>
      <a:dk2>
        <a:srgbClr val="434343"/>
      </a:dk2>
      <a:lt2>
        <a:srgbClr val="F4F4F4"/>
      </a:lt2>
      <a:accent1>
        <a:srgbClr val="28A019"/>
      </a:accent1>
      <a:accent2>
        <a:srgbClr val="1E7A13"/>
      </a:accent2>
      <a:accent3>
        <a:srgbClr val="7CBB6E"/>
      </a:accent3>
      <a:accent4>
        <a:srgbClr val="4A4A4A"/>
      </a:accent4>
      <a:accent5>
        <a:srgbClr val="D4D4D4"/>
      </a:accent5>
      <a:accent6>
        <a:srgbClr val="6B6B6B"/>
      </a:accent6>
      <a:hlink>
        <a:srgbClr val="1E7A13"/>
      </a:hlink>
      <a:folHlink>
        <a:srgbClr val="1E7A13"/>
      </a:folHlink>
    </a:clrScheme>
    <a:fontScheme name="Pandatron">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Diagnose Conversation</dc:title>
  <dc:subject>Pandatron: diagnose change friction, activate behavior change, measure execution</dc:subject>
  <dc:creator>Pandatron</dc:creator>
  <cp:keywords>Pandatron, change readiness, transformation</cp:keywords>
  <dc:description>generated using python-pptx</dc:description>
  <cp:lastModifiedBy>Pandatron</cp:lastModifiedBy>
  <cp:revision>1</cp:revision>
  <dcterms:created xsi:type="dcterms:W3CDTF">2013-01-27T09:14:16Z</dcterms:created>
  <dcterms:modified xsi:type="dcterms:W3CDTF">2013-01-27T09:15:58Z</dcterms:modified>
  <cp:category/>
</cp:coreProperties>
</file>