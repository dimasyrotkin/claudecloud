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904" y="457200"/>
            <a:ext cx="81717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DESIGN SYSTEM · REFERENCE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609904" y="731520"/>
            <a:ext cx="10038511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One accent, one type family, one way to ask.</a:t>
            </a:r>
          </a:p>
        </p:txBody>
      </p:sp>
      <p:pic>
        <p:nvPicPr>
          <p:cNvPr id="4" name="Picture 3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382512"/>
            <a:ext cx="201168" cy="201168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902512" y="63825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The Diagnose Conversation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210190" y="63825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01 / 01</a:t>
            </a:r>
          </a:p>
        </p:txBody>
      </p:sp>
      <p:sp>
        <p:nvSpPr>
          <p:cNvPr id="7" name="Label"/>
          <p:cNvSpPr txBox="1"/>
          <p:nvPr/>
        </p:nvSpPr>
        <p:spPr>
          <a:xfrm>
            <a:off x="609904" y="1783080"/>
            <a:ext cx="350489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GRID</a:t>
            </a:r>
          </a:p>
        </p:txBody>
      </p:sp>
      <p:sp>
        <p:nvSpPr>
          <p:cNvPr id="8" name="Card"/>
          <p:cNvSpPr/>
          <p:nvPr/>
        </p:nvSpPr>
        <p:spPr>
          <a:xfrm>
            <a:off x="609904" y="2057400"/>
            <a:ext cx="3504895" cy="1971503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Grid column"/>
          <p:cNvSpPr/>
          <p:nvPr/>
        </p:nvSpPr>
        <p:spPr>
          <a:xfrm>
            <a:off x="785241" y="2167128"/>
            <a:ext cx="202609" cy="1752047"/>
          </a:xfrm>
          <a:prstGeom prst="rect">
            <a:avLst/>
          </a:prstGeom>
          <a:solidFill>
            <a:srgbClr val="EAF7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Grid column"/>
          <p:cNvSpPr/>
          <p:nvPr/>
        </p:nvSpPr>
        <p:spPr>
          <a:xfrm>
            <a:off x="1053569" y="2167128"/>
            <a:ext cx="202609" cy="1752047"/>
          </a:xfrm>
          <a:prstGeom prst="rect">
            <a:avLst/>
          </a:prstGeom>
          <a:solidFill>
            <a:srgbClr val="EAF7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Grid column"/>
          <p:cNvSpPr/>
          <p:nvPr/>
        </p:nvSpPr>
        <p:spPr>
          <a:xfrm>
            <a:off x="1321898" y="2167128"/>
            <a:ext cx="202609" cy="1752047"/>
          </a:xfrm>
          <a:prstGeom prst="rect">
            <a:avLst/>
          </a:prstGeom>
          <a:solidFill>
            <a:srgbClr val="EAF7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Grid column"/>
          <p:cNvSpPr/>
          <p:nvPr/>
        </p:nvSpPr>
        <p:spPr>
          <a:xfrm>
            <a:off x="1590226" y="2167128"/>
            <a:ext cx="202609" cy="1752047"/>
          </a:xfrm>
          <a:prstGeom prst="rect">
            <a:avLst/>
          </a:prstGeom>
          <a:solidFill>
            <a:srgbClr val="EAF7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Grid column"/>
          <p:cNvSpPr/>
          <p:nvPr/>
        </p:nvSpPr>
        <p:spPr>
          <a:xfrm>
            <a:off x="1858554" y="2167128"/>
            <a:ext cx="202609" cy="1752047"/>
          </a:xfrm>
          <a:prstGeom prst="rect">
            <a:avLst/>
          </a:prstGeom>
          <a:solidFill>
            <a:srgbClr val="EAF7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Grid column"/>
          <p:cNvSpPr/>
          <p:nvPr/>
        </p:nvSpPr>
        <p:spPr>
          <a:xfrm>
            <a:off x="2126883" y="2167128"/>
            <a:ext cx="202609" cy="1752047"/>
          </a:xfrm>
          <a:prstGeom prst="rect">
            <a:avLst/>
          </a:prstGeom>
          <a:solidFill>
            <a:srgbClr val="EAF7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Grid column"/>
          <p:cNvSpPr/>
          <p:nvPr/>
        </p:nvSpPr>
        <p:spPr>
          <a:xfrm>
            <a:off x="2395211" y="2167128"/>
            <a:ext cx="202609" cy="1752047"/>
          </a:xfrm>
          <a:prstGeom prst="rect">
            <a:avLst/>
          </a:prstGeom>
          <a:solidFill>
            <a:srgbClr val="EAF7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Grid column"/>
          <p:cNvSpPr/>
          <p:nvPr/>
        </p:nvSpPr>
        <p:spPr>
          <a:xfrm>
            <a:off x="2663539" y="2167128"/>
            <a:ext cx="202609" cy="1752047"/>
          </a:xfrm>
          <a:prstGeom prst="rect">
            <a:avLst/>
          </a:prstGeom>
          <a:solidFill>
            <a:srgbClr val="EAF7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Grid column"/>
          <p:cNvSpPr/>
          <p:nvPr/>
        </p:nvSpPr>
        <p:spPr>
          <a:xfrm>
            <a:off x="2931868" y="2167128"/>
            <a:ext cx="202609" cy="1752047"/>
          </a:xfrm>
          <a:prstGeom prst="rect">
            <a:avLst/>
          </a:prstGeom>
          <a:solidFill>
            <a:srgbClr val="EAF7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Grid column"/>
          <p:cNvSpPr/>
          <p:nvPr/>
        </p:nvSpPr>
        <p:spPr>
          <a:xfrm>
            <a:off x="3200196" y="2167128"/>
            <a:ext cx="202609" cy="1752047"/>
          </a:xfrm>
          <a:prstGeom prst="rect">
            <a:avLst/>
          </a:prstGeom>
          <a:solidFill>
            <a:srgbClr val="EAF7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Grid column"/>
          <p:cNvSpPr/>
          <p:nvPr/>
        </p:nvSpPr>
        <p:spPr>
          <a:xfrm>
            <a:off x="3468524" y="2167128"/>
            <a:ext cx="202609" cy="1752047"/>
          </a:xfrm>
          <a:prstGeom prst="rect">
            <a:avLst/>
          </a:prstGeom>
          <a:solidFill>
            <a:srgbClr val="EAF7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Grid column"/>
          <p:cNvSpPr/>
          <p:nvPr/>
        </p:nvSpPr>
        <p:spPr>
          <a:xfrm>
            <a:off x="3736853" y="2167128"/>
            <a:ext cx="202609" cy="1752047"/>
          </a:xfrm>
          <a:prstGeom prst="rect">
            <a:avLst/>
          </a:prstGeom>
          <a:solidFill>
            <a:srgbClr val="EAF7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609904" y="4138631"/>
            <a:ext cx="350489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16:9 · 12 columns · 0.67 in margins · 0.25 in gutters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4343400" y="1783080"/>
            <a:ext cx="350489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TYPE · ARIAL (THEME FONT)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4343400" y="1965960"/>
            <a:ext cx="2956255" cy="8092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28A019"/>
                </a:solidFill>
                <a:latin typeface="Arial"/>
              </a:rPr>
              <a:t>12%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7345375" y="1965960"/>
            <a:ext cx="502920" cy="8092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54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4343400" y="2848356"/>
            <a:ext cx="2956255" cy="4495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rial"/>
              </a:rPr>
              <a:t>Headline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7345375" y="2848356"/>
            <a:ext cx="502920" cy="4495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30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4343400" y="3371088"/>
            <a:ext cx="2956255" cy="299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Subhead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7345375" y="3371088"/>
            <a:ext cx="502920" cy="2997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20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4343400" y="3743959"/>
            <a:ext cx="2956255" cy="239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  <a:latin typeface="Arial"/>
              </a:rPr>
              <a:t>Body text, left aligned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7345375" y="3743959"/>
            <a:ext cx="502920" cy="2397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16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4343400" y="4056888"/>
            <a:ext cx="2956255" cy="164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6B6B6B"/>
                </a:solidFill>
                <a:latin typeface="Arial"/>
              </a:rPr>
              <a:t>CAPTION · SOURCE · YEAR · N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7345375" y="4056888"/>
            <a:ext cx="502920" cy="1648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11</a:t>
            </a:r>
          </a:p>
        </p:txBody>
      </p:sp>
      <p:sp>
        <p:nvSpPr>
          <p:cNvPr id="33" name="Label"/>
          <p:cNvSpPr txBox="1"/>
          <p:nvPr/>
        </p:nvSpPr>
        <p:spPr>
          <a:xfrm>
            <a:off x="8076895" y="1783080"/>
            <a:ext cx="350489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COLOR</a:t>
            </a:r>
          </a:p>
        </p:txBody>
      </p:sp>
      <p:sp>
        <p:nvSpPr>
          <p:cNvPr id="34" name="Swatch Brand green"/>
          <p:cNvSpPr/>
          <p:nvPr/>
        </p:nvSpPr>
        <p:spPr>
          <a:xfrm>
            <a:off x="8076895" y="20574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"/>
          <p:cNvSpPr txBox="1"/>
          <p:nvPr/>
        </p:nvSpPr>
        <p:spPr>
          <a:xfrm>
            <a:off x="8579815" y="2029968"/>
            <a:ext cx="1158087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34343"/>
                </a:solidFill>
                <a:latin typeface="Arial"/>
              </a:rPr>
              <a:t>Brand green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#28A019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Accent, large text</a:t>
            </a:r>
          </a:p>
        </p:txBody>
      </p:sp>
      <p:sp>
        <p:nvSpPr>
          <p:cNvPr id="36" name="Swatch Text green"/>
          <p:cNvSpPr/>
          <p:nvPr/>
        </p:nvSpPr>
        <p:spPr>
          <a:xfrm>
            <a:off x="9920782" y="20574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E7A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"/>
          <p:cNvSpPr txBox="1"/>
          <p:nvPr/>
        </p:nvSpPr>
        <p:spPr>
          <a:xfrm>
            <a:off x="10423702" y="2029968"/>
            <a:ext cx="1158087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34343"/>
                </a:solidFill>
                <a:latin typeface="Arial"/>
              </a:rPr>
              <a:t>Text green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#1E7A13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Small text 5.5:1</a:t>
            </a:r>
          </a:p>
        </p:txBody>
      </p:sp>
      <p:sp>
        <p:nvSpPr>
          <p:cNvPr id="38" name="Swatch Tint"/>
          <p:cNvSpPr/>
          <p:nvPr/>
        </p:nvSpPr>
        <p:spPr>
          <a:xfrm>
            <a:off x="8076895" y="2660904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AF7E6"/>
          </a:solidFill>
          <a:ln w="12700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"/>
          <p:cNvSpPr txBox="1"/>
          <p:nvPr/>
        </p:nvSpPr>
        <p:spPr>
          <a:xfrm>
            <a:off x="8579815" y="2633472"/>
            <a:ext cx="1158087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34343"/>
                </a:solidFill>
                <a:latin typeface="Arial"/>
              </a:rPr>
              <a:t>Tint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#EAF7E6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Highlight surface</a:t>
            </a:r>
          </a:p>
        </p:txBody>
      </p:sp>
      <p:sp>
        <p:nvSpPr>
          <p:cNvPr id="40" name="Swatch Ink"/>
          <p:cNvSpPr/>
          <p:nvPr/>
        </p:nvSpPr>
        <p:spPr>
          <a:xfrm>
            <a:off x="9920782" y="2660904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"/>
          <p:cNvSpPr txBox="1"/>
          <p:nvPr/>
        </p:nvSpPr>
        <p:spPr>
          <a:xfrm>
            <a:off x="10423702" y="2633472"/>
            <a:ext cx="1158087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34343"/>
                </a:solidFill>
                <a:latin typeface="Arial"/>
              </a:rPr>
              <a:t>Ink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#1A1A1A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Text 17.4:1</a:t>
            </a:r>
          </a:p>
        </p:txBody>
      </p:sp>
      <p:sp>
        <p:nvSpPr>
          <p:cNvPr id="42" name="Swatch Ink 2"/>
          <p:cNvSpPr/>
          <p:nvPr/>
        </p:nvSpPr>
        <p:spPr>
          <a:xfrm>
            <a:off x="8076895" y="326440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4343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"/>
          <p:cNvSpPr txBox="1"/>
          <p:nvPr/>
        </p:nvSpPr>
        <p:spPr>
          <a:xfrm>
            <a:off x="8579815" y="3236976"/>
            <a:ext cx="1158087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34343"/>
                </a:solidFill>
                <a:latin typeface="Arial"/>
              </a:rPr>
              <a:t>Ink 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#434343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Body text 9.7:1</a:t>
            </a:r>
          </a:p>
        </p:txBody>
      </p:sp>
      <p:sp>
        <p:nvSpPr>
          <p:cNvPr id="44" name="Swatch Muted"/>
          <p:cNvSpPr/>
          <p:nvPr/>
        </p:nvSpPr>
        <p:spPr>
          <a:xfrm>
            <a:off x="9920782" y="326440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6B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"/>
          <p:cNvSpPr txBox="1"/>
          <p:nvPr/>
        </p:nvSpPr>
        <p:spPr>
          <a:xfrm>
            <a:off x="10423702" y="3236976"/>
            <a:ext cx="1158087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34343"/>
                </a:solidFill>
                <a:latin typeface="Arial"/>
              </a:rPr>
              <a:t>Muted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#6B6B6B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Captions 5.3:1</a:t>
            </a:r>
          </a:p>
        </p:txBody>
      </p:sp>
      <p:sp>
        <p:nvSpPr>
          <p:cNvPr id="46" name="Swatch Surface"/>
          <p:cNvSpPr/>
          <p:nvPr/>
        </p:nvSpPr>
        <p:spPr>
          <a:xfrm>
            <a:off x="8076895" y="386791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4F4F4"/>
          </a:solidFill>
          <a:ln w="12700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"/>
          <p:cNvSpPr txBox="1"/>
          <p:nvPr/>
        </p:nvSpPr>
        <p:spPr>
          <a:xfrm>
            <a:off x="8579815" y="3840480"/>
            <a:ext cx="1158087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34343"/>
                </a:solidFill>
                <a:latin typeface="Arial"/>
              </a:rPr>
              <a:t>Surface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#F4F4F4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Cards</a:t>
            </a:r>
          </a:p>
        </p:txBody>
      </p:sp>
      <p:sp>
        <p:nvSpPr>
          <p:cNvPr id="48" name="Swatch Line"/>
          <p:cNvSpPr/>
          <p:nvPr/>
        </p:nvSpPr>
        <p:spPr>
          <a:xfrm>
            <a:off x="9920782" y="386791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0E0E0"/>
          </a:solidFill>
          <a:ln w="12700">
            <a:solidFill>
              <a:srgbClr val="E0E0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"/>
          <p:cNvSpPr txBox="1"/>
          <p:nvPr/>
        </p:nvSpPr>
        <p:spPr>
          <a:xfrm>
            <a:off x="10423702" y="3840480"/>
            <a:ext cx="1158087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34343"/>
                </a:solidFill>
                <a:latin typeface="Arial"/>
              </a:rPr>
              <a:t>Line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#E0E0E0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Hairlines</a:t>
            </a:r>
          </a:p>
        </p:txBody>
      </p:sp>
      <p:sp>
        <p:nvSpPr>
          <p:cNvPr id="50" name="Label"/>
          <p:cNvSpPr txBox="1"/>
          <p:nvPr/>
        </p:nvSpPr>
        <p:spPr>
          <a:xfrm>
            <a:off x="609904" y="4572000"/>
            <a:ext cx="350489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READINESS SCALE (SEMANTIC)</a:t>
            </a:r>
          </a:p>
        </p:txBody>
      </p:sp>
      <p:sp>
        <p:nvSpPr>
          <p:cNvPr id="51" name="Scale Champion"/>
          <p:cNvSpPr/>
          <p:nvPr/>
        </p:nvSpPr>
        <p:spPr>
          <a:xfrm>
            <a:off x="609904" y="4864608"/>
            <a:ext cx="1129183" cy="384048"/>
          </a:xfrm>
          <a:prstGeom prst="rect">
            <a:avLst/>
          </a:prstGeom>
          <a:solidFill>
            <a:srgbClr val="1E7A13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33%</a:t>
            </a:r>
          </a:p>
        </p:txBody>
      </p:sp>
      <p:sp>
        <p:nvSpPr>
          <p:cNvPr id="52" name="Scale Ready"/>
          <p:cNvSpPr/>
          <p:nvPr/>
        </p:nvSpPr>
        <p:spPr>
          <a:xfrm>
            <a:off x="1766520" y="4864608"/>
            <a:ext cx="1409575" cy="384048"/>
          </a:xfrm>
          <a:prstGeom prst="rect">
            <a:avLst/>
          </a:prstGeom>
          <a:solidFill>
            <a:srgbClr val="7CBB6E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41%</a:t>
            </a:r>
          </a:p>
        </p:txBody>
      </p:sp>
      <p:sp>
        <p:nvSpPr>
          <p:cNvPr id="53" name="Scale Hesitant"/>
          <p:cNvSpPr/>
          <p:nvPr/>
        </p:nvSpPr>
        <p:spPr>
          <a:xfrm>
            <a:off x="3203527" y="4864608"/>
            <a:ext cx="673547" cy="384048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20%</a:t>
            </a:r>
          </a:p>
        </p:txBody>
      </p:sp>
      <p:sp>
        <p:nvSpPr>
          <p:cNvPr id="54" name="Scale Resistant"/>
          <p:cNvSpPr/>
          <p:nvPr/>
        </p:nvSpPr>
        <p:spPr>
          <a:xfrm>
            <a:off x="3904506" y="4864608"/>
            <a:ext cx="182861" cy="38404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hape"/>
          <p:cNvSpPr/>
          <p:nvPr/>
        </p:nvSpPr>
        <p:spPr>
          <a:xfrm>
            <a:off x="609904" y="5376672"/>
            <a:ext cx="146304" cy="146304"/>
          </a:xfrm>
          <a:prstGeom prst="rect">
            <a:avLst/>
          </a:prstGeom>
          <a:solidFill>
            <a:srgbClr val="1E7A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"/>
          <p:cNvSpPr txBox="1"/>
          <p:nvPr/>
        </p:nvSpPr>
        <p:spPr>
          <a:xfrm>
            <a:off x="792784" y="5330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Champion</a:t>
            </a:r>
          </a:p>
        </p:txBody>
      </p:sp>
      <p:sp>
        <p:nvSpPr>
          <p:cNvPr id="57" name="Shape"/>
          <p:cNvSpPr/>
          <p:nvPr/>
        </p:nvSpPr>
        <p:spPr>
          <a:xfrm>
            <a:off x="1538935" y="5376672"/>
            <a:ext cx="146304" cy="146304"/>
          </a:xfrm>
          <a:prstGeom prst="rect">
            <a:avLst/>
          </a:prstGeom>
          <a:solidFill>
            <a:srgbClr val="7CBB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"/>
          <p:cNvSpPr txBox="1"/>
          <p:nvPr/>
        </p:nvSpPr>
        <p:spPr>
          <a:xfrm>
            <a:off x="1721815" y="5330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Ready</a:t>
            </a:r>
          </a:p>
        </p:txBody>
      </p:sp>
      <p:sp>
        <p:nvSpPr>
          <p:cNvPr id="59" name="Shape"/>
          <p:cNvSpPr/>
          <p:nvPr/>
        </p:nvSpPr>
        <p:spPr>
          <a:xfrm>
            <a:off x="2270455" y="5376672"/>
            <a:ext cx="146304" cy="146304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"/>
          <p:cNvSpPr txBox="1"/>
          <p:nvPr/>
        </p:nvSpPr>
        <p:spPr>
          <a:xfrm>
            <a:off x="2453335" y="5330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Hesitant</a:t>
            </a:r>
          </a:p>
        </p:txBody>
      </p:sp>
      <p:sp>
        <p:nvSpPr>
          <p:cNvPr id="61" name="Shape"/>
          <p:cNvSpPr/>
          <p:nvPr/>
        </p:nvSpPr>
        <p:spPr>
          <a:xfrm>
            <a:off x="3199485" y="5376672"/>
            <a:ext cx="146304" cy="14630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"/>
          <p:cNvSpPr txBox="1"/>
          <p:nvPr/>
        </p:nvSpPr>
        <p:spPr>
          <a:xfrm>
            <a:off x="3382365" y="5330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Resistant</a:t>
            </a:r>
          </a:p>
        </p:txBody>
      </p:sp>
      <p:sp>
        <p:nvSpPr>
          <p:cNvPr id="63" name="Text"/>
          <p:cNvSpPr txBox="1"/>
          <p:nvPr/>
        </p:nvSpPr>
        <p:spPr>
          <a:xfrm>
            <a:off x="609904" y="5623560"/>
            <a:ext cx="350489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Ordered by lightness, never red vs green. Colorblind-checked: worst pair ΔE 13.6 (deutan, target 8). Always direct-labelled.</a:t>
            </a:r>
          </a:p>
        </p:txBody>
      </p:sp>
      <p:sp>
        <p:nvSpPr>
          <p:cNvPr id="64" name="Label"/>
          <p:cNvSpPr txBox="1"/>
          <p:nvPr/>
        </p:nvSpPr>
        <p:spPr>
          <a:xfrm>
            <a:off x="4343400" y="4572000"/>
            <a:ext cx="350489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COMPONENTS</a:t>
            </a:r>
          </a:p>
        </p:txBody>
      </p:sp>
      <p:sp>
        <p:nvSpPr>
          <p:cNvPr id="65" name="Ask card"/>
          <p:cNvSpPr/>
          <p:nvPr/>
        </p:nvSpPr>
        <p:spPr>
          <a:xfrm>
            <a:off x="4343400" y="4846320"/>
            <a:ext cx="3504895" cy="566928"/>
          </a:xfrm>
          <a:prstGeom prst="roundRect">
            <a:avLst>
              <a:gd name="adj" fmla="val 22580"/>
            </a:avLst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Ask card tail"/>
          <p:cNvSpPr/>
          <p:nvPr/>
        </p:nvSpPr>
        <p:spPr>
          <a:xfrm flipV="1">
            <a:off x="4846320" y="5404104"/>
            <a:ext cx="310896" cy="118872"/>
          </a:xfrm>
          <a:prstGeom prst="rtTriangle">
            <a:avLst/>
          </a:prstGeom>
          <a:solidFill>
            <a:srgbClr val="28A0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Ask label"/>
          <p:cNvSpPr/>
          <p:nvPr/>
        </p:nvSpPr>
        <p:spPr>
          <a:xfrm>
            <a:off x="4617720" y="4974336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8" name="Icon message-circle" descr="message-circle-green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5038344"/>
            <a:ext cx="182880" cy="182880"/>
          </a:xfrm>
          <a:prstGeom prst="rect">
            <a:avLst/>
          </a:prstGeom>
        </p:spPr>
      </p:pic>
      <p:sp>
        <p:nvSpPr>
          <p:cNvPr id="69" name="Ask label text"/>
          <p:cNvSpPr txBox="1"/>
          <p:nvPr/>
        </p:nvSpPr>
        <p:spPr>
          <a:xfrm>
            <a:off x="4965192" y="4974336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 spc="200">
                <a:solidFill>
                  <a:srgbClr val="1E7A13"/>
                </a:solidFill>
                <a:latin typeface="Arial"/>
              </a:rPr>
              <a:t>ASK</a:t>
            </a:r>
          </a:p>
        </p:txBody>
      </p:sp>
      <p:sp>
        <p:nvSpPr>
          <p:cNvPr id="70" name="Ask question"/>
          <p:cNvSpPr txBox="1"/>
          <p:nvPr/>
        </p:nvSpPr>
        <p:spPr>
          <a:xfrm>
            <a:off x="5733288" y="4956048"/>
            <a:ext cx="184068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Ask moments</a:t>
            </a:r>
          </a:p>
        </p:txBody>
      </p:sp>
      <p:sp>
        <p:nvSpPr>
          <p:cNvPr id="71" name="Ring"/>
          <p:cNvSpPr/>
          <p:nvPr/>
        </p:nvSpPr>
        <p:spPr>
          <a:xfrm>
            <a:off x="4343400" y="5641848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2" name="Icon hourglass" descr="hourglass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5756148"/>
            <a:ext cx="228600" cy="228600"/>
          </a:xfrm>
          <a:prstGeom prst="rect">
            <a:avLst/>
          </a:prstGeom>
        </p:spPr>
      </p:pic>
      <p:sp>
        <p:nvSpPr>
          <p:cNvPr id="73" name="Ring"/>
          <p:cNvSpPr/>
          <p:nvPr/>
        </p:nvSpPr>
        <p:spPr>
          <a:xfrm>
            <a:off x="4910328" y="5641848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8A0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4" name="Icon users" descr="users-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628" y="5756148"/>
            <a:ext cx="228600" cy="228600"/>
          </a:xfrm>
          <a:prstGeom prst="rect">
            <a:avLst/>
          </a:prstGeom>
        </p:spPr>
      </p:pic>
      <p:sp>
        <p:nvSpPr>
          <p:cNvPr id="75" name="Number ring"/>
          <p:cNvSpPr/>
          <p:nvPr/>
        </p:nvSpPr>
        <p:spPr>
          <a:xfrm>
            <a:off x="5477256" y="5641848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8A019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7A13"/>
                </a:solidFill>
                <a:latin typeface="Arial"/>
              </a:rPr>
              <a:t>01</a:t>
            </a:r>
          </a:p>
        </p:txBody>
      </p:sp>
      <p:sp>
        <p:nvSpPr>
          <p:cNvPr id="76" name="Badge"/>
          <p:cNvSpPr/>
          <p:nvPr/>
        </p:nvSpPr>
        <p:spPr>
          <a:xfrm>
            <a:off x="6126480" y="5751576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 spc="100">
                <a:solidFill>
                  <a:srgbClr val="6B6B6B"/>
                </a:solidFill>
                <a:latin typeface="Arial"/>
              </a:rPr>
              <a:t>ILLUSTRATIVE</a:t>
            </a:r>
          </a:p>
        </p:txBody>
      </p:sp>
      <p:sp>
        <p:nvSpPr>
          <p:cNvPr id="77" name="Text"/>
          <p:cNvSpPr txBox="1"/>
          <p:nvPr/>
        </p:nvSpPr>
        <p:spPr>
          <a:xfrm>
            <a:off x="4343400" y="6172200"/>
            <a:ext cx="350489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  <a:latin typeface="Arial"/>
              </a:rPr>
              <a:t>Ask card · ring motif from the logo · data badge</a:t>
            </a:r>
          </a:p>
        </p:txBody>
      </p:sp>
      <p:sp>
        <p:nvSpPr>
          <p:cNvPr id="78" name="Label"/>
          <p:cNvSpPr txBox="1"/>
          <p:nvPr/>
        </p:nvSpPr>
        <p:spPr>
          <a:xfrm>
            <a:off x="8076895" y="4572000"/>
            <a:ext cx="3504895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1E7A13"/>
                </a:solidFill>
                <a:latin typeface="Arial"/>
              </a:rPr>
              <a:t>RULES</a:t>
            </a:r>
          </a:p>
        </p:txBody>
      </p:sp>
      <p:pic>
        <p:nvPicPr>
          <p:cNvPr id="79" name="Icon check" descr="check-green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6895" y="4873752"/>
            <a:ext cx="164592" cy="164592"/>
          </a:xfrm>
          <a:prstGeom prst="rect">
            <a:avLst/>
          </a:prstGeom>
        </p:spPr>
      </p:pic>
      <p:sp>
        <p:nvSpPr>
          <p:cNvPr id="80" name="Text"/>
          <p:cNvSpPr txBox="1"/>
          <p:nvPr/>
        </p:nvSpPr>
        <p:spPr>
          <a:xfrm>
            <a:off x="8332927" y="4846320"/>
            <a:ext cx="3248863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Assertion headlines, one idea per slide</a:t>
            </a:r>
          </a:p>
        </p:txBody>
      </p:sp>
      <p:pic>
        <p:nvPicPr>
          <p:cNvPr id="81" name="Icon check" descr="check-green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6895" y="5111496"/>
            <a:ext cx="164592" cy="164592"/>
          </a:xfrm>
          <a:prstGeom prst="rect">
            <a:avLst/>
          </a:prstGeom>
        </p:spPr>
      </p:pic>
      <p:sp>
        <p:nvSpPr>
          <p:cNvPr id="82" name="Text"/>
          <p:cNvSpPr txBox="1"/>
          <p:nvPr/>
        </p:nvSpPr>
        <p:spPr>
          <a:xfrm>
            <a:off x="8332927" y="5084064"/>
            <a:ext cx="3248863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Green is the only accent</a:t>
            </a:r>
          </a:p>
        </p:txBody>
      </p:sp>
      <p:pic>
        <p:nvPicPr>
          <p:cNvPr id="83" name="Icon check" descr="check-green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6895" y="5349240"/>
            <a:ext cx="164592" cy="164592"/>
          </a:xfrm>
          <a:prstGeom prst="rect">
            <a:avLst/>
          </a:prstGeom>
        </p:spPr>
      </p:pic>
      <p:sp>
        <p:nvSpPr>
          <p:cNvPr id="84" name="Text"/>
          <p:cNvSpPr txBox="1"/>
          <p:nvPr/>
        </p:nvSpPr>
        <p:spPr>
          <a:xfrm>
            <a:off x="8332927" y="5321808"/>
            <a:ext cx="3248863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Max 3 type sizes per slide, plus caption</a:t>
            </a:r>
          </a:p>
        </p:txBody>
      </p:sp>
      <p:pic>
        <p:nvPicPr>
          <p:cNvPr id="85" name="Icon check" descr="check-green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6895" y="5586984"/>
            <a:ext cx="164592" cy="164592"/>
          </a:xfrm>
          <a:prstGeom prst="rect">
            <a:avLst/>
          </a:prstGeom>
        </p:spPr>
      </p:pic>
      <p:sp>
        <p:nvSpPr>
          <p:cNvPr id="86" name="Text"/>
          <p:cNvSpPr txBox="1"/>
          <p:nvPr/>
        </p:nvSpPr>
        <p:spPr>
          <a:xfrm>
            <a:off x="8332927" y="5559552"/>
            <a:ext cx="3248863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Every number shows source, year and n</a:t>
            </a:r>
          </a:p>
        </p:txBody>
      </p:sp>
      <p:pic>
        <p:nvPicPr>
          <p:cNvPr id="87" name="Icon check" descr="check-green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6895" y="5824728"/>
            <a:ext cx="164592" cy="164592"/>
          </a:xfrm>
          <a:prstGeom prst="rect">
            <a:avLst/>
          </a:prstGeom>
        </p:spPr>
      </p:pic>
      <p:sp>
        <p:nvSpPr>
          <p:cNvPr id="88" name="Text"/>
          <p:cNvSpPr txBox="1"/>
          <p:nvPr/>
        </p:nvSpPr>
        <p:spPr>
          <a:xfrm>
            <a:off x="8332927" y="5797296"/>
            <a:ext cx="3248863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Illustrative data is always badged</a:t>
            </a:r>
          </a:p>
        </p:txBody>
      </p:sp>
      <p:pic>
        <p:nvPicPr>
          <p:cNvPr id="89" name="Icon check" descr="check-green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6895" y="6062472"/>
            <a:ext cx="164592" cy="164592"/>
          </a:xfrm>
          <a:prstGeom prst="rect">
            <a:avLst/>
          </a:prstGeom>
        </p:spPr>
      </p:pic>
      <p:sp>
        <p:nvSpPr>
          <p:cNvPr id="90" name="Text"/>
          <p:cNvSpPr txBox="1"/>
          <p:nvPr/>
        </p:nvSpPr>
        <p:spPr>
          <a:xfrm>
            <a:off x="8332927" y="6035040"/>
            <a:ext cx="3248863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Prompts in notes. No em dashes or semicolons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ndatron">
  <a:themeElements>
    <a:clrScheme name="Pandatron">
      <a:dk1>
        <a:srgbClr val="1A1A1A"/>
      </a:dk1>
      <a:lt1>
        <a:srgbClr val="FFFFFF"/>
      </a:lt1>
      <a:dk2>
        <a:srgbClr val="434343"/>
      </a:dk2>
      <a:lt2>
        <a:srgbClr val="F4F4F4"/>
      </a:lt2>
      <a:accent1>
        <a:srgbClr val="28A019"/>
      </a:accent1>
      <a:accent2>
        <a:srgbClr val="1E7A13"/>
      </a:accent2>
      <a:accent3>
        <a:srgbClr val="7CBB6E"/>
      </a:accent3>
      <a:accent4>
        <a:srgbClr val="4A4A4A"/>
      </a:accent4>
      <a:accent5>
        <a:srgbClr val="D4D4D4"/>
      </a:accent5>
      <a:accent6>
        <a:srgbClr val="6B6B6B"/>
      </a:accent6>
      <a:hlink>
        <a:srgbClr val="1E7A13"/>
      </a:hlink>
      <a:folHlink>
        <a:srgbClr val="1E7A13"/>
      </a:folHlink>
    </a:clrScheme>
    <a:fontScheme name="Pandatron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system: The Diagnose Conversation</dc:title>
  <dc:subject>Pandatron deck design system</dc:subject>
  <dc:creator>Pandatron</dc:creator>
  <cp:keywords>Pandatron, change readiness, transformation</cp:keywords>
  <dc:description>generated using python-pptx</dc:description>
  <cp:lastModifiedBy>Pandatron</cp:lastModifiedBy>
  <cp:revision>1</cp:revision>
  <dcterms:created xsi:type="dcterms:W3CDTF">2013-01-27T09:14:16Z</dcterms:created>
  <dcterms:modified xsi:type="dcterms:W3CDTF">2013-01-27T09:15:58Z</dcterms:modified>
  <cp:category/>
</cp:coreProperties>
</file>